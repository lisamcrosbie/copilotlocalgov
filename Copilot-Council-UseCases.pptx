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INNOVATION LAB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Council Use Cases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E6EC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Microsoft Copilot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practical scenarios where Copilot transforms how councils serve their communities.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73659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71830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 ·  Local Government Edition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0" y="47183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council use cases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 case shows how Copilot applies to everyday council work — from procurement reviews to citizen enquiries.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624" y="1828800"/>
            <a:ext cx="1572768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0624" y="1828800"/>
            <a:ext cx="1572768" cy="109728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029968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18388" y="2423160"/>
            <a:ext cx="777240" cy="777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615184"/>
            <a:ext cx="393192" cy="3931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" y="3337560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 Reviews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66928" y="39776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39776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103120" y="1828800"/>
            <a:ext cx="1572768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103120" y="1828800"/>
            <a:ext cx="1572768" cy="109728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267712" y="2029968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500884" y="2423160"/>
            <a:ext cx="777240" cy="777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908" y="2615184"/>
            <a:ext cx="393192" cy="39319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212848" y="3337560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SharePoint Agent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2249424" y="39776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249424" y="39776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785616" y="1828800"/>
            <a:ext cx="1572768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785616" y="1828800"/>
            <a:ext cx="1572768" cy="109728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950208" y="2029968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183380" y="2423160"/>
            <a:ext cx="777240" cy="777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404" y="2615184"/>
            <a:ext cx="393192" cy="39319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895344" y="3337560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Assessments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3931920" y="39776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931920" y="39776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Notebook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5468112" y="1828800"/>
            <a:ext cx="1572768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468112" y="1828800"/>
            <a:ext cx="157276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632704" y="2029968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5865876" y="2423160"/>
            <a:ext cx="777240" cy="777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0" y="2615184"/>
            <a:ext cx="393192" cy="39319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577840" y="3337560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 Rules Explainer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5614416" y="39776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614416" y="39776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Agent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7150608" y="1828800"/>
            <a:ext cx="1572768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8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150608" y="1828800"/>
            <a:ext cx="157276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315200" y="2029968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7548372" y="2423160"/>
            <a:ext cx="777240" cy="777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0396" y="2615184"/>
            <a:ext cx="393192" cy="39319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260336" y="3337560"/>
            <a:ext cx="1353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Recruitment Assistant</a:t>
            </a:r>
            <a:endParaRPr lang="en-US" sz="1400" dirty="0"/>
          </a:p>
        </p:txBody>
      </p:sp>
      <p:sp>
        <p:nvSpPr>
          <p:cNvPr id="43" name="Shape 36"/>
          <p:cNvSpPr/>
          <p:nvPr/>
        </p:nvSpPr>
        <p:spPr>
          <a:xfrm>
            <a:off x="7296912" y="39776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7296912" y="39776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Agent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457200" y="4828032"/>
            <a:ext cx="8229600" cy="10973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457200" y="4873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Council Use Cases for Microsoft Copilot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7772400" y="4873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4617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164592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" y="960120"/>
            <a:ext cx="1280160" cy="1280160"/>
          </a:xfrm>
          <a:prstGeom prst="ellipse">
            <a:avLst/>
          </a:prstGeom>
          <a:solidFill>
            <a:srgbClr val="13183F"/>
          </a:solidFill>
          <a:ln w="19050">
            <a:solidFill>
              <a:srgbClr val="0EA5A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2801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Risk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2788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Copilot Chat for Contract Reviews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40030" y="3840480"/>
            <a:ext cx="1687068" cy="292608"/>
          </a:xfrm>
          <a:prstGeom prst="roundRect">
            <a:avLst>
              <a:gd name="adj" fmla="val 50000"/>
            </a:avLst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0030" y="3840480"/>
            <a:ext cx="16870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 CHAT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064258" y="3840480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64258" y="3840480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584448" y="438912"/>
            <a:ext cx="292608" cy="292608"/>
          </a:xfrm>
          <a:prstGeom prst="ellipse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502920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77640" y="4389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584448" y="841248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City Council needs a fast first-pass risk review of a 3-year Fleet Maintenance Services Agreement from a single supplier — before the Steering Committee meets to approve negotiations.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3584448" y="2514600"/>
            <a:ext cx="5212080" cy="10973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584448" y="2679192"/>
            <a:ext cx="292608" cy="292608"/>
          </a:xfrm>
          <a:prstGeom prst="ellipse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56" y="2743200"/>
            <a:ext cx="164592" cy="1645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977640" y="26791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ATTENDEES BUILD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584448" y="3063240"/>
            <a:ext cx="5212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that summarises the contract and flags key clauses, dates and obligations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register table covering the area, specific risk and recommended mitigation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approval brief generated using the Council's standard template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457200" y="4828032"/>
            <a:ext cx="8229600" cy="10973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200" y="4873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Council Use Cases for Microsoft Copilot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772400" y="4873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4617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164592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" y="960120"/>
            <a:ext cx="1280160" cy="1280160"/>
          </a:xfrm>
          <a:prstGeom prst="ellipse">
            <a:avLst/>
          </a:prstGeom>
          <a:solidFill>
            <a:srgbClr val="13183F"/>
          </a:solidFill>
          <a:ln w="19050">
            <a:solidFill>
              <a:srgbClr val="0EA5A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2801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Compliance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2788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SharePoint Knowledge Agent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40030" y="3840480"/>
            <a:ext cx="1687068" cy="292608"/>
          </a:xfrm>
          <a:prstGeom prst="roundRect">
            <a:avLst>
              <a:gd name="adj" fmla="val 50000"/>
            </a:avLst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0030" y="3840480"/>
            <a:ext cx="16870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 CHAT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064258" y="3840480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64258" y="3840480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584448" y="438912"/>
            <a:ext cx="292608" cy="292608"/>
          </a:xfrm>
          <a:prstGeom prst="ellipse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502920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77640" y="4389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584448" y="841248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teams store policies, work procedures and templates in SharePoint. Staff burn time hunting for the right guideline before starting work — and missed requirements lead to rework or compliance issues.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3584448" y="2514600"/>
            <a:ext cx="5212080" cy="10973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584448" y="2679192"/>
            <a:ext cx="292608" cy="292608"/>
          </a:xfrm>
          <a:prstGeom prst="ellipse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56" y="2743200"/>
            <a:ext cx="164592" cy="1645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977640" y="26791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ATTENDEES BUILD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584448" y="3063240"/>
            <a:ext cx="5212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grounded in your existing SharePoint policy and procedure library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Q&amp;A over current guidelines, SOPs and templates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compliance checks before a task or workflow begins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457200" y="4828032"/>
            <a:ext cx="8229600" cy="10973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200" y="4873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Council Use Cases for Microsoft Copilot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772400" y="4873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4617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164592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" y="960120"/>
            <a:ext cx="1280160" cy="1280160"/>
          </a:xfrm>
          <a:prstGeom prst="ellipse">
            <a:avLst/>
          </a:prstGeom>
          <a:solidFill>
            <a:srgbClr val="13183F"/>
          </a:solidFill>
          <a:ln w="19050">
            <a:solidFill>
              <a:srgbClr val="0EA5A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2801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Planning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2788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Application Assessments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78892" y="3840480"/>
            <a:ext cx="1609344" cy="292608"/>
          </a:xfrm>
          <a:prstGeom prst="roundRect">
            <a:avLst>
              <a:gd name="adj" fmla="val 50000"/>
            </a:avLst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8892" y="384048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NOTEBOOK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025396" y="3840480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25396" y="3840480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584448" y="438912"/>
            <a:ext cx="292608" cy="292608"/>
          </a:xfrm>
          <a:prstGeom prst="ellipse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502920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77640" y="4389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584448" y="841248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Planning Officer must assess four double-storey townhouses at 25 Willowbank Road against the Greenfield Planning Scheme, ResCode controls, amenity impacts and multiple community objections — variations across height, setbacks and overlooking.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3584448" y="2514600"/>
            <a:ext cx="5212080" cy="10973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584448" y="2679192"/>
            <a:ext cx="292608" cy="292608"/>
          </a:xfrm>
          <a:prstGeom prst="ellipse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56" y="2743200"/>
            <a:ext cx="164592" cy="1645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977640" y="26791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ATTENDEES BUILD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584448" y="3063240"/>
            <a:ext cx="5212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Copilot Notebook grounded in the planning scheme, application and objections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checks against state and local policies and ResCode (Clause 55)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first-draft assessment that highlights variations and objection themes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457200" y="4828032"/>
            <a:ext cx="8229600" cy="10973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200" y="4873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Council Use Cases for Microsoft Copilot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772400" y="4873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4617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" y="960120"/>
            <a:ext cx="1280160" cy="1280160"/>
          </a:xfrm>
          <a:prstGeom prst="ellipse">
            <a:avLst/>
          </a:prstGeom>
          <a:solidFill>
            <a:srgbClr val="13183F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2801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Services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2788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 Rules Explainer Agent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4582" y="3840480"/>
            <a:ext cx="1687068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582" y="3840480"/>
            <a:ext cx="16870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AGENT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908810" y="3840480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08810" y="384048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584448" y="438912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502920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77640" y="4389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584448" y="841248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query infringement notices and want to understand exactly why a fine was issued. Frontline staff spend time looking up the relevant Road Safety regulation and matching it to a specific case in the infringement database.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3584448" y="2514600"/>
            <a:ext cx="5212080" cy="10973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584448" y="2679192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56" y="2743200"/>
            <a:ext cx="164592" cy="1645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977640" y="26791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ATTENDEES BUILD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584448" y="3063240"/>
            <a:ext cx="5212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agent connected to publicly available Road Safety regulations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look-ups against an infringement case dataset (e.g. RSI-2026-0006)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explanations citizens can actually understand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457200" y="4828032"/>
            <a:ext cx="8229600" cy="10973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200" y="4873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Council Use Cases for Microsoft Copilot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772400" y="4873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4617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5840" y="960120"/>
            <a:ext cx="1280160" cy="1280160"/>
          </a:xfrm>
          <a:prstGeom prst="ellipse">
            <a:avLst/>
          </a:prstGeom>
          <a:solidFill>
            <a:srgbClr val="13183F"/>
          </a:solidFill>
          <a:ln w="19050">
            <a:solidFill>
              <a:srgbClr val="F59E0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2801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Culture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2788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 Recruitment Assistant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4582" y="3840480"/>
            <a:ext cx="1687068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582" y="3840480"/>
            <a:ext cx="16870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AGENT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908810" y="3840480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08810" y="384048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584448" y="438912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502920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77640" y="4389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584448" y="841248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is hiring a Senior Business Analyst to support the Copilot rollout and broader AI strategy. Recruiters need to evaluate three shortlisted candidates against the JD — Emily Carter, Michael Tan and Priya Nair — and prepare structured interviews.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3584448" y="2514600"/>
            <a:ext cx="5212080" cy="10973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584448" y="2679192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56" y="2743200"/>
            <a:ext cx="164592" cy="1645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977640" y="26791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ATTENDEES BUILD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584448" y="3063240"/>
            <a:ext cx="5212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scores resumes against the job description with strengths and gaps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 candidate shortlist based on the evaluation criteria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interview questions following the STAR method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457200" y="4828032"/>
            <a:ext cx="8229600" cy="10973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200" y="4873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Council Use Cases for Microsoft Copilot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772400" y="4873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attendees take back to council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928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7830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a tool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202996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with at least one working AI assistant or app built in the room.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5328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4231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faster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80160" y="26700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time on first drafts for analysis, briefs and reports.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1729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063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immediately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80160" y="33101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techniques in your next analysis or meeting prep.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81304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37033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Lift the team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280160" y="39502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equipped to help colleagues adopt Copilot in their workflows.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852160" y="1691640"/>
            <a:ext cx="2834640" cy="2788920"/>
          </a:xfrm>
          <a:prstGeom prst="rect">
            <a:avLst/>
          </a:prstGeom>
          <a:solidFill>
            <a:srgbClr val="1E2761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852160" y="1828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4-HOUR LAB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852160" y="219456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0" dirty="0"/>
          </a:p>
        </p:txBody>
      </p:sp>
      <p:sp>
        <p:nvSpPr>
          <p:cNvPr id="24" name="Text 18"/>
          <p:cNvSpPr/>
          <p:nvPr/>
        </p:nvSpPr>
        <p:spPr>
          <a:xfrm>
            <a:off x="5852160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use cases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309360" y="3840480"/>
            <a:ext cx="1920240" cy="10973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852160" y="3931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Apply → Share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736592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60120" y="471830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 ·  Local Government Edition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7315200" y="47183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Council Use Cases for Microsoft Copilot</dc:title>
  <dc:subject>PptxGenJS Presentation</dc:subject>
  <dc:creator>Microsoft Copilot</dc:creator>
  <cp:lastModifiedBy>Microsoft Copilot</cp:lastModifiedBy>
  <cp:revision>1</cp:revision>
  <dcterms:created xsi:type="dcterms:W3CDTF">2026-05-04T02:29:17Z</dcterms:created>
  <dcterms:modified xsi:type="dcterms:W3CDTF">2026-05-04T02:29:17Z</dcterms:modified>
</cp:coreProperties>
</file>