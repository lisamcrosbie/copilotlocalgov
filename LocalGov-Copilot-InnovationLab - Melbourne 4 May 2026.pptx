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56" r:id="rId2"/>
    <p:sldId id="298"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6" r:id="rId22"/>
    <p:sldId id="277" r:id="rId23"/>
    <p:sldId id="278" r:id="rId24"/>
    <p:sldId id="279" r:id="rId25"/>
    <p:sldId id="280" r:id="rId26"/>
    <p:sldId id="281" r:id="rId27"/>
    <p:sldId id="282" r:id="rId28"/>
    <p:sldId id="283" r:id="rId29"/>
    <p:sldId id="297" r:id="rId30"/>
    <p:sldId id="296"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2092" autoAdjust="0"/>
  </p:normalViewPr>
  <p:slideViewPr>
    <p:cSldViewPr snapToGrid="0" snapToObjects="1">
      <p:cViewPr varScale="1">
        <p:scale>
          <a:sx n="65" d="100"/>
          <a:sy n="65" d="100"/>
        </p:scale>
        <p:origin x="37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6007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dirty="0"/>
          </a:p>
        </p:txBody>
      </p:sp>
    </p:spTree>
    <p:extLst>
      <p:ext uri="{BB962C8B-B14F-4D97-AF65-F5344CB8AC3E}">
        <p14:creationId xmlns:p14="http://schemas.microsoft.com/office/powerpoint/2010/main" val="41110689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111F">
              <a:alpha val="65000"/>
            </a:srgbClr>
          </a:solidFill>
          <a:ln w="12700">
            <a:solidFill>
              <a:srgbClr val="333333"/>
            </a:solidFill>
            <a:prstDash val="solid"/>
          </a:ln>
        </p:spPr>
        <p:txBody>
          <a:bodyPr/>
          <a:lstStyle/>
          <a:p>
            <a:endParaRPr lang="en-US"/>
          </a:p>
        </p:txBody>
      </p:sp>
      <p:sp>
        <p:nvSpPr>
          <p:cNvPr id="3" name="Shape 1"/>
          <p:cNvSpPr/>
          <p:nvPr/>
        </p:nvSpPr>
        <p:spPr>
          <a:xfrm>
            <a:off x="0" y="0"/>
            <a:ext cx="12188952" cy="164592"/>
          </a:xfrm>
          <a:prstGeom prst="rect">
            <a:avLst/>
          </a:prstGeom>
          <a:solidFill>
            <a:srgbClr val="FFB81C"/>
          </a:solidFill>
          <a:ln w="12700">
            <a:solidFill>
              <a:srgbClr val="333333"/>
            </a:solidFill>
            <a:prstDash val="solid"/>
          </a:ln>
        </p:spPr>
        <p:txBody>
          <a:bodyPr/>
          <a:lstStyle/>
          <a:p>
            <a:endParaRPr lang="en-US"/>
          </a:p>
        </p:txBody>
      </p:sp>
      <p:pic>
        <p:nvPicPr>
          <p:cNvPr id="4" name="Image 0" descr="/mnt/workspace/working/akkodis-barhead-logo-white.png"/>
          <p:cNvPicPr>
            <a:picLocks noChangeAspect="1"/>
          </p:cNvPicPr>
          <p:nvPr/>
        </p:nvPicPr>
        <p:blipFill>
          <a:blip r:embed="rId4"/>
          <a:stretch>
            <a:fillRect/>
          </a:stretch>
        </p:blipFill>
        <p:spPr>
          <a:xfrm>
            <a:off x="9994392" y="256032"/>
            <a:ext cx="1828800" cy="293519"/>
          </a:xfrm>
          <a:prstGeom prst="rect">
            <a:avLst/>
          </a:prstGeom>
        </p:spPr>
      </p:pic>
      <p:sp>
        <p:nvSpPr>
          <p:cNvPr id="5" name="Text 2"/>
          <p:cNvSpPr/>
          <p:nvPr/>
        </p:nvSpPr>
        <p:spPr>
          <a:xfrm>
            <a:off x="731520" y="2011680"/>
            <a:ext cx="10515600" cy="822960"/>
          </a:xfrm>
          <a:prstGeom prst="rect">
            <a:avLst/>
          </a:prstGeom>
          <a:noFill/>
          <a:ln/>
        </p:spPr>
        <p:txBody>
          <a:bodyPr wrap="square" lIns="0" tIns="0" rIns="0" bIns="0" rtlCol="0" anchor="ctr"/>
          <a:lstStyle/>
          <a:p>
            <a:pPr marL="0" indent="0">
              <a:buNone/>
            </a:pPr>
            <a:r>
              <a:rPr lang="en-US" sz="4800" dirty="0">
                <a:solidFill>
                  <a:srgbClr val="EAF2FA"/>
                </a:solidFill>
                <a:latin typeface="Calibri" pitchFamily="34" charset="0"/>
                <a:ea typeface="Calibri" pitchFamily="34" charset="-122"/>
                <a:cs typeface="Calibri" pitchFamily="34" charset="-120"/>
              </a:rPr>
              <a:t>Microsoft Copilot</a:t>
            </a:r>
            <a:endParaRPr lang="en-US" sz="4800" dirty="0"/>
          </a:p>
        </p:txBody>
      </p:sp>
      <p:sp>
        <p:nvSpPr>
          <p:cNvPr id="6" name="Text 3"/>
          <p:cNvSpPr/>
          <p:nvPr/>
        </p:nvSpPr>
        <p:spPr>
          <a:xfrm>
            <a:off x="731520" y="2743200"/>
            <a:ext cx="10515600" cy="1097280"/>
          </a:xfrm>
          <a:prstGeom prst="rect">
            <a:avLst/>
          </a:prstGeom>
          <a:noFill/>
          <a:ln/>
        </p:spPr>
        <p:txBody>
          <a:bodyPr wrap="square" lIns="0" tIns="0" rIns="0" bIns="0" rtlCol="0" anchor="ctr"/>
          <a:lstStyle/>
          <a:p>
            <a:pPr marL="0" indent="0">
              <a:buNone/>
            </a:pPr>
            <a:r>
              <a:rPr lang="en-US" sz="8000" b="1" dirty="0">
                <a:solidFill>
                  <a:srgbClr val="FFFFFF"/>
                </a:solidFill>
                <a:latin typeface="Calibri" pitchFamily="34" charset="0"/>
                <a:ea typeface="Calibri" pitchFamily="34" charset="-122"/>
                <a:cs typeface="Calibri" pitchFamily="34" charset="-120"/>
              </a:rPr>
              <a:t>Innovation Lab</a:t>
            </a:r>
            <a:endParaRPr lang="en-US" sz="8000" dirty="0"/>
          </a:p>
        </p:txBody>
      </p:sp>
      <p:sp>
        <p:nvSpPr>
          <p:cNvPr id="7" name="Shape 4"/>
          <p:cNvSpPr/>
          <p:nvPr/>
        </p:nvSpPr>
        <p:spPr>
          <a:xfrm>
            <a:off x="777240" y="4160520"/>
            <a:ext cx="1280160" cy="73152"/>
          </a:xfrm>
          <a:prstGeom prst="rect">
            <a:avLst/>
          </a:prstGeom>
          <a:solidFill>
            <a:srgbClr val="FFB81C"/>
          </a:solidFill>
          <a:ln w="12700">
            <a:solidFill>
              <a:srgbClr val="333333"/>
            </a:solidFill>
            <a:prstDash val="solid"/>
          </a:ln>
        </p:spPr>
        <p:txBody>
          <a:bodyPr/>
          <a:lstStyle/>
          <a:p>
            <a:endParaRPr lang="en-US"/>
          </a:p>
        </p:txBody>
      </p:sp>
      <p:sp>
        <p:nvSpPr>
          <p:cNvPr id="8" name="Shape 5"/>
          <p:cNvSpPr/>
          <p:nvPr/>
        </p:nvSpPr>
        <p:spPr>
          <a:xfrm>
            <a:off x="2148840" y="4160520"/>
            <a:ext cx="640080" cy="73152"/>
          </a:xfrm>
          <a:prstGeom prst="rect">
            <a:avLst/>
          </a:prstGeom>
          <a:solidFill>
            <a:srgbClr val="4FC3F7"/>
          </a:solidFill>
          <a:ln w="12700">
            <a:solidFill>
              <a:srgbClr val="333333"/>
            </a:solidFill>
            <a:prstDash val="solid"/>
          </a:ln>
        </p:spPr>
        <p:txBody>
          <a:bodyPr/>
          <a:lstStyle/>
          <a:p>
            <a:endParaRPr lang="en-US"/>
          </a:p>
        </p:txBody>
      </p:sp>
      <p:sp>
        <p:nvSpPr>
          <p:cNvPr id="9" name="Text 6"/>
          <p:cNvSpPr/>
          <p:nvPr/>
        </p:nvSpPr>
        <p:spPr>
          <a:xfrm>
            <a:off x="731520" y="4343400"/>
            <a:ext cx="10515600" cy="457200"/>
          </a:xfrm>
          <a:prstGeom prst="rect">
            <a:avLst/>
          </a:prstGeom>
          <a:noFill/>
          <a:ln/>
        </p:spPr>
        <p:txBody>
          <a:bodyPr wrap="square" lIns="0" tIns="0" rIns="0" bIns="0" rtlCol="0" anchor="ctr"/>
          <a:lstStyle/>
          <a:p>
            <a:pPr marL="0" indent="0">
              <a:buNone/>
            </a:pPr>
            <a:r>
              <a:rPr lang="en-US" sz="2400" i="1" dirty="0">
                <a:solidFill>
                  <a:srgbClr val="FFB81C"/>
                </a:solidFill>
                <a:latin typeface="Calibri" pitchFamily="34" charset="0"/>
                <a:ea typeface="Calibri" pitchFamily="34" charset="-122"/>
                <a:cs typeface="Calibri" pitchFamily="34" charset="-120"/>
              </a:rPr>
              <a:t>A workshop for Local Government</a:t>
            </a:r>
            <a:endParaRPr lang="en-US" sz="2400" dirty="0"/>
          </a:p>
        </p:txBody>
      </p:sp>
      <p:sp>
        <p:nvSpPr>
          <p:cNvPr id="10" name="Text 7"/>
          <p:cNvSpPr/>
          <p:nvPr/>
        </p:nvSpPr>
        <p:spPr>
          <a:xfrm>
            <a:off x="731520" y="5577840"/>
            <a:ext cx="731520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Lisa Crosbie</a:t>
            </a:r>
            <a:endParaRPr lang="en-US" sz="1800" dirty="0"/>
          </a:p>
        </p:txBody>
      </p:sp>
      <p:sp>
        <p:nvSpPr>
          <p:cNvPr id="11" name="Text 8"/>
          <p:cNvSpPr/>
          <p:nvPr/>
        </p:nvSpPr>
        <p:spPr>
          <a:xfrm>
            <a:off x="731520" y="5943600"/>
            <a:ext cx="10515600" cy="320040"/>
          </a:xfrm>
          <a:prstGeom prst="rect">
            <a:avLst/>
          </a:prstGeom>
          <a:noFill/>
          <a:ln/>
        </p:spPr>
        <p:txBody>
          <a:bodyPr wrap="square" lIns="0" tIns="0" rIns="0" bIns="0" rtlCol="0" anchor="ctr"/>
          <a:lstStyle/>
          <a:p>
            <a:pPr marL="0" indent="0">
              <a:buNone/>
            </a:pPr>
            <a:r>
              <a:rPr lang="en-US" sz="1300" dirty="0">
                <a:solidFill>
                  <a:srgbClr val="EAF2FA"/>
                </a:solidFill>
                <a:latin typeface="Calibri" pitchFamily="34" charset="0"/>
                <a:ea typeface="Calibri" pitchFamily="34" charset="-122"/>
                <a:cs typeface="Calibri" pitchFamily="34" charset="-120"/>
              </a:rPr>
              <a:t>Copilot Lead, Barhead &amp; Akkodis Australia | Microsoft 365 Copilot &amp; Copilot Studio MVP</a:t>
            </a:r>
            <a:endParaRPr lang="en-US" sz="1300" dirty="0"/>
          </a:p>
        </p:txBody>
      </p:sp>
      <p:pic>
        <p:nvPicPr>
          <p:cNvPr id="16" name="Picture 15">
            <a:extLst>
              <a:ext uri="{FF2B5EF4-FFF2-40B4-BE49-F238E27FC236}">
                <a16:creationId xmlns:a16="http://schemas.microsoft.com/office/drawing/2014/main" id="{3E69A567-DEFA-A02D-5CC2-131F4C11E427}"/>
              </a:ext>
            </a:extLst>
          </p:cNvPr>
          <p:cNvPicPr>
            <a:picLocks noChangeAspect="1"/>
          </p:cNvPicPr>
          <p:nvPr/>
        </p:nvPicPr>
        <p:blipFill>
          <a:blip r:embed="rId5"/>
          <a:stretch>
            <a:fillRect/>
          </a:stretch>
        </p:blipFill>
        <p:spPr>
          <a:xfrm>
            <a:off x="8366418" y="1442930"/>
            <a:ext cx="3255947" cy="434126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About M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111F">
              <a:alpha val="70000"/>
            </a:srgbClr>
          </a:solidFill>
          <a:ln w="12700">
            <a:solidFill>
              <a:srgbClr val="333333"/>
            </a:solidFill>
            <a:prstDash val="solid"/>
          </a:ln>
        </p:spPr>
        <p:txBody>
          <a:bodyPr/>
          <a:lstStyle/>
          <a:p>
            <a:endParaRPr lang="en-US"/>
          </a:p>
        </p:txBody>
      </p:sp>
      <p:sp>
        <p:nvSpPr>
          <p:cNvPr id="3" name="Shape 1"/>
          <p:cNvSpPr/>
          <p:nvPr/>
        </p:nvSpPr>
        <p:spPr>
          <a:xfrm>
            <a:off x="0" y="0"/>
            <a:ext cx="12188952" cy="164592"/>
          </a:xfrm>
          <a:prstGeom prst="rect">
            <a:avLst/>
          </a:prstGeom>
          <a:solidFill>
            <a:srgbClr val="FFB81C"/>
          </a:solidFill>
          <a:ln w="12700">
            <a:solidFill>
              <a:srgbClr val="333333"/>
            </a:solidFill>
            <a:prstDash val="solid"/>
          </a:ln>
        </p:spPr>
        <p:txBody>
          <a:bodyPr/>
          <a:lstStyle/>
          <a:p>
            <a:endParaRPr lang="en-US"/>
          </a:p>
        </p:txBody>
      </p:sp>
      <p:pic>
        <p:nvPicPr>
          <p:cNvPr id="4" name="Image 0" descr="Logo"/>
          <p:cNvPicPr>
            <a:picLocks noChangeAspect="1"/>
          </p:cNvPicPr>
          <p:nvPr/>
        </p:nvPicPr>
        <p:blipFill>
          <a:blip r:embed="rId4"/>
          <a:stretch>
            <a:fillRect/>
          </a:stretch>
        </p:blipFill>
        <p:spPr>
          <a:xfrm>
            <a:off x="9994392" y="256032"/>
            <a:ext cx="1828800" cy="293519"/>
          </a:xfrm>
          <a:prstGeom prst="rect">
            <a:avLst/>
          </a:prstGeom>
        </p:spPr>
      </p:pic>
      <p:sp>
        <p:nvSpPr>
          <p:cNvPr id="5" name="Title"/>
          <p:cNvSpPr/>
          <p:nvPr/>
        </p:nvSpPr>
        <p:spPr>
          <a:xfrm>
            <a:off x="731520" y="548640"/>
            <a:ext cx="4572000" cy="640080"/>
          </a:xfrm>
          <a:prstGeom prst="rect">
            <a:avLst/>
          </a:prstGeom>
          <a:noFill/>
          <a:ln>
            <a:noFill/>
          </a:ln>
        </p:spPr>
        <p:txBody>
          <a:bodyPr wrap="square" lIns="0" tIns="0" rIns="0" bIns="0" rtlCol="0" anchor="t"/>
          <a:lstStyle/>
          <a:p>
            <a:pPr marL="0" indent="0">
              <a:buNone/>
            </a:pPr>
            <a:r>
              <a:rPr lang="en-US" sz="3600" b="1">
                <a:solidFill>
                  <a:srgbClr val="FFFFFF"/>
                </a:solidFill>
                <a:latin typeface="Calibri" pitchFamily="34" charset="0"/>
                <a:ea typeface="Calibri" pitchFamily="34" charset="-122"/>
                <a:cs typeface="Calibri" pitchFamily="34" charset="-120"/>
              </a:rPr>
              <a:t>About Me</a:t>
            </a:r>
            <a:endParaRPr lang="en-US" sz="3600"/>
          </a:p>
        </p:txBody>
      </p:sp>
      <p:sp>
        <p:nvSpPr>
          <p:cNvPr id="6" name="AccentGold"/>
          <p:cNvSpPr/>
          <p:nvPr/>
        </p:nvSpPr>
        <p:spPr>
          <a:xfrm>
            <a:off x="731520" y="1280160"/>
            <a:ext cx="1280160" cy="73152"/>
          </a:xfrm>
          <a:prstGeom prst="rect">
            <a:avLst/>
          </a:prstGeom>
          <a:solidFill>
            <a:srgbClr val="FFB81C"/>
          </a:solidFill>
          <a:ln>
            <a:noFill/>
          </a:ln>
        </p:spPr>
        <p:txBody>
          <a:bodyPr/>
          <a:lstStyle/>
          <a:p>
            <a:endParaRPr lang="en-US"/>
          </a:p>
        </p:txBody>
      </p:sp>
      <p:sp>
        <p:nvSpPr>
          <p:cNvPr id="7" name="AccentBlue"/>
          <p:cNvSpPr/>
          <p:nvPr/>
        </p:nvSpPr>
        <p:spPr>
          <a:xfrm>
            <a:off x="2102840" y="1280160"/>
            <a:ext cx="640080" cy="73152"/>
          </a:xfrm>
          <a:prstGeom prst="rect">
            <a:avLst/>
          </a:prstGeom>
          <a:solidFill>
            <a:srgbClr val="4FC3F7"/>
          </a:solidFill>
          <a:ln>
            <a:noFill/>
          </a:ln>
        </p:spPr>
        <p:txBody>
          <a:bodyPr/>
          <a:lstStyle/>
          <a:p>
            <a:endParaRPr lang="en-US"/>
          </a:p>
        </p:txBody>
      </p:sp>
      <p:sp>
        <p:nvSpPr>
          <p:cNvPr id="8" name="Name"/>
          <p:cNvSpPr/>
          <p:nvPr/>
        </p:nvSpPr>
        <p:spPr>
          <a:xfrm>
            <a:off x="731520" y="1554480"/>
            <a:ext cx="4572000" cy="548640"/>
          </a:xfrm>
          <a:prstGeom prst="rect">
            <a:avLst/>
          </a:prstGeom>
          <a:noFill/>
          <a:ln>
            <a:noFill/>
          </a:ln>
        </p:spPr>
        <p:txBody>
          <a:bodyPr wrap="square" lIns="0" tIns="0" rIns="0" bIns="0" rtlCol="0" anchor="t"/>
          <a:lstStyle/>
          <a:p>
            <a:pPr marL="0" indent="0">
              <a:buNone/>
            </a:pPr>
            <a:r>
              <a:rPr lang="en-US" sz="2800" b="1">
                <a:solidFill>
                  <a:srgbClr val="FFB81C"/>
                </a:solidFill>
                <a:latin typeface="Calibri" pitchFamily="34" charset="0"/>
                <a:ea typeface="Calibri" pitchFamily="34" charset="-122"/>
                <a:cs typeface="Calibri" pitchFamily="34" charset="-120"/>
              </a:rPr>
              <a:t>Lisa Crosbie</a:t>
            </a:r>
            <a:endParaRPr lang="en-US" sz="2800"/>
          </a:p>
        </p:txBody>
      </p:sp>
      <p:sp>
        <p:nvSpPr>
          <p:cNvPr id="9" name="Role"/>
          <p:cNvSpPr/>
          <p:nvPr/>
        </p:nvSpPr>
        <p:spPr>
          <a:xfrm>
            <a:off x="731520" y="2103120"/>
            <a:ext cx="4572000" cy="640080"/>
          </a:xfrm>
          <a:prstGeom prst="rect">
            <a:avLst/>
          </a:prstGeom>
          <a:noFill/>
          <a:ln>
            <a:noFill/>
          </a:ln>
        </p:spPr>
        <p:txBody>
          <a:bodyPr wrap="square" lIns="0" tIns="0" rIns="0" bIns="0" rtlCol="0" anchor="t"/>
          <a:lstStyle/>
          <a:p>
            <a:pPr marL="0" indent="0">
              <a:buNone/>
            </a:pPr>
            <a:r>
              <a:rPr lang="en-US" sz="1600">
                <a:solidFill>
                  <a:srgbClr val="EAF2FA"/>
                </a:solidFill>
                <a:latin typeface="Calibri" pitchFamily="34" charset="0"/>
                <a:ea typeface="Calibri" pitchFamily="34" charset="-122"/>
                <a:cs typeface="Calibri" pitchFamily="34" charset="-120"/>
              </a:rPr>
              <a:t>Copilot Lead, Akkodis Australia</a:t>
            </a:r>
          </a:p>
          <a:p>
            <a:pPr marL="0" indent="0">
              <a:buNone/>
            </a:pPr>
            <a:r>
              <a:rPr lang="en-US" sz="1600">
                <a:solidFill>
                  <a:srgbClr val="EAF2FA"/>
                </a:solidFill>
                <a:latin typeface="Calibri" pitchFamily="34" charset="0"/>
                <a:ea typeface="Calibri" pitchFamily="34" charset="-122"/>
                <a:cs typeface="Calibri" pitchFamily="34" charset="-120"/>
              </a:rPr>
              <a:t>Microsoft 365 Copilot &amp; Copilot Studio MVP</a:t>
            </a:r>
            <a:endParaRPr lang="en-US" sz="1600"/>
          </a:p>
        </p:txBody>
      </p:sp>
      <p:sp>
        <p:nvSpPr>
          <p:cNvPr id="25" name="FooterLine"/>
          <p:cNvSpPr/>
          <p:nvPr/>
        </p:nvSpPr>
        <p:spPr>
          <a:xfrm>
            <a:off x="0" y="6675120"/>
            <a:ext cx="12188952" cy="182880"/>
          </a:xfrm>
          <a:prstGeom prst="rect">
            <a:avLst/>
          </a:prstGeom>
          <a:solidFill>
            <a:srgbClr val="001020">
              <a:alpha val="50000"/>
            </a:srgbClr>
          </a:solidFill>
          <a:ln>
            <a:noFill/>
          </a:ln>
        </p:spPr>
        <p:txBody>
          <a:bodyPr wrap="square" lIns="365760" tIns="0" rIns="365760" bIns="0" rtlCol="0" anchor="ctr"/>
          <a:lstStyle/>
          <a:p>
            <a:pPr algn="r">
              <a:buNone/>
            </a:pPr>
            <a:r>
              <a:rPr lang="en-US" sz="1000">
                <a:solidFill>
                  <a:srgbClr val="8899AA"/>
                </a:solidFill>
                <a:latin typeface="Calibri" pitchFamily="34" charset="0"/>
              </a:rPr>
              <a:t>2 / 42</a:t>
            </a:r>
          </a:p>
        </p:txBody>
      </p:sp>
      <p:grpSp>
        <p:nvGrpSpPr>
          <p:cNvPr id="19" name="Group 18">
            <a:extLst>
              <a:ext uri="{FF2B5EF4-FFF2-40B4-BE49-F238E27FC236}">
                <a16:creationId xmlns:a16="http://schemas.microsoft.com/office/drawing/2014/main" id="{82F04E54-C38D-EF5D-A805-B8D3F4410288}"/>
              </a:ext>
            </a:extLst>
          </p:cNvPr>
          <p:cNvGrpSpPr/>
          <p:nvPr/>
        </p:nvGrpSpPr>
        <p:grpSpPr>
          <a:xfrm>
            <a:off x="6584809" y="805583"/>
            <a:ext cx="4757138" cy="5667458"/>
            <a:chOff x="7176000" y="909000"/>
            <a:chExt cx="4680000" cy="5940000"/>
          </a:xfrm>
        </p:grpSpPr>
        <p:sp>
          <p:nvSpPr>
            <p:cNvPr id="26" name="Rectangle 25">
              <a:extLst>
                <a:ext uri="{FF2B5EF4-FFF2-40B4-BE49-F238E27FC236}">
                  <a16:creationId xmlns:a16="http://schemas.microsoft.com/office/drawing/2014/main" id="{C76AD48D-4C72-0723-32EA-66D46C2694C0}"/>
                </a:ext>
              </a:extLst>
            </p:cNvPr>
            <p:cNvSpPr/>
            <p:nvPr/>
          </p:nvSpPr>
          <p:spPr bwMode="gray">
            <a:xfrm>
              <a:off x="7176000" y="909000"/>
              <a:ext cx="4680000" cy="5940000"/>
            </a:xfrm>
            <a:prstGeom prst="rect">
              <a:avLst/>
            </a:prstGeom>
            <a:solidFill>
              <a:schemeClr val="tx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indent="0" algn="ctr">
                <a:buNone/>
              </a:pPr>
              <a:endParaRPr lang="en-US" sz="1600" dirty="0" err="1">
                <a:solidFill>
                  <a:schemeClr val="tx1"/>
                </a:solidFill>
              </a:endParaRPr>
            </a:p>
          </p:txBody>
        </p:sp>
        <p:pic>
          <p:nvPicPr>
            <p:cNvPr id="27" name="Picture 26">
              <a:extLst>
                <a:ext uri="{FF2B5EF4-FFF2-40B4-BE49-F238E27FC236}">
                  <a16:creationId xmlns:a16="http://schemas.microsoft.com/office/drawing/2014/main" id="{5F79BD0E-FC61-0508-7A37-E057A3371647}"/>
                </a:ext>
              </a:extLst>
            </p:cNvPr>
            <p:cNvPicPr>
              <a:picLocks noChangeAspect="1"/>
            </p:cNvPicPr>
            <p:nvPr/>
          </p:nvPicPr>
          <p:blipFill>
            <a:blip r:embed="rId5"/>
            <a:stretch>
              <a:fillRect/>
            </a:stretch>
          </p:blipFill>
          <p:spPr>
            <a:xfrm>
              <a:off x="7294982" y="3727037"/>
              <a:ext cx="4442035" cy="2950723"/>
            </a:xfrm>
            <a:prstGeom prst="rect">
              <a:avLst/>
            </a:prstGeom>
          </p:spPr>
        </p:pic>
        <p:pic>
          <p:nvPicPr>
            <p:cNvPr id="28" name="Picture 27">
              <a:extLst>
                <a:ext uri="{FF2B5EF4-FFF2-40B4-BE49-F238E27FC236}">
                  <a16:creationId xmlns:a16="http://schemas.microsoft.com/office/drawing/2014/main" id="{F30F9819-58C1-9133-A740-4E566EA8263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708405" y="1122376"/>
              <a:ext cx="2028612" cy="2552970"/>
            </a:xfrm>
            <a:prstGeom prst="rect">
              <a:avLst/>
            </a:prstGeom>
          </p:spPr>
        </p:pic>
        <p:pic>
          <p:nvPicPr>
            <p:cNvPr id="29" name="Picture 28">
              <a:extLst>
                <a:ext uri="{FF2B5EF4-FFF2-40B4-BE49-F238E27FC236}">
                  <a16:creationId xmlns:a16="http://schemas.microsoft.com/office/drawing/2014/main" id="{9AED85A5-64E4-AB2E-B66B-7B4FB4ADB215}"/>
                </a:ext>
              </a:extLst>
            </p:cNvPr>
            <p:cNvPicPr>
              <a:picLocks noChangeAspect="1"/>
            </p:cNvPicPr>
            <p:nvPr/>
          </p:nvPicPr>
          <p:blipFill>
            <a:blip r:embed="rId7" cstate="print">
              <a:extLst>
                <a:ext uri="{28A0092B-C50C-407E-A947-70E740481C1C}">
                  <a14:useLocalDpi xmlns:a14="http://schemas.microsoft.com/office/drawing/2010/main" val="0"/>
                </a:ext>
              </a:extLst>
            </a:blip>
            <a:srcRect t="12215" b="23457"/>
            <a:stretch>
              <a:fillRect/>
            </a:stretch>
          </p:blipFill>
          <p:spPr>
            <a:xfrm>
              <a:off x="7294982" y="1122376"/>
              <a:ext cx="2232373" cy="2552970"/>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7315200" cy="64008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Agenda</a:t>
            </a:r>
            <a:endParaRPr lang="en-US" sz="3600" dirty="0"/>
          </a:p>
        </p:txBody>
      </p:sp>
      <p:sp>
        <p:nvSpPr>
          <p:cNvPr id="6" name="Shape 2"/>
          <p:cNvSpPr/>
          <p:nvPr/>
        </p:nvSpPr>
        <p:spPr>
          <a:xfrm>
            <a:off x="548640" y="1143000"/>
            <a:ext cx="1280160" cy="73152"/>
          </a:xfrm>
          <a:prstGeom prst="rect">
            <a:avLst/>
          </a:prstGeom>
          <a:solidFill>
            <a:srgbClr val="FFB81C"/>
          </a:solidFill>
          <a:ln w="12700">
            <a:solidFill>
              <a:srgbClr val="FFB81C"/>
            </a:solidFill>
            <a:prstDash val="solid"/>
          </a:ln>
        </p:spPr>
        <p:txBody>
          <a:bodyPr/>
          <a:lstStyle/>
          <a:p>
            <a:endParaRPr lang="en-US"/>
          </a:p>
        </p:txBody>
      </p:sp>
      <p:sp>
        <p:nvSpPr>
          <p:cNvPr id="7" name="Shape 3"/>
          <p:cNvSpPr/>
          <p:nvPr/>
        </p:nvSpPr>
        <p:spPr>
          <a:xfrm>
            <a:off x="1920240" y="1143000"/>
            <a:ext cx="640080" cy="73152"/>
          </a:xfrm>
          <a:prstGeom prst="rect">
            <a:avLst/>
          </a:prstGeom>
          <a:solidFill>
            <a:srgbClr val="4FC3F7"/>
          </a:solidFill>
          <a:ln w="12700">
            <a:solidFill>
              <a:srgbClr val="4FC3F7"/>
            </a:solidFill>
            <a:prstDash val="solid"/>
          </a:ln>
        </p:spPr>
        <p:txBody>
          <a:bodyPr/>
          <a:lstStyle/>
          <a:p>
            <a:endParaRPr lang="en-US"/>
          </a:p>
        </p:txBody>
      </p:sp>
      <p:sp>
        <p:nvSpPr>
          <p:cNvPr id="8" name="Shape 4"/>
          <p:cNvSpPr/>
          <p:nvPr/>
        </p:nvSpPr>
        <p:spPr>
          <a:xfrm>
            <a:off x="548640" y="1737360"/>
            <a:ext cx="10058400" cy="1280160"/>
          </a:xfrm>
          <a:prstGeom prst="rect">
            <a:avLst/>
          </a:prstGeom>
          <a:solidFill>
            <a:srgbClr val="0A2A44"/>
          </a:solidFill>
          <a:ln w="6350">
            <a:solidFill>
              <a:srgbClr val="1E3A5C"/>
            </a:solidFill>
            <a:prstDash val="solid"/>
          </a:ln>
        </p:spPr>
        <p:txBody>
          <a:bodyPr/>
          <a:lstStyle/>
          <a:p>
            <a:endParaRPr lang="en-US"/>
          </a:p>
        </p:txBody>
      </p:sp>
      <p:sp>
        <p:nvSpPr>
          <p:cNvPr id="9" name="Shape 5"/>
          <p:cNvSpPr/>
          <p:nvPr/>
        </p:nvSpPr>
        <p:spPr>
          <a:xfrm>
            <a:off x="548640" y="1737360"/>
            <a:ext cx="109728" cy="1280160"/>
          </a:xfrm>
          <a:prstGeom prst="rect">
            <a:avLst/>
          </a:prstGeom>
          <a:solidFill>
            <a:srgbClr val="FFB81C"/>
          </a:solidFill>
          <a:ln w="12700">
            <a:solidFill>
              <a:srgbClr val="333333"/>
            </a:solidFill>
            <a:prstDash val="solid"/>
          </a:ln>
        </p:spPr>
        <p:txBody>
          <a:bodyPr/>
          <a:lstStyle/>
          <a:p>
            <a:endParaRPr lang="en-US"/>
          </a:p>
        </p:txBody>
      </p:sp>
      <p:sp>
        <p:nvSpPr>
          <p:cNvPr id="10" name="Text 6"/>
          <p:cNvSpPr/>
          <p:nvPr/>
        </p:nvSpPr>
        <p:spPr>
          <a:xfrm>
            <a:off x="868680" y="1901952"/>
            <a:ext cx="1371600" cy="548640"/>
          </a:xfrm>
          <a:prstGeom prst="rect">
            <a:avLst/>
          </a:prstGeom>
          <a:noFill/>
          <a:ln/>
        </p:spPr>
        <p:txBody>
          <a:bodyPr wrap="square" lIns="0" tIns="0" rIns="0" bIns="0" rtlCol="0" anchor="ctr"/>
          <a:lstStyle/>
          <a:p>
            <a:pPr marL="0" indent="0">
              <a:buNone/>
            </a:pPr>
            <a:r>
              <a:rPr lang="en-US" sz="3200" b="1" dirty="0">
                <a:solidFill>
                  <a:srgbClr val="FFB81C"/>
                </a:solidFill>
                <a:latin typeface="Calibri" pitchFamily="34" charset="0"/>
                <a:ea typeface="Calibri" pitchFamily="34" charset="-122"/>
                <a:cs typeface="Calibri" pitchFamily="34" charset="-120"/>
              </a:rPr>
              <a:t>01</a:t>
            </a:r>
            <a:endParaRPr lang="en-US" sz="3200" dirty="0"/>
          </a:p>
        </p:txBody>
      </p:sp>
      <p:sp>
        <p:nvSpPr>
          <p:cNvPr id="11" name="Text 7"/>
          <p:cNvSpPr/>
          <p:nvPr/>
        </p:nvSpPr>
        <p:spPr>
          <a:xfrm>
            <a:off x="2286000" y="1901952"/>
            <a:ext cx="7680960"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Prompt Masterclass</a:t>
            </a:r>
            <a:endParaRPr lang="en-US" sz="2200" dirty="0"/>
          </a:p>
        </p:txBody>
      </p:sp>
      <p:sp>
        <p:nvSpPr>
          <p:cNvPr id="12" name="Text 8"/>
          <p:cNvSpPr/>
          <p:nvPr/>
        </p:nvSpPr>
        <p:spPr>
          <a:xfrm>
            <a:off x="2286000" y="2377440"/>
            <a:ext cx="7955280" cy="548640"/>
          </a:xfrm>
          <a:prstGeom prst="rect">
            <a:avLst/>
          </a:prstGeom>
          <a:noFill/>
          <a:ln/>
        </p:spPr>
        <p:txBody>
          <a:bodyPr wrap="square" lIns="0" tIns="0" rIns="0" bIns="0" rtlCol="0" anchor="ctr"/>
          <a:lstStyle/>
          <a:p>
            <a:pPr marL="0" indent="0">
              <a:buNone/>
            </a:pPr>
            <a:r>
              <a:rPr lang="en-US" sz="1300" dirty="0">
                <a:solidFill>
                  <a:srgbClr val="EAF2FA"/>
                </a:solidFill>
                <a:latin typeface="Calibri" pitchFamily="34" charset="0"/>
                <a:ea typeface="Calibri" pitchFamily="34" charset="-122"/>
                <a:cs typeface="Calibri" pitchFamily="34" charset="-120"/>
              </a:rPr>
              <a:t>Learn the GCSE prompting framework, then practice with three hands-on exercises built around council scenarios.</a:t>
            </a:r>
            <a:endParaRPr lang="en-US" sz="1300" dirty="0"/>
          </a:p>
        </p:txBody>
      </p:sp>
      <p:sp>
        <p:nvSpPr>
          <p:cNvPr id="13" name="Shape 9"/>
          <p:cNvSpPr/>
          <p:nvPr/>
        </p:nvSpPr>
        <p:spPr>
          <a:xfrm>
            <a:off x="548640" y="3200400"/>
            <a:ext cx="10058400" cy="1280160"/>
          </a:xfrm>
          <a:prstGeom prst="rect">
            <a:avLst/>
          </a:prstGeom>
          <a:solidFill>
            <a:srgbClr val="0A2A44"/>
          </a:solidFill>
          <a:ln w="6350">
            <a:solidFill>
              <a:srgbClr val="1E3A5C"/>
            </a:solidFill>
            <a:prstDash val="solid"/>
          </a:ln>
        </p:spPr>
        <p:txBody>
          <a:bodyPr/>
          <a:lstStyle/>
          <a:p>
            <a:endParaRPr lang="en-US"/>
          </a:p>
        </p:txBody>
      </p:sp>
      <p:sp>
        <p:nvSpPr>
          <p:cNvPr id="14" name="Shape 10"/>
          <p:cNvSpPr/>
          <p:nvPr/>
        </p:nvSpPr>
        <p:spPr>
          <a:xfrm>
            <a:off x="548640" y="3200400"/>
            <a:ext cx="109728" cy="1280160"/>
          </a:xfrm>
          <a:prstGeom prst="rect">
            <a:avLst/>
          </a:prstGeom>
          <a:solidFill>
            <a:srgbClr val="FFB81C"/>
          </a:solidFill>
          <a:ln w="12700">
            <a:solidFill>
              <a:srgbClr val="333333"/>
            </a:solidFill>
            <a:prstDash val="solid"/>
          </a:ln>
        </p:spPr>
        <p:txBody>
          <a:bodyPr/>
          <a:lstStyle/>
          <a:p>
            <a:endParaRPr lang="en-US"/>
          </a:p>
        </p:txBody>
      </p:sp>
      <p:sp>
        <p:nvSpPr>
          <p:cNvPr id="15" name="Text 11"/>
          <p:cNvSpPr/>
          <p:nvPr/>
        </p:nvSpPr>
        <p:spPr>
          <a:xfrm>
            <a:off x="868680" y="3364992"/>
            <a:ext cx="1371600" cy="548640"/>
          </a:xfrm>
          <a:prstGeom prst="rect">
            <a:avLst/>
          </a:prstGeom>
          <a:noFill/>
          <a:ln/>
        </p:spPr>
        <p:txBody>
          <a:bodyPr wrap="square" lIns="0" tIns="0" rIns="0" bIns="0" rtlCol="0" anchor="ctr"/>
          <a:lstStyle/>
          <a:p>
            <a:pPr marL="0" indent="0">
              <a:buNone/>
            </a:pPr>
            <a:r>
              <a:rPr lang="en-US" sz="3200" b="1" dirty="0">
                <a:solidFill>
                  <a:srgbClr val="FFB81C"/>
                </a:solidFill>
                <a:latin typeface="Calibri" pitchFamily="34" charset="0"/>
                <a:ea typeface="Calibri" pitchFamily="34" charset="-122"/>
                <a:cs typeface="Calibri" pitchFamily="34" charset="-120"/>
              </a:rPr>
              <a:t>02</a:t>
            </a:r>
            <a:endParaRPr lang="en-US" sz="3200" dirty="0"/>
          </a:p>
        </p:txBody>
      </p:sp>
      <p:sp>
        <p:nvSpPr>
          <p:cNvPr id="16" name="Text 12"/>
          <p:cNvSpPr/>
          <p:nvPr/>
        </p:nvSpPr>
        <p:spPr>
          <a:xfrm>
            <a:off x="2286000" y="3364992"/>
            <a:ext cx="7680960"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Copilot Capabilities</a:t>
            </a:r>
            <a:endParaRPr lang="en-US" sz="2200" dirty="0"/>
          </a:p>
        </p:txBody>
      </p:sp>
      <p:sp>
        <p:nvSpPr>
          <p:cNvPr id="17" name="Text 13"/>
          <p:cNvSpPr/>
          <p:nvPr/>
        </p:nvSpPr>
        <p:spPr>
          <a:xfrm>
            <a:off x="2286000" y="3840480"/>
            <a:ext cx="7955280" cy="548640"/>
          </a:xfrm>
          <a:prstGeom prst="rect">
            <a:avLst/>
          </a:prstGeom>
          <a:noFill/>
          <a:ln/>
        </p:spPr>
        <p:txBody>
          <a:bodyPr wrap="square" lIns="0" tIns="0" rIns="0" bIns="0" rtlCol="0" anchor="ctr"/>
          <a:lstStyle/>
          <a:p>
            <a:pPr marL="0" indent="0">
              <a:buNone/>
            </a:pPr>
            <a:r>
              <a:rPr lang="en-US" sz="1300" dirty="0">
                <a:solidFill>
                  <a:srgbClr val="EAF2FA"/>
                </a:solidFill>
                <a:latin typeface="Calibri" pitchFamily="34" charset="0"/>
                <a:ea typeface="Calibri" pitchFamily="34" charset="-122"/>
                <a:cs typeface="Calibri" pitchFamily="34" charset="-120"/>
              </a:rPr>
              <a:t>Tour of Microsoft 365 Copilot — Chat, Search, Notebooks, Create, Pages, Agents and Copilot Studio.</a:t>
            </a:r>
            <a:endParaRPr lang="en-US" sz="1300" dirty="0"/>
          </a:p>
        </p:txBody>
      </p:sp>
      <p:sp>
        <p:nvSpPr>
          <p:cNvPr id="18" name="Shape 14"/>
          <p:cNvSpPr/>
          <p:nvPr/>
        </p:nvSpPr>
        <p:spPr>
          <a:xfrm>
            <a:off x="548640" y="4663440"/>
            <a:ext cx="10058400" cy="1280160"/>
          </a:xfrm>
          <a:prstGeom prst="rect">
            <a:avLst/>
          </a:prstGeom>
          <a:solidFill>
            <a:srgbClr val="0A2A44"/>
          </a:solidFill>
          <a:ln w="6350">
            <a:solidFill>
              <a:srgbClr val="1E3A5C"/>
            </a:solidFill>
            <a:prstDash val="solid"/>
          </a:ln>
        </p:spPr>
        <p:txBody>
          <a:bodyPr/>
          <a:lstStyle/>
          <a:p>
            <a:endParaRPr lang="en-US"/>
          </a:p>
        </p:txBody>
      </p:sp>
      <p:sp>
        <p:nvSpPr>
          <p:cNvPr id="19" name="Shape 15"/>
          <p:cNvSpPr/>
          <p:nvPr/>
        </p:nvSpPr>
        <p:spPr>
          <a:xfrm>
            <a:off x="548640" y="4663440"/>
            <a:ext cx="109728" cy="1280160"/>
          </a:xfrm>
          <a:prstGeom prst="rect">
            <a:avLst/>
          </a:prstGeom>
          <a:solidFill>
            <a:srgbClr val="FFB81C"/>
          </a:solidFill>
          <a:ln w="12700">
            <a:solidFill>
              <a:srgbClr val="333333"/>
            </a:solidFill>
            <a:prstDash val="solid"/>
          </a:ln>
        </p:spPr>
        <p:txBody>
          <a:bodyPr/>
          <a:lstStyle/>
          <a:p>
            <a:endParaRPr lang="en-US"/>
          </a:p>
        </p:txBody>
      </p:sp>
      <p:sp>
        <p:nvSpPr>
          <p:cNvPr id="20" name="Text 16"/>
          <p:cNvSpPr/>
          <p:nvPr/>
        </p:nvSpPr>
        <p:spPr>
          <a:xfrm>
            <a:off x="868680" y="4828032"/>
            <a:ext cx="1371600" cy="548640"/>
          </a:xfrm>
          <a:prstGeom prst="rect">
            <a:avLst/>
          </a:prstGeom>
          <a:noFill/>
          <a:ln/>
        </p:spPr>
        <p:txBody>
          <a:bodyPr wrap="square" lIns="0" tIns="0" rIns="0" bIns="0" rtlCol="0" anchor="ctr"/>
          <a:lstStyle/>
          <a:p>
            <a:pPr marL="0" indent="0">
              <a:buNone/>
            </a:pPr>
            <a:r>
              <a:rPr lang="en-US" sz="3200" b="1" dirty="0">
                <a:solidFill>
                  <a:srgbClr val="FFB81C"/>
                </a:solidFill>
                <a:latin typeface="Calibri" pitchFamily="34" charset="0"/>
                <a:ea typeface="Calibri" pitchFamily="34" charset="-122"/>
                <a:cs typeface="Calibri" pitchFamily="34" charset="-120"/>
              </a:rPr>
              <a:t>03</a:t>
            </a:r>
            <a:endParaRPr lang="en-US" sz="3200" dirty="0"/>
          </a:p>
        </p:txBody>
      </p:sp>
      <p:sp>
        <p:nvSpPr>
          <p:cNvPr id="21" name="Text 17"/>
          <p:cNvSpPr/>
          <p:nvPr/>
        </p:nvSpPr>
        <p:spPr>
          <a:xfrm>
            <a:off x="2286000" y="4828032"/>
            <a:ext cx="7680960"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Innovation Lab Challenges</a:t>
            </a:r>
            <a:endParaRPr lang="en-US" sz="2200" dirty="0"/>
          </a:p>
        </p:txBody>
      </p:sp>
      <p:sp>
        <p:nvSpPr>
          <p:cNvPr id="22" name="Text 18"/>
          <p:cNvSpPr/>
          <p:nvPr/>
        </p:nvSpPr>
        <p:spPr>
          <a:xfrm>
            <a:off x="2286000" y="5303520"/>
            <a:ext cx="7955280" cy="548640"/>
          </a:xfrm>
          <a:prstGeom prst="rect">
            <a:avLst/>
          </a:prstGeom>
          <a:noFill/>
          <a:ln/>
        </p:spPr>
        <p:txBody>
          <a:bodyPr wrap="square" lIns="0" tIns="0" rIns="0" bIns="0" rtlCol="0" anchor="ctr"/>
          <a:lstStyle/>
          <a:p>
            <a:pPr marL="0" indent="0">
              <a:buNone/>
            </a:pPr>
            <a:r>
              <a:rPr lang="en-US" sz="1300" dirty="0">
                <a:solidFill>
                  <a:srgbClr val="EAF2FA"/>
                </a:solidFill>
                <a:latin typeface="Calibri" pitchFamily="34" charset="0"/>
                <a:ea typeface="Calibri" pitchFamily="34" charset="-122"/>
                <a:cs typeface="Calibri" pitchFamily="34" charset="-120"/>
              </a:rPr>
              <a:t>Apply everything. Five hands-on challenges where you build something real with Copilot, Notebooks and Agents.</a:t>
            </a:r>
            <a:endParaRPr lang="en-US" sz="1300" dirty="0"/>
          </a:p>
        </p:txBody>
      </p:sp>
      <p:sp>
        <p:nvSpPr>
          <p:cNvPr id="23" name="Text 19"/>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2 / 40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1463040"/>
            <a:ext cx="3657600" cy="3657600"/>
          </a:xfrm>
          <a:prstGeom prst="rect">
            <a:avLst/>
          </a:prstGeom>
          <a:noFill/>
          <a:ln/>
        </p:spPr>
        <p:txBody>
          <a:bodyPr wrap="square" lIns="0" tIns="0" rIns="0" bIns="0" rtlCol="0" anchor="t"/>
          <a:lstStyle/>
          <a:p>
            <a:pPr marL="0" indent="0">
              <a:buNone/>
            </a:pPr>
            <a:r>
              <a:rPr lang="en-US" sz="28000" b="1" dirty="0">
                <a:solidFill>
                  <a:srgbClr val="FFB81C"/>
                </a:solidFill>
                <a:latin typeface="Calibri" pitchFamily="34" charset="0"/>
                <a:ea typeface="Calibri" pitchFamily="34" charset="-122"/>
                <a:cs typeface="Calibri" pitchFamily="34" charset="-120"/>
              </a:rPr>
              <a:t>01</a:t>
            </a:r>
            <a:endParaRPr lang="en-US" sz="28000" dirty="0"/>
          </a:p>
        </p:txBody>
      </p:sp>
      <p:sp>
        <p:nvSpPr>
          <p:cNvPr id="6" name="Shape 2"/>
          <p:cNvSpPr/>
          <p:nvPr/>
        </p:nvSpPr>
        <p:spPr>
          <a:xfrm>
            <a:off x="4937760" y="2560320"/>
            <a:ext cx="36576" cy="1828800"/>
          </a:xfrm>
          <a:prstGeom prst="rect">
            <a:avLst/>
          </a:prstGeom>
          <a:solidFill>
            <a:srgbClr val="4FC3F7"/>
          </a:solidFill>
          <a:ln w="12700">
            <a:solidFill>
              <a:srgbClr val="333333"/>
            </a:solidFill>
            <a:prstDash val="solid"/>
          </a:ln>
        </p:spPr>
        <p:txBody>
          <a:bodyPr/>
          <a:lstStyle/>
          <a:p>
            <a:endParaRPr lang="en-US"/>
          </a:p>
        </p:txBody>
      </p:sp>
      <p:sp>
        <p:nvSpPr>
          <p:cNvPr id="7" name="Text 3"/>
          <p:cNvSpPr/>
          <p:nvPr/>
        </p:nvSpPr>
        <p:spPr>
          <a:xfrm>
            <a:off x="5212080" y="2606040"/>
            <a:ext cx="6400800" cy="365760"/>
          </a:xfrm>
          <a:prstGeom prst="rect">
            <a:avLst/>
          </a:prstGeom>
          <a:noFill/>
          <a:ln/>
        </p:spPr>
        <p:txBody>
          <a:bodyPr wrap="square" lIns="0" tIns="0" rIns="0" bIns="0" rtlCol="0" anchor="ctr"/>
          <a:lstStyle/>
          <a:p>
            <a:pPr marL="0" indent="0">
              <a:buNone/>
            </a:pPr>
            <a:r>
              <a:rPr lang="en-US" sz="1600" b="1" kern="0" spc="400" dirty="0">
                <a:solidFill>
                  <a:srgbClr val="4FC3F7"/>
                </a:solidFill>
                <a:latin typeface="Calibri" pitchFamily="34" charset="0"/>
                <a:ea typeface="Calibri" pitchFamily="34" charset="-122"/>
                <a:cs typeface="Calibri" pitchFamily="34" charset="-120"/>
              </a:rPr>
              <a:t>SECTION 01</a:t>
            </a:r>
            <a:endParaRPr lang="en-US" sz="1600" dirty="0"/>
          </a:p>
        </p:txBody>
      </p:sp>
      <p:sp>
        <p:nvSpPr>
          <p:cNvPr id="8" name="Text 4"/>
          <p:cNvSpPr/>
          <p:nvPr/>
        </p:nvSpPr>
        <p:spPr>
          <a:xfrm>
            <a:off x="5212080" y="3017520"/>
            <a:ext cx="5486400" cy="91440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Prompt Masterclass</a:t>
            </a:r>
            <a:endParaRPr lang="en-US" sz="4400" dirty="0"/>
          </a:p>
        </p:txBody>
      </p:sp>
      <p:sp>
        <p:nvSpPr>
          <p:cNvPr id="9" name="Text 5"/>
          <p:cNvSpPr/>
          <p:nvPr/>
        </p:nvSpPr>
        <p:spPr>
          <a:xfrm>
            <a:off x="5212080" y="4023360"/>
            <a:ext cx="5486400" cy="731520"/>
          </a:xfrm>
          <a:prstGeom prst="rect">
            <a:avLst/>
          </a:prstGeom>
          <a:noFill/>
          <a:ln/>
        </p:spPr>
        <p:txBody>
          <a:bodyPr wrap="square" lIns="0" tIns="0" rIns="0" bIns="0" rtlCol="0" anchor="ctr"/>
          <a:lstStyle/>
          <a:p>
            <a:pPr marL="0" indent="0">
              <a:buNone/>
            </a:pPr>
            <a:r>
              <a:rPr lang="en-US" sz="1700" i="1" dirty="0">
                <a:solidFill>
                  <a:srgbClr val="EAF2FA"/>
                </a:solidFill>
                <a:latin typeface="Calibri" pitchFamily="34" charset="0"/>
                <a:ea typeface="Calibri" pitchFamily="34" charset="-122"/>
                <a:cs typeface="Calibri" pitchFamily="34" charset="-120"/>
              </a:rPr>
              <a:t>The prompting skills that will change your results!</a:t>
            </a:r>
            <a:endParaRPr lang="en-US" sz="1700" dirty="0"/>
          </a:p>
        </p:txBody>
      </p:sp>
      <p:sp>
        <p:nvSpPr>
          <p:cNvPr id="10" name="Text 6"/>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3 / 40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10085832" y="0"/>
            <a:ext cx="2103120" cy="914400"/>
          </a:xfrm>
          <a:prstGeom prst="rect">
            <a:avLst/>
          </a:prstGeom>
          <a:solidFill>
            <a:srgbClr val="001F33"/>
          </a:solidFill>
          <a:ln w="12700">
            <a:solidFill>
              <a:srgbClr val="333333"/>
            </a:solidFill>
            <a:prstDash val="solid"/>
          </a:ln>
        </p:spPr>
        <p:txBody>
          <a:bodyPr/>
          <a:lstStyle/>
          <a:p>
            <a:endParaRPr lang="en-US"/>
          </a:p>
        </p:txBody>
      </p:sp>
      <p:pic>
        <p:nvPicPr>
          <p:cNvPr id="3" name="Image 0" descr="/mnt/workspace/working/akkodis-barhead-logo-white.png"/>
          <p:cNvPicPr>
            <a:picLocks noChangeAspect="1"/>
          </p:cNvPicPr>
          <p:nvPr/>
        </p:nvPicPr>
        <p:blipFill>
          <a:blip r:embed="rId3"/>
          <a:stretch>
            <a:fillRect/>
          </a:stretch>
        </p:blipFill>
        <p:spPr>
          <a:xfrm>
            <a:off x="10268712" y="256032"/>
            <a:ext cx="1554480" cy="249491"/>
          </a:xfrm>
          <a:prstGeom prst="rect">
            <a:avLst/>
          </a:prstGeom>
        </p:spPr>
      </p:pic>
      <p:sp>
        <p:nvSpPr>
          <p:cNvPr id="4" name="Text 1"/>
          <p:cNvSpPr/>
          <p:nvPr/>
        </p:nvSpPr>
        <p:spPr>
          <a:xfrm>
            <a:off x="548640" y="457200"/>
            <a:ext cx="8229600" cy="640080"/>
          </a:xfrm>
          <a:prstGeom prst="rect">
            <a:avLst/>
          </a:prstGeom>
          <a:noFill/>
          <a:ln/>
        </p:spPr>
        <p:txBody>
          <a:bodyPr wrap="square" lIns="0" tIns="0" rIns="0" bIns="0" rtlCol="0" anchor="ctr"/>
          <a:lstStyle/>
          <a:p>
            <a:pPr marL="0" indent="0">
              <a:buNone/>
            </a:pPr>
            <a:r>
              <a:rPr lang="en-US" sz="3600" b="1" dirty="0">
                <a:solidFill>
                  <a:srgbClr val="0B1F33"/>
                </a:solidFill>
                <a:latin typeface="Calibri" pitchFamily="34" charset="0"/>
                <a:ea typeface="Calibri" pitchFamily="34" charset="-122"/>
                <a:cs typeface="Calibri" pitchFamily="34" charset="-120"/>
              </a:rPr>
              <a:t>Why prompting matters</a:t>
            </a:r>
            <a:endParaRPr lang="en-US" sz="3600" dirty="0"/>
          </a:p>
        </p:txBody>
      </p:sp>
      <p:sp>
        <p:nvSpPr>
          <p:cNvPr id="5" name="Shape 2"/>
          <p:cNvSpPr/>
          <p:nvPr/>
        </p:nvSpPr>
        <p:spPr>
          <a:xfrm>
            <a:off x="548640" y="1143000"/>
            <a:ext cx="1280160" cy="73152"/>
          </a:xfrm>
          <a:prstGeom prst="rect">
            <a:avLst/>
          </a:prstGeom>
          <a:solidFill>
            <a:srgbClr val="FFB81C"/>
          </a:solidFill>
          <a:ln w="12700">
            <a:solidFill>
              <a:srgbClr val="FFB81C"/>
            </a:solidFill>
            <a:prstDash val="solid"/>
          </a:ln>
        </p:spPr>
        <p:txBody>
          <a:bodyPr/>
          <a:lstStyle/>
          <a:p>
            <a:endParaRPr lang="en-US"/>
          </a:p>
        </p:txBody>
      </p:sp>
      <p:sp>
        <p:nvSpPr>
          <p:cNvPr id="6" name="Shape 3"/>
          <p:cNvSpPr/>
          <p:nvPr/>
        </p:nvSpPr>
        <p:spPr>
          <a:xfrm>
            <a:off x="1920240" y="1143000"/>
            <a:ext cx="640080" cy="73152"/>
          </a:xfrm>
          <a:prstGeom prst="rect">
            <a:avLst/>
          </a:prstGeom>
          <a:solidFill>
            <a:srgbClr val="4FC3F7"/>
          </a:solidFill>
          <a:ln w="12700">
            <a:solidFill>
              <a:srgbClr val="4FC3F7"/>
            </a:solidFill>
            <a:prstDash val="solid"/>
          </a:ln>
        </p:spPr>
        <p:txBody>
          <a:bodyPr/>
          <a:lstStyle/>
          <a:p>
            <a:endParaRPr lang="en-US"/>
          </a:p>
        </p:txBody>
      </p:sp>
      <p:sp>
        <p:nvSpPr>
          <p:cNvPr id="7" name="Text 4"/>
          <p:cNvSpPr/>
          <p:nvPr/>
        </p:nvSpPr>
        <p:spPr>
          <a:xfrm>
            <a:off x="548640" y="1417320"/>
            <a:ext cx="10972800" cy="640080"/>
          </a:xfrm>
          <a:prstGeom prst="rect">
            <a:avLst/>
          </a:prstGeom>
          <a:noFill/>
          <a:ln/>
        </p:spPr>
        <p:txBody>
          <a:bodyPr wrap="square" lIns="0" tIns="0" rIns="0" bIns="0" rtlCol="0" anchor="ctr"/>
          <a:lstStyle/>
          <a:p>
            <a:pPr marL="0" indent="0">
              <a:buNone/>
            </a:pPr>
            <a:r>
              <a:rPr lang="en-US" sz="1600" i="1" dirty="0">
                <a:solidFill>
                  <a:srgbClr val="3D5573"/>
                </a:solidFill>
                <a:latin typeface="Calibri" pitchFamily="34" charset="0"/>
                <a:ea typeface="Calibri" pitchFamily="34" charset="-122"/>
                <a:cs typeface="Calibri" pitchFamily="34" charset="-120"/>
              </a:rPr>
              <a:t>The prompt is the unlock. Same Copilot, same model — small changes in how you frame a request lead to dramatically different results.</a:t>
            </a:r>
            <a:endParaRPr lang="en-US" sz="1600" dirty="0"/>
          </a:p>
        </p:txBody>
      </p:sp>
      <p:sp>
        <p:nvSpPr>
          <p:cNvPr id="8" name="Shape 5"/>
          <p:cNvSpPr/>
          <p:nvPr/>
        </p:nvSpPr>
        <p:spPr>
          <a:xfrm>
            <a:off x="548640" y="2377440"/>
            <a:ext cx="5362956" cy="3931920"/>
          </a:xfrm>
          <a:prstGeom prst="rect">
            <a:avLst/>
          </a:prstGeom>
          <a:solidFill>
            <a:srgbClr val="FFFFFF"/>
          </a:solidFill>
          <a:ln w="9525">
            <a:solidFill>
              <a:srgbClr val="D7DEE8"/>
            </a:solidFill>
            <a:prstDash val="solid"/>
          </a:ln>
        </p:spPr>
        <p:txBody>
          <a:bodyPr/>
          <a:lstStyle/>
          <a:p>
            <a:endParaRPr lang="en-US"/>
          </a:p>
        </p:txBody>
      </p:sp>
      <p:sp>
        <p:nvSpPr>
          <p:cNvPr id="9" name="Shape 6"/>
          <p:cNvSpPr/>
          <p:nvPr/>
        </p:nvSpPr>
        <p:spPr>
          <a:xfrm>
            <a:off x="548640" y="2377440"/>
            <a:ext cx="5362956" cy="457200"/>
          </a:xfrm>
          <a:prstGeom prst="rect">
            <a:avLst/>
          </a:prstGeom>
          <a:solidFill>
            <a:srgbClr val="E8EDF4"/>
          </a:solidFill>
          <a:ln w="12700">
            <a:solidFill>
              <a:srgbClr val="333333"/>
            </a:solidFill>
            <a:prstDash val="solid"/>
          </a:ln>
        </p:spPr>
        <p:txBody>
          <a:bodyPr/>
          <a:lstStyle/>
          <a:p>
            <a:endParaRPr lang="en-US"/>
          </a:p>
        </p:txBody>
      </p:sp>
      <p:sp>
        <p:nvSpPr>
          <p:cNvPr id="10" name="Text 7"/>
          <p:cNvSpPr/>
          <p:nvPr/>
        </p:nvSpPr>
        <p:spPr>
          <a:xfrm>
            <a:off x="777240" y="2423160"/>
            <a:ext cx="4997196" cy="365760"/>
          </a:xfrm>
          <a:prstGeom prst="rect">
            <a:avLst/>
          </a:prstGeom>
          <a:noFill/>
          <a:ln/>
        </p:spPr>
        <p:txBody>
          <a:bodyPr wrap="square" lIns="0" tIns="0" rIns="0" bIns="0" rtlCol="0" anchor="ctr"/>
          <a:lstStyle/>
          <a:p>
            <a:pPr marL="0" indent="0">
              <a:buNone/>
            </a:pPr>
            <a:r>
              <a:rPr lang="en-US" sz="1200" b="1" kern="0" spc="300" dirty="0">
                <a:solidFill>
                  <a:srgbClr val="6B7C93"/>
                </a:solidFill>
                <a:latin typeface="Calibri" pitchFamily="34" charset="0"/>
                <a:ea typeface="Calibri" pitchFamily="34" charset="-122"/>
                <a:cs typeface="Calibri" pitchFamily="34" charset="-120"/>
              </a:rPr>
              <a:t>VAGUE PROMPT</a:t>
            </a:r>
            <a:endParaRPr lang="en-US" sz="1200" dirty="0"/>
          </a:p>
        </p:txBody>
      </p:sp>
      <p:sp>
        <p:nvSpPr>
          <p:cNvPr id="11" name="Text 8"/>
          <p:cNvSpPr/>
          <p:nvPr/>
        </p:nvSpPr>
        <p:spPr>
          <a:xfrm>
            <a:off x="777240" y="3017520"/>
            <a:ext cx="4905756" cy="548640"/>
          </a:xfrm>
          <a:prstGeom prst="rect">
            <a:avLst/>
          </a:prstGeom>
          <a:noFill/>
          <a:ln/>
        </p:spPr>
        <p:txBody>
          <a:bodyPr wrap="square" lIns="0" tIns="0" rIns="0" bIns="0" rtlCol="0" anchor="ctr"/>
          <a:lstStyle/>
          <a:p>
            <a:pPr marL="0" indent="0">
              <a:buNone/>
            </a:pPr>
            <a:r>
              <a:rPr lang="en-US" sz="1700" i="1" dirty="0">
                <a:solidFill>
                  <a:srgbClr val="0B1F33"/>
                </a:solidFill>
                <a:latin typeface="Calibri" pitchFamily="34" charset="0"/>
                <a:ea typeface="Calibri" pitchFamily="34" charset="-122"/>
                <a:cs typeface="Calibri" pitchFamily="34" charset="-120"/>
              </a:rPr>
              <a:t>"Summarise this planning report."</a:t>
            </a:r>
            <a:endParaRPr lang="en-US" sz="1700" dirty="0"/>
          </a:p>
        </p:txBody>
      </p:sp>
      <p:sp>
        <p:nvSpPr>
          <p:cNvPr id="12" name="Text 9"/>
          <p:cNvSpPr/>
          <p:nvPr/>
        </p:nvSpPr>
        <p:spPr>
          <a:xfrm>
            <a:off x="777240" y="3840480"/>
            <a:ext cx="4997196" cy="274320"/>
          </a:xfrm>
          <a:prstGeom prst="rect">
            <a:avLst/>
          </a:prstGeom>
          <a:noFill/>
          <a:ln/>
        </p:spPr>
        <p:txBody>
          <a:bodyPr wrap="square" lIns="0" tIns="0" rIns="0" bIns="0" rtlCol="0" anchor="ctr"/>
          <a:lstStyle/>
          <a:p>
            <a:pPr marL="0" indent="0">
              <a:buNone/>
            </a:pPr>
            <a:r>
              <a:rPr lang="en-US" sz="1100" b="1" kern="0" spc="200" dirty="0">
                <a:solidFill>
                  <a:srgbClr val="6B7C93"/>
                </a:solidFill>
                <a:latin typeface="Calibri" pitchFamily="34" charset="0"/>
                <a:ea typeface="Calibri" pitchFamily="34" charset="-122"/>
                <a:cs typeface="Calibri" pitchFamily="34" charset="-120"/>
              </a:rPr>
              <a:t>What you get back</a:t>
            </a:r>
            <a:endParaRPr lang="en-US" sz="1100" dirty="0"/>
          </a:p>
        </p:txBody>
      </p:sp>
      <p:sp>
        <p:nvSpPr>
          <p:cNvPr id="13" name="Text 10"/>
          <p:cNvSpPr/>
          <p:nvPr/>
        </p:nvSpPr>
        <p:spPr>
          <a:xfrm>
            <a:off x="777240" y="4206240"/>
            <a:ext cx="4905756" cy="192024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3D5573"/>
                </a:solidFill>
                <a:latin typeface="Calibri" pitchFamily="34" charset="0"/>
                <a:ea typeface="Calibri" pitchFamily="34" charset="-122"/>
                <a:cs typeface="Calibri" pitchFamily="34" charset="-120"/>
              </a:rPr>
              <a:t>Generic high-level overview</a:t>
            </a:r>
            <a:endParaRPr lang="en-US" sz="1300" dirty="0"/>
          </a:p>
          <a:p>
            <a:pPr marL="342900" indent="-342900">
              <a:spcAft>
                <a:spcPts val="400"/>
              </a:spcAft>
              <a:buSzPct val="100000"/>
              <a:buChar char="•"/>
            </a:pPr>
            <a:r>
              <a:rPr lang="en-US" sz="1300" dirty="0">
                <a:solidFill>
                  <a:srgbClr val="3D5573"/>
                </a:solidFill>
                <a:latin typeface="Calibri" pitchFamily="34" charset="0"/>
                <a:ea typeface="Calibri" pitchFamily="34" charset="-122"/>
                <a:cs typeface="Calibri" pitchFamily="34" charset="-120"/>
              </a:rPr>
              <a:t>No focus on what actually matters to council</a:t>
            </a:r>
            <a:endParaRPr lang="en-US" sz="1300" dirty="0"/>
          </a:p>
          <a:p>
            <a:pPr marL="342900" indent="-342900">
              <a:spcAft>
                <a:spcPts val="400"/>
              </a:spcAft>
              <a:buSzPct val="100000"/>
              <a:buChar char="•"/>
            </a:pPr>
            <a:r>
              <a:rPr lang="en-US" sz="1300" dirty="0">
                <a:solidFill>
                  <a:srgbClr val="3D5573"/>
                </a:solidFill>
                <a:latin typeface="Calibri" pitchFamily="34" charset="0"/>
                <a:ea typeface="Calibri" pitchFamily="34" charset="-122"/>
                <a:cs typeface="Calibri" pitchFamily="34" charset="-120"/>
              </a:rPr>
              <a:t>No structure — wall of paragraphs</a:t>
            </a:r>
            <a:endParaRPr lang="en-US" sz="1300" dirty="0"/>
          </a:p>
          <a:p>
            <a:pPr marL="342900" indent="-342900">
              <a:spcAft>
                <a:spcPts val="400"/>
              </a:spcAft>
              <a:buSzPct val="100000"/>
              <a:buChar char="•"/>
            </a:pPr>
            <a:r>
              <a:rPr lang="en-US" sz="1300" dirty="0">
                <a:solidFill>
                  <a:srgbClr val="3D5573"/>
                </a:solidFill>
                <a:latin typeface="Calibri" pitchFamily="34" charset="0"/>
                <a:ea typeface="Calibri" pitchFamily="34" charset="-122"/>
                <a:cs typeface="Calibri" pitchFamily="34" charset="-120"/>
              </a:rPr>
              <a:t>Misses key dates, risks, statutory references</a:t>
            </a:r>
            <a:endParaRPr lang="en-US" sz="1300" dirty="0"/>
          </a:p>
        </p:txBody>
      </p:sp>
      <p:sp>
        <p:nvSpPr>
          <p:cNvPr id="14" name="Shape 11"/>
          <p:cNvSpPr/>
          <p:nvPr/>
        </p:nvSpPr>
        <p:spPr>
          <a:xfrm>
            <a:off x="6277356" y="2377440"/>
            <a:ext cx="5362956" cy="3931920"/>
          </a:xfrm>
          <a:prstGeom prst="rect">
            <a:avLst/>
          </a:prstGeom>
          <a:solidFill>
            <a:srgbClr val="FFFFFF"/>
          </a:solidFill>
          <a:ln w="19050">
            <a:solidFill>
              <a:srgbClr val="FFB81C"/>
            </a:solidFill>
            <a:prstDash val="solid"/>
          </a:ln>
        </p:spPr>
        <p:txBody>
          <a:bodyPr/>
          <a:lstStyle/>
          <a:p>
            <a:endParaRPr lang="en-US"/>
          </a:p>
        </p:txBody>
      </p:sp>
      <p:sp>
        <p:nvSpPr>
          <p:cNvPr id="15" name="Shape 12"/>
          <p:cNvSpPr/>
          <p:nvPr/>
        </p:nvSpPr>
        <p:spPr>
          <a:xfrm>
            <a:off x="6277356" y="2377440"/>
            <a:ext cx="5362956" cy="457200"/>
          </a:xfrm>
          <a:prstGeom prst="rect">
            <a:avLst/>
          </a:prstGeom>
          <a:solidFill>
            <a:srgbClr val="FFB81C"/>
          </a:solidFill>
          <a:ln w="12700">
            <a:solidFill>
              <a:srgbClr val="333333"/>
            </a:solidFill>
            <a:prstDash val="solid"/>
          </a:ln>
        </p:spPr>
        <p:txBody>
          <a:bodyPr/>
          <a:lstStyle/>
          <a:p>
            <a:endParaRPr lang="en-US"/>
          </a:p>
        </p:txBody>
      </p:sp>
      <p:sp>
        <p:nvSpPr>
          <p:cNvPr id="16" name="Text 13"/>
          <p:cNvSpPr/>
          <p:nvPr/>
        </p:nvSpPr>
        <p:spPr>
          <a:xfrm>
            <a:off x="6505956" y="2423160"/>
            <a:ext cx="4997196" cy="365760"/>
          </a:xfrm>
          <a:prstGeom prst="rect">
            <a:avLst/>
          </a:prstGeom>
          <a:noFill/>
          <a:ln/>
        </p:spPr>
        <p:txBody>
          <a:bodyPr wrap="square" lIns="0" tIns="0" rIns="0" bIns="0" rtlCol="0" anchor="ctr"/>
          <a:lstStyle/>
          <a:p>
            <a:pPr marL="0" indent="0">
              <a:buNone/>
            </a:pPr>
            <a:r>
              <a:rPr lang="en-US" sz="1200" b="1" kern="0" spc="300" dirty="0">
                <a:solidFill>
                  <a:srgbClr val="001F33"/>
                </a:solidFill>
                <a:latin typeface="Calibri" pitchFamily="34" charset="0"/>
                <a:ea typeface="Calibri" pitchFamily="34" charset="-122"/>
                <a:cs typeface="Calibri" pitchFamily="34" charset="-120"/>
              </a:rPr>
              <a:t>STRUCTURED PROMPT</a:t>
            </a:r>
            <a:endParaRPr lang="en-US" sz="1200" dirty="0"/>
          </a:p>
        </p:txBody>
      </p:sp>
      <p:sp>
        <p:nvSpPr>
          <p:cNvPr id="17" name="Text 14"/>
          <p:cNvSpPr/>
          <p:nvPr/>
        </p:nvSpPr>
        <p:spPr>
          <a:xfrm>
            <a:off x="6505956" y="3017520"/>
            <a:ext cx="4905756" cy="822960"/>
          </a:xfrm>
          <a:prstGeom prst="rect">
            <a:avLst/>
          </a:prstGeom>
          <a:noFill/>
          <a:ln/>
        </p:spPr>
        <p:txBody>
          <a:bodyPr wrap="square" lIns="0" tIns="0" rIns="0" bIns="0" rtlCol="0" anchor="ctr"/>
          <a:lstStyle/>
          <a:p>
            <a:pPr marL="0" indent="0">
              <a:buNone/>
            </a:pPr>
            <a:r>
              <a:rPr lang="en-US" sz="1500" dirty="0">
                <a:solidFill>
                  <a:srgbClr val="0B1F33"/>
                </a:solidFill>
                <a:latin typeface="Calibri" pitchFamily="34" charset="0"/>
                <a:ea typeface="Calibri" pitchFamily="34" charset="-122"/>
                <a:cs typeface="Calibri" pitchFamily="34" charset="-120"/>
              </a:rPr>
              <a:t>Apply Goal, Context, Source, Expectation — and you get council-ready output the first time.</a:t>
            </a:r>
            <a:endParaRPr lang="en-US" sz="1500" dirty="0"/>
          </a:p>
        </p:txBody>
      </p:sp>
      <p:sp>
        <p:nvSpPr>
          <p:cNvPr id="18" name="Text 15"/>
          <p:cNvSpPr/>
          <p:nvPr/>
        </p:nvSpPr>
        <p:spPr>
          <a:xfrm>
            <a:off x="6505956" y="3931920"/>
            <a:ext cx="4997196" cy="274320"/>
          </a:xfrm>
          <a:prstGeom prst="rect">
            <a:avLst/>
          </a:prstGeom>
          <a:noFill/>
          <a:ln/>
        </p:spPr>
        <p:txBody>
          <a:bodyPr wrap="square" lIns="0" tIns="0" rIns="0" bIns="0" rtlCol="0" anchor="ctr"/>
          <a:lstStyle/>
          <a:p>
            <a:pPr marL="0" indent="0">
              <a:buNone/>
            </a:pPr>
            <a:r>
              <a:rPr lang="en-US" sz="1100" b="1" kern="0" spc="200" dirty="0">
                <a:solidFill>
                  <a:srgbClr val="6B7C93"/>
                </a:solidFill>
                <a:latin typeface="Calibri" pitchFamily="34" charset="0"/>
                <a:ea typeface="Calibri" pitchFamily="34" charset="-122"/>
                <a:cs typeface="Calibri" pitchFamily="34" charset="-120"/>
              </a:rPr>
              <a:t>What you get back</a:t>
            </a:r>
            <a:endParaRPr lang="en-US" sz="1100" dirty="0"/>
          </a:p>
        </p:txBody>
      </p:sp>
      <p:sp>
        <p:nvSpPr>
          <p:cNvPr id="19" name="Text 16"/>
          <p:cNvSpPr/>
          <p:nvPr/>
        </p:nvSpPr>
        <p:spPr>
          <a:xfrm>
            <a:off x="6505956" y="4206240"/>
            <a:ext cx="4905756" cy="192024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3D5573"/>
                </a:solidFill>
                <a:latin typeface="Calibri" pitchFamily="34" charset="0"/>
                <a:ea typeface="Calibri" pitchFamily="34" charset="-122"/>
                <a:cs typeface="Calibri" pitchFamily="34" charset="-120"/>
              </a:rPr>
              <a:t>Targeted to the council's interests and obligations</a:t>
            </a:r>
            <a:endParaRPr lang="en-US" sz="1300" dirty="0"/>
          </a:p>
          <a:p>
            <a:pPr marL="342900" indent="-342900">
              <a:spcAft>
                <a:spcPts val="400"/>
              </a:spcAft>
              <a:buSzPct val="100000"/>
              <a:buChar char="•"/>
            </a:pPr>
            <a:r>
              <a:rPr lang="en-US" sz="1300" dirty="0">
                <a:solidFill>
                  <a:srgbClr val="3D5573"/>
                </a:solidFill>
                <a:latin typeface="Calibri" pitchFamily="34" charset="0"/>
                <a:ea typeface="Calibri" pitchFamily="34" charset="-122"/>
                <a:cs typeface="Calibri" pitchFamily="34" charset="-120"/>
              </a:rPr>
              <a:t>Structured tables with risks, clauses, dates</a:t>
            </a:r>
            <a:endParaRPr lang="en-US" sz="1300" dirty="0"/>
          </a:p>
          <a:p>
            <a:pPr marL="342900" indent="-342900">
              <a:spcAft>
                <a:spcPts val="400"/>
              </a:spcAft>
              <a:buSzPct val="100000"/>
              <a:buChar char="•"/>
            </a:pPr>
            <a:r>
              <a:rPr lang="en-US" sz="1300" dirty="0">
                <a:solidFill>
                  <a:srgbClr val="3D5573"/>
                </a:solidFill>
                <a:latin typeface="Calibri" pitchFamily="34" charset="0"/>
                <a:ea typeface="Calibri" pitchFamily="34" charset="-122"/>
                <a:cs typeface="Calibri" pitchFamily="34" charset="-120"/>
              </a:rPr>
              <a:t>Cites source material accurately</a:t>
            </a:r>
            <a:endParaRPr lang="en-US" sz="1300" dirty="0"/>
          </a:p>
          <a:p>
            <a:pPr marL="342900" indent="-342900">
              <a:spcAft>
                <a:spcPts val="400"/>
              </a:spcAft>
              <a:buSzPct val="100000"/>
              <a:buChar char="•"/>
            </a:pPr>
            <a:r>
              <a:rPr lang="en-US" sz="1300" dirty="0">
                <a:solidFill>
                  <a:srgbClr val="3D5573"/>
                </a:solidFill>
                <a:latin typeface="Calibri" pitchFamily="34" charset="0"/>
                <a:ea typeface="Calibri" pitchFamily="34" charset="-122"/>
                <a:cs typeface="Calibri" pitchFamily="34" charset="-120"/>
              </a:rPr>
              <a:t>Right tone and length, ready to share</a:t>
            </a:r>
            <a:endParaRPr lang="en-US" sz="1300" dirty="0"/>
          </a:p>
        </p:txBody>
      </p:sp>
      <p:sp>
        <p:nvSpPr>
          <p:cNvPr id="20" name="Text 17"/>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6B7C93"/>
                </a:solidFill>
                <a:latin typeface="Calibri" pitchFamily="34" charset="0"/>
                <a:ea typeface="Calibri" pitchFamily="34" charset="-122"/>
                <a:cs typeface="Calibri" pitchFamily="34" charset="-120"/>
              </a:rPr>
              <a:t>4 / 40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10058400" cy="64008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The GCSE prompting framework</a:t>
            </a:r>
            <a:endParaRPr lang="en-US" sz="3600" dirty="0"/>
          </a:p>
        </p:txBody>
      </p:sp>
      <p:sp>
        <p:nvSpPr>
          <p:cNvPr id="6" name="Shape 2"/>
          <p:cNvSpPr/>
          <p:nvPr/>
        </p:nvSpPr>
        <p:spPr>
          <a:xfrm>
            <a:off x="548640" y="1143000"/>
            <a:ext cx="1280160" cy="73152"/>
          </a:xfrm>
          <a:prstGeom prst="rect">
            <a:avLst/>
          </a:prstGeom>
          <a:solidFill>
            <a:srgbClr val="FFB81C"/>
          </a:solidFill>
          <a:ln w="12700">
            <a:solidFill>
              <a:srgbClr val="FFB81C"/>
            </a:solidFill>
            <a:prstDash val="solid"/>
          </a:ln>
        </p:spPr>
        <p:txBody>
          <a:bodyPr/>
          <a:lstStyle/>
          <a:p>
            <a:endParaRPr lang="en-US"/>
          </a:p>
        </p:txBody>
      </p:sp>
      <p:sp>
        <p:nvSpPr>
          <p:cNvPr id="7" name="Shape 3"/>
          <p:cNvSpPr/>
          <p:nvPr/>
        </p:nvSpPr>
        <p:spPr>
          <a:xfrm>
            <a:off x="1920240" y="1143000"/>
            <a:ext cx="640080" cy="73152"/>
          </a:xfrm>
          <a:prstGeom prst="rect">
            <a:avLst/>
          </a:prstGeom>
          <a:solidFill>
            <a:srgbClr val="4FC3F7"/>
          </a:solidFill>
          <a:ln w="12700">
            <a:solidFill>
              <a:srgbClr val="4FC3F7"/>
            </a:solidFill>
            <a:prstDash val="solid"/>
          </a:ln>
        </p:spPr>
        <p:txBody>
          <a:bodyPr/>
          <a:lstStyle/>
          <a:p>
            <a:endParaRPr lang="en-US"/>
          </a:p>
        </p:txBody>
      </p:sp>
      <p:sp>
        <p:nvSpPr>
          <p:cNvPr id="8" name="Text 4"/>
          <p:cNvSpPr/>
          <p:nvPr/>
        </p:nvSpPr>
        <p:spPr>
          <a:xfrm>
            <a:off x="548640" y="1417320"/>
            <a:ext cx="10972800" cy="457200"/>
          </a:xfrm>
          <a:prstGeom prst="rect">
            <a:avLst/>
          </a:prstGeom>
          <a:noFill/>
          <a:ln/>
        </p:spPr>
        <p:txBody>
          <a:bodyPr wrap="square" lIns="0" tIns="0" rIns="0" bIns="0" rtlCol="0" anchor="ctr"/>
          <a:lstStyle/>
          <a:p>
            <a:pPr marL="0" indent="0">
              <a:buNone/>
            </a:pPr>
            <a:r>
              <a:rPr lang="en-US" sz="1500" i="1" dirty="0">
                <a:solidFill>
                  <a:srgbClr val="EAF2FA"/>
                </a:solidFill>
                <a:latin typeface="Calibri" pitchFamily="34" charset="0"/>
                <a:ea typeface="Calibri" pitchFamily="34" charset="-122"/>
                <a:cs typeface="Calibri" pitchFamily="34" charset="-120"/>
              </a:rPr>
              <a:t>Four elements that turn a generic question into a high-value Copilot prompt</a:t>
            </a:r>
            <a:endParaRPr lang="en-US" sz="1500" dirty="0"/>
          </a:p>
        </p:txBody>
      </p:sp>
      <p:sp>
        <p:nvSpPr>
          <p:cNvPr id="9" name="Shape 5"/>
          <p:cNvSpPr/>
          <p:nvPr/>
        </p:nvSpPr>
        <p:spPr>
          <a:xfrm>
            <a:off x="548640" y="2194560"/>
            <a:ext cx="2601468" cy="3931920"/>
          </a:xfrm>
          <a:prstGeom prst="rect">
            <a:avLst/>
          </a:prstGeom>
          <a:solidFill>
            <a:srgbClr val="0A2A44"/>
          </a:solidFill>
          <a:ln w="6350">
            <a:solidFill>
              <a:srgbClr val="1E3A5C"/>
            </a:solidFill>
            <a:prstDash val="solid"/>
          </a:ln>
        </p:spPr>
        <p:txBody>
          <a:bodyPr/>
          <a:lstStyle/>
          <a:p>
            <a:endParaRPr lang="en-US"/>
          </a:p>
        </p:txBody>
      </p:sp>
      <p:sp>
        <p:nvSpPr>
          <p:cNvPr id="10" name="Shape 6"/>
          <p:cNvSpPr/>
          <p:nvPr/>
        </p:nvSpPr>
        <p:spPr>
          <a:xfrm>
            <a:off x="1209294" y="2560320"/>
            <a:ext cx="1280160" cy="1280160"/>
          </a:xfrm>
          <a:prstGeom prst="ellipse">
            <a:avLst/>
          </a:prstGeom>
          <a:solidFill>
            <a:srgbClr val="00111F"/>
          </a:solidFill>
          <a:ln w="25400">
            <a:solidFill>
              <a:srgbClr val="FFB81C"/>
            </a:solidFill>
            <a:prstDash val="solid"/>
          </a:ln>
        </p:spPr>
        <p:txBody>
          <a:bodyPr/>
          <a:lstStyle/>
          <a:p>
            <a:endParaRPr lang="en-US"/>
          </a:p>
        </p:txBody>
      </p:sp>
      <p:sp>
        <p:nvSpPr>
          <p:cNvPr id="11" name="Text 7"/>
          <p:cNvSpPr/>
          <p:nvPr/>
        </p:nvSpPr>
        <p:spPr>
          <a:xfrm>
            <a:off x="1209294" y="2560320"/>
            <a:ext cx="1280160" cy="1280160"/>
          </a:xfrm>
          <a:prstGeom prst="rect">
            <a:avLst/>
          </a:prstGeom>
          <a:noFill/>
          <a:ln/>
        </p:spPr>
        <p:txBody>
          <a:bodyPr wrap="square" lIns="0" tIns="0" rIns="0" bIns="0" rtlCol="0" anchor="ctr"/>
          <a:lstStyle/>
          <a:p>
            <a:pPr marL="0" indent="0" algn="ctr">
              <a:buNone/>
            </a:pPr>
            <a:r>
              <a:rPr lang="en-US" sz="6000" b="1" dirty="0">
                <a:solidFill>
                  <a:srgbClr val="FFB81C"/>
                </a:solidFill>
                <a:latin typeface="Calibri" pitchFamily="34" charset="0"/>
                <a:ea typeface="Calibri" pitchFamily="34" charset="-122"/>
                <a:cs typeface="Calibri" pitchFamily="34" charset="-120"/>
              </a:rPr>
              <a:t>G</a:t>
            </a:r>
            <a:endParaRPr lang="en-US" sz="6000" dirty="0"/>
          </a:p>
        </p:txBody>
      </p:sp>
      <p:sp>
        <p:nvSpPr>
          <p:cNvPr id="12" name="Text 8"/>
          <p:cNvSpPr/>
          <p:nvPr/>
        </p:nvSpPr>
        <p:spPr>
          <a:xfrm>
            <a:off x="548640" y="3977640"/>
            <a:ext cx="2601468"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Goal</a:t>
            </a:r>
            <a:endParaRPr lang="en-US" sz="2200" dirty="0"/>
          </a:p>
        </p:txBody>
      </p:sp>
      <p:sp>
        <p:nvSpPr>
          <p:cNvPr id="13" name="Shape 9"/>
          <p:cNvSpPr/>
          <p:nvPr/>
        </p:nvSpPr>
        <p:spPr>
          <a:xfrm>
            <a:off x="1620774" y="4526280"/>
            <a:ext cx="457200" cy="36576"/>
          </a:xfrm>
          <a:prstGeom prst="rect">
            <a:avLst/>
          </a:prstGeom>
          <a:solidFill>
            <a:srgbClr val="FFB81C"/>
          </a:solidFill>
          <a:ln w="12700">
            <a:solidFill>
              <a:srgbClr val="333333"/>
            </a:solidFill>
            <a:prstDash val="solid"/>
          </a:ln>
        </p:spPr>
        <p:txBody>
          <a:bodyPr/>
          <a:lstStyle/>
          <a:p>
            <a:endParaRPr lang="en-US"/>
          </a:p>
        </p:txBody>
      </p:sp>
      <p:sp>
        <p:nvSpPr>
          <p:cNvPr id="14" name="Text 10"/>
          <p:cNvSpPr/>
          <p:nvPr/>
        </p:nvSpPr>
        <p:spPr>
          <a:xfrm>
            <a:off x="777240" y="4709160"/>
            <a:ext cx="2144268" cy="1280160"/>
          </a:xfrm>
          <a:prstGeom prst="rect">
            <a:avLst/>
          </a:prstGeom>
          <a:noFill/>
          <a:ln/>
        </p:spPr>
        <p:txBody>
          <a:bodyPr wrap="square" lIns="0" tIns="0" rIns="0" bIns="0" rtlCol="0" anchor="ctr"/>
          <a:lstStyle/>
          <a:p>
            <a:pPr marL="0" indent="0" algn="ctr">
              <a:buNone/>
            </a:pPr>
            <a:r>
              <a:rPr lang="en-US" sz="1300" dirty="0">
                <a:solidFill>
                  <a:srgbClr val="EAF2FA"/>
                </a:solidFill>
                <a:latin typeface="Calibri" pitchFamily="34" charset="0"/>
                <a:ea typeface="Calibri" pitchFamily="34" charset="-122"/>
                <a:cs typeface="Calibri" pitchFamily="34" charset="-120"/>
              </a:rPr>
              <a:t>What do you want Copilot to do? Be specific about the task and the outcome you need.</a:t>
            </a:r>
            <a:endParaRPr lang="en-US" sz="1300" dirty="0"/>
          </a:p>
        </p:txBody>
      </p:sp>
      <p:sp>
        <p:nvSpPr>
          <p:cNvPr id="15" name="Shape 11"/>
          <p:cNvSpPr/>
          <p:nvPr/>
        </p:nvSpPr>
        <p:spPr>
          <a:xfrm>
            <a:off x="3378708" y="2194560"/>
            <a:ext cx="2601468" cy="3931920"/>
          </a:xfrm>
          <a:prstGeom prst="rect">
            <a:avLst/>
          </a:prstGeom>
          <a:solidFill>
            <a:srgbClr val="0A2A44"/>
          </a:solidFill>
          <a:ln w="6350">
            <a:solidFill>
              <a:srgbClr val="1E3A5C"/>
            </a:solidFill>
            <a:prstDash val="solid"/>
          </a:ln>
        </p:spPr>
        <p:txBody>
          <a:bodyPr/>
          <a:lstStyle/>
          <a:p>
            <a:endParaRPr lang="en-US"/>
          </a:p>
        </p:txBody>
      </p:sp>
      <p:sp>
        <p:nvSpPr>
          <p:cNvPr id="16" name="Shape 12"/>
          <p:cNvSpPr/>
          <p:nvPr/>
        </p:nvSpPr>
        <p:spPr>
          <a:xfrm>
            <a:off x="4039362" y="2560320"/>
            <a:ext cx="1280160" cy="1280160"/>
          </a:xfrm>
          <a:prstGeom prst="ellipse">
            <a:avLst/>
          </a:prstGeom>
          <a:solidFill>
            <a:srgbClr val="00111F"/>
          </a:solidFill>
          <a:ln w="25400">
            <a:solidFill>
              <a:srgbClr val="4FC3F7"/>
            </a:solidFill>
            <a:prstDash val="solid"/>
          </a:ln>
        </p:spPr>
        <p:txBody>
          <a:bodyPr/>
          <a:lstStyle/>
          <a:p>
            <a:endParaRPr lang="en-US"/>
          </a:p>
        </p:txBody>
      </p:sp>
      <p:sp>
        <p:nvSpPr>
          <p:cNvPr id="17" name="Text 13"/>
          <p:cNvSpPr/>
          <p:nvPr/>
        </p:nvSpPr>
        <p:spPr>
          <a:xfrm>
            <a:off x="4039362" y="2560320"/>
            <a:ext cx="1280160" cy="1280160"/>
          </a:xfrm>
          <a:prstGeom prst="rect">
            <a:avLst/>
          </a:prstGeom>
          <a:noFill/>
          <a:ln/>
        </p:spPr>
        <p:txBody>
          <a:bodyPr wrap="square" lIns="0" tIns="0" rIns="0" bIns="0" rtlCol="0" anchor="ctr"/>
          <a:lstStyle/>
          <a:p>
            <a:pPr marL="0" indent="0" algn="ctr">
              <a:buNone/>
            </a:pPr>
            <a:r>
              <a:rPr lang="en-US" sz="6000" b="1" dirty="0">
                <a:solidFill>
                  <a:srgbClr val="4FC3F7"/>
                </a:solidFill>
                <a:latin typeface="Calibri" pitchFamily="34" charset="0"/>
                <a:ea typeface="Calibri" pitchFamily="34" charset="-122"/>
                <a:cs typeface="Calibri" pitchFamily="34" charset="-120"/>
              </a:rPr>
              <a:t>C</a:t>
            </a:r>
            <a:endParaRPr lang="en-US" sz="6000" dirty="0"/>
          </a:p>
        </p:txBody>
      </p:sp>
      <p:sp>
        <p:nvSpPr>
          <p:cNvPr id="18" name="Text 14"/>
          <p:cNvSpPr/>
          <p:nvPr/>
        </p:nvSpPr>
        <p:spPr>
          <a:xfrm>
            <a:off x="3378708" y="3977640"/>
            <a:ext cx="2601468"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Context</a:t>
            </a:r>
            <a:endParaRPr lang="en-US" sz="2200" dirty="0"/>
          </a:p>
        </p:txBody>
      </p:sp>
      <p:sp>
        <p:nvSpPr>
          <p:cNvPr id="19" name="Shape 15"/>
          <p:cNvSpPr/>
          <p:nvPr/>
        </p:nvSpPr>
        <p:spPr>
          <a:xfrm>
            <a:off x="4450842" y="4526280"/>
            <a:ext cx="457200" cy="36576"/>
          </a:xfrm>
          <a:prstGeom prst="rect">
            <a:avLst/>
          </a:prstGeom>
          <a:solidFill>
            <a:srgbClr val="4FC3F7"/>
          </a:solidFill>
          <a:ln w="12700">
            <a:solidFill>
              <a:srgbClr val="333333"/>
            </a:solidFill>
            <a:prstDash val="solid"/>
          </a:ln>
        </p:spPr>
        <p:txBody>
          <a:bodyPr/>
          <a:lstStyle/>
          <a:p>
            <a:endParaRPr lang="en-US"/>
          </a:p>
        </p:txBody>
      </p:sp>
      <p:sp>
        <p:nvSpPr>
          <p:cNvPr id="20" name="Text 16"/>
          <p:cNvSpPr/>
          <p:nvPr/>
        </p:nvSpPr>
        <p:spPr>
          <a:xfrm>
            <a:off x="3607308" y="4709160"/>
            <a:ext cx="2144268" cy="1280160"/>
          </a:xfrm>
          <a:prstGeom prst="rect">
            <a:avLst/>
          </a:prstGeom>
          <a:noFill/>
          <a:ln/>
        </p:spPr>
        <p:txBody>
          <a:bodyPr wrap="square" lIns="0" tIns="0" rIns="0" bIns="0" rtlCol="0" anchor="ctr"/>
          <a:lstStyle/>
          <a:p>
            <a:pPr marL="0" indent="0" algn="ctr">
              <a:buNone/>
            </a:pPr>
            <a:r>
              <a:rPr lang="en-US" sz="1300" dirty="0">
                <a:solidFill>
                  <a:srgbClr val="EAF2FA"/>
                </a:solidFill>
                <a:latin typeface="Calibri" pitchFamily="34" charset="0"/>
                <a:ea typeface="Calibri" pitchFamily="34" charset="-122"/>
                <a:cs typeface="Calibri" pitchFamily="34" charset="-120"/>
              </a:rPr>
              <a:t>What's the background? Add details about the matter, the resident, the project, the audience.</a:t>
            </a:r>
            <a:endParaRPr lang="en-US" sz="1300" dirty="0"/>
          </a:p>
        </p:txBody>
      </p:sp>
      <p:sp>
        <p:nvSpPr>
          <p:cNvPr id="21" name="Shape 17"/>
          <p:cNvSpPr/>
          <p:nvPr/>
        </p:nvSpPr>
        <p:spPr>
          <a:xfrm>
            <a:off x="6208776" y="2194560"/>
            <a:ext cx="2601468" cy="3931920"/>
          </a:xfrm>
          <a:prstGeom prst="rect">
            <a:avLst/>
          </a:prstGeom>
          <a:solidFill>
            <a:srgbClr val="0A2A44"/>
          </a:solidFill>
          <a:ln w="6350">
            <a:solidFill>
              <a:srgbClr val="1E3A5C"/>
            </a:solidFill>
            <a:prstDash val="solid"/>
          </a:ln>
        </p:spPr>
        <p:txBody>
          <a:bodyPr/>
          <a:lstStyle/>
          <a:p>
            <a:endParaRPr lang="en-US"/>
          </a:p>
        </p:txBody>
      </p:sp>
      <p:sp>
        <p:nvSpPr>
          <p:cNvPr id="22" name="Shape 18"/>
          <p:cNvSpPr/>
          <p:nvPr/>
        </p:nvSpPr>
        <p:spPr>
          <a:xfrm>
            <a:off x="6869430" y="2560320"/>
            <a:ext cx="1280160" cy="1280160"/>
          </a:xfrm>
          <a:prstGeom prst="ellipse">
            <a:avLst/>
          </a:prstGeom>
          <a:solidFill>
            <a:srgbClr val="00111F"/>
          </a:solidFill>
          <a:ln w="25400">
            <a:solidFill>
              <a:srgbClr val="FFB81C"/>
            </a:solidFill>
            <a:prstDash val="solid"/>
          </a:ln>
        </p:spPr>
        <p:txBody>
          <a:bodyPr/>
          <a:lstStyle/>
          <a:p>
            <a:endParaRPr lang="en-US"/>
          </a:p>
        </p:txBody>
      </p:sp>
      <p:sp>
        <p:nvSpPr>
          <p:cNvPr id="23" name="Text 19"/>
          <p:cNvSpPr/>
          <p:nvPr/>
        </p:nvSpPr>
        <p:spPr>
          <a:xfrm>
            <a:off x="6869430" y="2560320"/>
            <a:ext cx="1280160" cy="1280160"/>
          </a:xfrm>
          <a:prstGeom prst="rect">
            <a:avLst/>
          </a:prstGeom>
          <a:noFill/>
          <a:ln/>
        </p:spPr>
        <p:txBody>
          <a:bodyPr wrap="square" lIns="0" tIns="0" rIns="0" bIns="0" rtlCol="0" anchor="ctr"/>
          <a:lstStyle/>
          <a:p>
            <a:pPr marL="0" indent="0" algn="ctr">
              <a:buNone/>
            </a:pPr>
            <a:r>
              <a:rPr lang="en-US" sz="6000" b="1" dirty="0">
                <a:solidFill>
                  <a:srgbClr val="FFB81C"/>
                </a:solidFill>
                <a:latin typeface="Calibri" pitchFamily="34" charset="0"/>
                <a:ea typeface="Calibri" pitchFamily="34" charset="-122"/>
                <a:cs typeface="Calibri" pitchFamily="34" charset="-120"/>
              </a:rPr>
              <a:t>S</a:t>
            </a:r>
            <a:endParaRPr lang="en-US" sz="6000" dirty="0"/>
          </a:p>
        </p:txBody>
      </p:sp>
      <p:sp>
        <p:nvSpPr>
          <p:cNvPr id="24" name="Text 20"/>
          <p:cNvSpPr/>
          <p:nvPr/>
        </p:nvSpPr>
        <p:spPr>
          <a:xfrm>
            <a:off x="6208776" y="3977640"/>
            <a:ext cx="2601468"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Source</a:t>
            </a:r>
            <a:endParaRPr lang="en-US" sz="2200" dirty="0"/>
          </a:p>
        </p:txBody>
      </p:sp>
      <p:sp>
        <p:nvSpPr>
          <p:cNvPr id="25" name="Shape 21"/>
          <p:cNvSpPr/>
          <p:nvPr/>
        </p:nvSpPr>
        <p:spPr>
          <a:xfrm>
            <a:off x="7280910" y="4526280"/>
            <a:ext cx="457200" cy="36576"/>
          </a:xfrm>
          <a:prstGeom prst="rect">
            <a:avLst/>
          </a:prstGeom>
          <a:solidFill>
            <a:srgbClr val="FFB81C"/>
          </a:solidFill>
          <a:ln w="12700">
            <a:solidFill>
              <a:srgbClr val="333333"/>
            </a:solidFill>
            <a:prstDash val="solid"/>
          </a:ln>
        </p:spPr>
        <p:txBody>
          <a:bodyPr/>
          <a:lstStyle/>
          <a:p>
            <a:endParaRPr lang="en-US"/>
          </a:p>
        </p:txBody>
      </p:sp>
      <p:sp>
        <p:nvSpPr>
          <p:cNvPr id="26" name="Text 22"/>
          <p:cNvSpPr/>
          <p:nvPr/>
        </p:nvSpPr>
        <p:spPr>
          <a:xfrm>
            <a:off x="6437376" y="4709160"/>
            <a:ext cx="2144268" cy="1280160"/>
          </a:xfrm>
          <a:prstGeom prst="rect">
            <a:avLst/>
          </a:prstGeom>
          <a:noFill/>
          <a:ln/>
        </p:spPr>
        <p:txBody>
          <a:bodyPr wrap="square" lIns="0" tIns="0" rIns="0" bIns="0" rtlCol="0" anchor="ctr"/>
          <a:lstStyle/>
          <a:p>
            <a:pPr marL="0" indent="0" algn="ctr">
              <a:buNone/>
            </a:pPr>
            <a:r>
              <a:rPr lang="en-US" sz="1300" dirty="0">
                <a:solidFill>
                  <a:srgbClr val="EAF2FA"/>
                </a:solidFill>
                <a:latin typeface="Calibri" pitchFamily="34" charset="0"/>
                <a:ea typeface="Calibri" pitchFamily="34" charset="-122"/>
                <a:cs typeface="Calibri" pitchFamily="34" charset="-120"/>
              </a:rPr>
              <a:t>What should Copilot reference? Point to specific documents, datasets, policies or pages.</a:t>
            </a:r>
            <a:endParaRPr lang="en-US" sz="1300" dirty="0"/>
          </a:p>
        </p:txBody>
      </p:sp>
      <p:sp>
        <p:nvSpPr>
          <p:cNvPr id="27" name="Shape 23"/>
          <p:cNvSpPr/>
          <p:nvPr/>
        </p:nvSpPr>
        <p:spPr>
          <a:xfrm>
            <a:off x="9038844" y="2194560"/>
            <a:ext cx="2601468" cy="3931920"/>
          </a:xfrm>
          <a:prstGeom prst="rect">
            <a:avLst/>
          </a:prstGeom>
          <a:solidFill>
            <a:srgbClr val="0A2A44"/>
          </a:solidFill>
          <a:ln w="6350">
            <a:solidFill>
              <a:srgbClr val="1E3A5C"/>
            </a:solidFill>
            <a:prstDash val="solid"/>
          </a:ln>
        </p:spPr>
        <p:txBody>
          <a:bodyPr/>
          <a:lstStyle/>
          <a:p>
            <a:endParaRPr lang="en-US"/>
          </a:p>
        </p:txBody>
      </p:sp>
      <p:sp>
        <p:nvSpPr>
          <p:cNvPr id="28" name="Shape 24"/>
          <p:cNvSpPr/>
          <p:nvPr/>
        </p:nvSpPr>
        <p:spPr>
          <a:xfrm>
            <a:off x="9699498" y="2560320"/>
            <a:ext cx="1280160" cy="1280160"/>
          </a:xfrm>
          <a:prstGeom prst="ellipse">
            <a:avLst/>
          </a:prstGeom>
          <a:solidFill>
            <a:srgbClr val="00111F"/>
          </a:solidFill>
          <a:ln w="25400">
            <a:solidFill>
              <a:srgbClr val="4FC3F7"/>
            </a:solidFill>
            <a:prstDash val="solid"/>
          </a:ln>
        </p:spPr>
        <p:txBody>
          <a:bodyPr/>
          <a:lstStyle/>
          <a:p>
            <a:endParaRPr lang="en-US"/>
          </a:p>
        </p:txBody>
      </p:sp>
      <p:sp>
        <p:nvSpPr>
          <p:cNvPr id="29" name="Text 25"/>
          <p:cNvSpPr/>
          <p:nvPr/>
        </p:nvSpPr>
        <p:spPr>
          <a:xfrm>
            <a:off x="9699498" y="2560320"/>
            <a:ext cx="1280160" cy="1280160"/>
          </a:xfrm>
          <a:prstGeom prst="rect">
            <a:avLst/>
          </a:prstGeom>
          <a:noFill/>
          <a:ln/>
        </p:spPr>
        <p:txBody>
          <a:bodyPr wrap="square" lIns="0" tIns="0" rIns="0" bIns="0" rtlCol="0" anchor="ctr"/>
          <a:lstStyle/>
          <a:p>
            <a:pPr marL="0" indent="0" algn="ctr">
              <a:buNone/>
            </a:pPr>
            <a:r>
              <a:rPr lang="en-US" sz="6000" b="1" dirty="0">
                <a:solidFill>
                  <a:srgbClr val="4FC3F7"/>
                </a:solidFill>
                <a:latin typeface="Calibri" pitchFamily="34" charset="0"/>
                <a:ea typeface="Calibri" pitchFamily="34" charset="-122"/>
                <a:cs typeface="Calibri" pitchFamily="34" charset="-120"/>
              </a:rPr>
              <a:t>E</a:t>
            </a:r>
            <a:endParaRPr lang="en-US" sz="6000" dirty="0"/>
          </a:p>
        </p:txBody>
      </p:sp>
      <p:sp>
        <p:nvSpPr>
          <p:cNvPr id="30" name="Text 26"/>
          <p:cNvSpPr/>
          <p:nvPr/>
        </p:nvSpPr>
        <p:spPr>
          <a:xfrm>
            <a:off x="9038844" y="3977640"/>
            <a:ext cx="2601468"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Expectation</a:t>
            </a:r>
            <a:endParaRPr lang="en-US" sz="2200" dirty="0"/>
          </a:p>
        </p:txBody>
      </p:sp>
      <p:sp>
        <p:nvSpPr>
          <p:cNvPr id="31" name="Shape 27"/>
          <p:cNvSpPr/>
          <p:nvPr/>
        </p:nvSpPr>
        <p:spPr>
          <a:xfrm>
            <a:off x="10110978" y="4526280"/>
            <a:ext cx="457200" cy="36576"/>
          </a:xfrm>
          <a:prstGeom prst="rect">
            <a:avLst/>
          </a:prstGeom>
          <a:solidFill>
            <a:srgbClr val="4FC3F7"/>
          </a:solidFill>
          <a:ln w="12700">
            <a:solidFill>
              <a:srgbClr val="333333"/>
            </a:solidFill>
            <a:prstDash val="solid"/>
          </a:ln>
        </p:spPr>
        <p:txBody>
          <a:bodyPr/>
          <a:lstStyle/>
          <a:p>
            <a:endParaRPr lang="en-US"/>
          </a:p>
        </p:txBody>
      </p:sp>
      <p:sp>
        <p:nvSpPr>
          <p:cNvPr id="32" name="Text 28"/>
          <p:cNvSpPr/>
          <p:nvPr/>
        </p:nvSpPr>
        <p:spPr>
          <a:xfrm>
            <a:off x="9267444" y="4709160"/>
            <a:ext cx="2144268" cy="1280160"/>
          </a:xfrm>
          <a:prstGeom prst="rect">
            <a:avLst/>
          </a:prstGeom>
          <a:noFill/>
          <a:ln/>
        </p:spPr>
        <p:txBody>
          <a:bodyPr wrap="square" lIns="0" tIns="0" rIns="0" bIns="0" rtlCol="0" anchor="ctr"/>
          <a:lstStyle/>
          <a:p>
            <a:pPr marL="0" indent="0" algn="ctr">
              <a:buNone/>
            </a:pPr>
            <a:r>
              <a:rPr lang="en-US" sz="1300" dirty="0">
                <a:solidFill>
                  <a:srgbClr val="EAF2FA"/>
                </a:solidFill>
                <a:latin typeface="Calibri" pitchFamily="34" charset="0"/>
                <a:ea typeface="Calibri" pitchFamily="34" charset="-122"/>
                <a:cs typeface="Calibri" pitchFamily="34" charset="-120"/>
              </a:rPr>
              <a:t>What format, tone and length? Define what good output looks like for you.</a:t>
            </a:r>
            <a:endParaRPr lang="en-US" sz="1300" dirty="0"/>
          </a:p>
        </p:txBody>
      </p:sp>
      <p:sp>
        <p:nvSpPr>
          <p:cNvPr id="33" name="Text 29"/>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5 / 40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10085832" y="0"/>
            <a:ext cx="2103120" cy="914400"/>
          </a:xfrm>
          <a:prstGeom prst="rect">
            <a:avLst/>
          </a:prstGeom>
          <a:solidFill>
            <a:srgbClr val="001F33"/>
          </a:solidFill>
          <a:ln w="12700">
            <a:solidFill>
              <a:srgbClr val="333333"/>
            </a:solidFill>
            <a:prstDash val="solid"/>
          </a:ln>
        </p:spPr>
        <p:txBody>
          <a:bodyPr/>
          <a:lstStyle/>
          <a:p>
            <a:endParaRPr lang="en-US"/>
          </a:p>
        </p:txBody>
      </p:sp>
      <p:pic>
        <p:nvPicPr>
          <p:cNvPr id="3" name="Image 0" descr="/mnt/workspace/working/akkodis-barhead-logo-white.png"/>
          <p:cNvPicPr>
            <a:picLocks noChangeAspect="1"/>
          </p:cNvPicPr>
          <p:nvPr/>
        </p:nvPicPr>
        <p:blipFill>
          <a:blip r:embed="rId3"/>
          <a:stretch>
            <a:fillRect/>
          </a:stretch>
        </p:blipFill>
        <p:spPr>
          <a:xfrm>
            <a:off x="10268712" y="256032"/>
            <a:ext cx="1554480" cy="249491"/>
          </a:xfrm>
          <a:prstGeom prst="rect">
            <a:avLst/>
          </a:prstGeom>
        </p:spPr>
      </p:pic>
      <p:sp>
        <p:nvSpPr>
          <p:cNvPr id="4" name="Text 1"/>
          <p:cNvSpPr/>
          <p:nvPr/>
        </p:nvSpPr>
        <p:spPr>
          <a:xfrm>
            <a:off x="548640" y="457200"/>
            <a:ext cx="10058400" cy="640080"/>
          </a:xfrm>
          <a:prstGeom prst="rect">
            <a:avLst/>
          </a:prstGeom>
          <a:noFill/>
          <a:ln/>
        </p:spPr>
        <p:txBody>
          <a:bodyPr wrap="square" lIns="0" tIns="0" rIns="0" bIns="0" rtlCol="0" anchor="ctr"/>
          <a:lstStyle/>
          <a:p>
            <a:pPr marL="0" indent="0">
              <a:buNone/>
            </a:pPr>
            <a:r>
              <a:rPr lang="en-US" sz="3200" b="1" dirty="0">
                <a:solidFill>
                  <a:srgbClr val="0B1F33"/>
                </a:solidFill>
                <a:latin typeface="Calibri" pitchFamily="34" charset="0"/>
                <a:ea typeface="Calibri" pitchFamily="34" charset="-122"/>
                <a:cs typeface="Calibri" pitchFamily="34" charset="-120"/>
              </a:rPr>
              <a:t>GCSE in action — worked example</a:t>
            </a:r>
            <a:endParaRPr lang="en-US" sz="3200" dirty="0"/>
          </a:p>
        </p:txBody>
      </p:sp>
      <p:sp>
        <p:nvSpPr>
          <p:cNvPr id="5" name="Shape 2"/>
          <p:cNvSpPr/>
          <p:nvPr/>
        </p:nvSpPr>
        <p:spPr>
          <a:xfrm>
            <a:off x="548640" y="1143000"/>
            <a:ext cx="1280160" cy="73152"/>
          </a:xfrm>
          <a:prstGeom prst="rect">
            <a:avLst/>
          </a:prstGeom>
          <a:solidFill>
            <a:srgbClr val="FFB81C"/>
          </a:solidFill>
          <a:ln w="12700">
            <a:solidFill>
              <a:srgbClr val="FFB81C"/>
            </a:solidFill>
            <a:prstDash val="solid"/>
          </a:ln>
        </p:spPr>
        <p:txBody>
          <a:bodyPr/>
          <a:lstStyle/>
          <a:p>
            <a:endParaRPr lang="en-US"/>
          </a:p>
        </p:txBody>
      </p:sp>
      <p:sp>
        <p:nvSpPr>
          <p:cNvPr id="6" name="Shape 3"/>
          <p:cNvSpPr/>
          <p:nvPr/>
        </p:nvSpPr>
        <p:spPr>
          <a:xfrm>
            <a:off x="1920240" y="1143000"/>
            <a:ext cx="640080" cy="73152"/>
          </a:xfrm>
          <a:prstGeom prst="rect">
            <a:avLst/>
          </a:prstGeom>
          <a:solidFill>
            <a:srgbClr val="4FC3F7"/>
          </a:solidFill>
          <a:ln w="12700">
            <a:solidFill>
              <a:srgbClr val="4FC3F7"/>
            </a:solidFill>
            <a:prstDash val="solid"/>
          </a:ln>
        </p:spPr>
        <p:txBody>
          <a:bodyPr/>
          <a:lstStyle/>
          <a:p>
            <a:endParaRPr lang="en-US"/>
          </a:p>
        </p:txBody>
      </p:sp>
      <p:sp>
        <p:nvSpPr>
          <p:cNvPr id="7" name="Text 4"/>
          <p:cNvSpPr/>
          <p:nvPr/>
        </p:nvSpPr>
        <p:spPr>
          <a:xfrm>
            <a:off x="548640" y="1417320"/>
            <a:ext cx="10972800" cy="457200"/>
          </a:xfrm>
          <a:prstGeom prst="rect">
            <a:avLst/>
          </a:prstGeom>
          <a:noFill/>
          <a:ln/>
        </p:spPr>
        <p:txBody>
          <a:bodyPr wrap="square" lIns="0" tIns="0" rIns="0" bIns="0" rtlCol="0" anchor="ctr"/>
          <a:lstStyle/>
          <a:p>
            <a:pPr marL="0" indent="0">
              <a:buNone/>
            </a:pPr>
            <a:r>
              <a:rPr lang="en-US" sz="1400" i="1" dirty="0">
                <a:solidFill>
                  <a:srgbClr val="3D5573"/>
                </a:solidFill>
                <a:latin typeface="Calibri" pitchFamily="34" charset="0"/>
                <a:ea typeface="Calibri" pitchFamily="34" charset="-122"/>
                <a:cs typeface="Calibri" pitchFamily="34" charset="-120"/>
              </a:rPr>
              <a:t>A council scenario: responding to a resident's objection on a development application</a:t>
            </a:r>
            <a:endParaRPr lang="en-US" sz="1400" dirty="0"/>
          </a:p>
        </p:txBody>
      </p:sp>
      <p:sp>
        <p:nvSpPr>
          <p:cNvPr id="8" name="Shape 5"/>
          <p:cNvSpPr/>
          <p:nvPr/>
        </p:nvSpPr>
        <p:spPr>
          <a:xfrm>
            <a:off x="548640" y="1920240"/>
            <a:ext cx="11064240" cy="914400"/>
          </a:xfrm>
          <a:prstGeom prst="rect">
            <a:avLst/>
          </a:prstGeom>
          <a:solidFill>
            <a:srgbClr val="FFFFFF"/>
          </a:solidFill>
          <a:ln w="6350">
            <a:solidFill>
              <a:srgbClr val="D7DEE8"/>
            </a:solidFill>
            <a:prstDash val="solid"/>
          </a:ln>
        </p:spPr>
        <p:txBody>
          <a:bodyPr/>
          <a:lstStyle/>
          <a:p>
            <a:endParaRPr lang="en-US"/>
          </a:p>
        </p:txBody>
      </p:sp>
      <p:sp>
        <p:nvSpPr>
          <p:cNvPr id="9" name="Shape 6"/>
          <p:cNvSpPr/>
          <p:nvPr/>
        </p:nvSpPr>
        <p:spPr>
          <a:xfrm>
            <a:off x="548640" y="1920240"/>
            <a:ext cx="868680" cy="914400"/>
          </a:xfrm>
          <a:prstGeom prst="rect">
            <a:avLst/>
          </a:prstGeom>
          <a:solidFill>
            <a:srgbClr val="001F33"/>
          </a:solidFill>
          <a:ln w="12700">
            <a:solidFill>
              <a:srgbClr val="333333"/>
            </a:solidFill>
            <a:prstDash val="solid"/>
          </a:ln>
        </p:spPr>
        <p:txBody>
          <a:bodyPr/>
          <a:lstStyle/>
          <a:p>
            <a:endParaRPr lang="en-US"/>
          </a:p>
        </p:txBody>
      </p:sp>
      <p:sp>
        <p:nvSpPr>
          <p:cNvPr id="10" name="Text 7"/>
          <p:cNvSpPr/>
          <p:nvPr/>
        </p:nvSpPr>
        <p:spPr>
          <a:xfrm>
            <a:off x="548640" y="1920240"/>
            <a:ext cx="868680" cy="914400"/>
          </a:xfrm>
          <a:prstGeom prst="rect">
            <a:avLst/>
          </a:prstGeom>
          <a:noFill/>
          <a:ln/>
        </p:spPr>
        <p:txBody>
          <a:bodyPr wrap="square" lIns="0" tIns="0" rIns="0" bIns="0" rtlCol="0" anchor="ctr"/>
          <a:lstStyle/>
          <a:p>
            <a:pPr marL="0" indent="0" algn="ctr">
              <a:buNone/>
            </a:pPr>
            <a:r>
              <a:rPr lang="en-US" sz="3600" b="1" dirty="0">
                <a:solidFill>
                  <a:srgbClr val="FFB81C"/>
                </a:solidFill>
                <a:latin typeface="Calibri" pitchFamily="34" charset="0"/>
                <a:ea typeface="Calibri" pitchFamily="34" charset="-122"/>
                <a:cs typeface="Calibri" pitchFamily="34" charset="-120"/>
              </a:rPr>
              <a:t>G</a:t>
            </a:r>
            <a:endParaRPr lang="en-US" sz="3600" dirty="0"/>
          </a:p>
        </p:txBody>
      </p:sp>
      <p:sp>
        <p:nvSpPr>
          <p:cNvPr id="11" name="Text 8"/>
          <p:cNvSpPr/>
          <p:nvPr/>
        </p:nvSpPr>
        <p:spPr>
          <a:xfrm>
            <a:off x="1600200" y="2057400"/>
            <a:ext cx="1554480" cy="365760"/>
          </a:xfrm>
          <a:prstGeom prst="rect">
            <a:avLst/>
          </a:prstGeom>
          <a:noFill/>
          <a:ln/>
        </p:spPr>
        <p:txBody>
          <a:bodyPr wrap="square" lIns="0" tIns="0" rIns="0" bIns="0" rtlCol="0" anchor="ctr"/>
          <a:lstStyle/>
          <a:p>
            <a:pPr marL="0" indent="0">
              <a:buNone/>
            </a:pPr>
            <a:r>
              <a:rPr lang="en-US" sz="1600" b="1" dirty="0">
                <a:solidFill>
                  <a:srgbClr val="0B1F33"/>
                </a:solidFill>
                <a:latin typeface="Calibri" pitchFamily="34" charset="0"/>
                <a:ea typeface="Calibri" pitchFamily="34" charset="-122"/>
                <a:cs typeface="Calibri" pitchFamily="34" charset="-120"/>
              </a:rPr>
              <a:t>Goal</a:t>
            </a:r>
            <a:endParaRPr lang="en-US" sz="1600" dirty="0"/>
          </a:p>
        </p:txBody>
      </p:sp>
      <p:sp>
        <p:nvSpPr>
          <p:cNvPr id="12" name="Text 9"/>
          <p:cNvSpPr/>
          <p:nvPr/>
        </p:nvSpPr>
        <p:spPr>
          <a:xfrm>
            <a:off x="3200400" y="2057400"/>
            <a:ext cx="8229600" cy="731520"/>
          </a:xfrm>
          <a:prstGeom prst="rect">
            <a:avLst/>
          </a:prstGeom>
          <a:noFill/>
          <a:ln/>
        </p:spPr>
        <p:txBody>
          <a:bodyPr wrap="square" lIns="0" tIns="0" rIns="0" bIns="0" rtlCol="0" anchor="ctr"/>
          <a:lstStyle/>
          <a:p>
            <a:pPr marL="0" indent="0">
              <a:buNone/>
            </a:pPr>
            <a:r>
              <a:rPr lang="en-US" sz="1200" dirty="0">
                <a:solidFill>
                  <a:srgbClr val="3D5573"/>
                </a:solidFill>
                <a:latin typeface="Calibri" pitchFamily="34" charset="0"/>
                <a:ea typeface="Calibri" pitchFamily="34" charset="-122"/>
                <a:cs typeface="Calibri" pitchFamily="34" charset="-120"/>
              </a:rPr>
              <a:t>Draft a formal response to a resident's objection letter on DA-2026-0142, addressing each concern raised so the planner can review and send.</a:t>
            </a:r>
            <a:endParaRPr lang="en-US" sz="1200" dirty="0"/>
          </a:p>
        </p:txBody>
      </p:sp>
      <p:sp>
        <p:nvSpPr>
          <p:cNvPr id="13" name="Shape 10"/>
          <p:cNvSpPr/>
          <p:nvPr/>
        </p:nvSpPr>
        <p:spPr>
          <a:xfrm>
            <a:off x="548640" y="2926080"/>
            <a:ext cx="11064240" cy="914400"/>
          </a:xfrm>
          <a:prstGeom prst="rect">
            <a:avLst/>
          </a:prstGeom>
          <a:solidFill>
            <a:srgbClr val="FFFFFF"/>
          </a:solidFill>
          <a:ln w="6350">
            <a:solidFill>
              <a:srgbClr val="D7DEE8"/>
            </a:solidFill>
            <a:prstDash val="solid"/>
          </a:ln>
        </p:spPr>
        <p:txBody>
          <a:bodyPr/>
          <a:lstStyle/>
          <a:p>
            <a:endParaRPr lang="en-US"/>
          </a:p>
        </p:txBody>
      </p:sp>
      <p:sp>
        <p:nvSpPr>
          <p:cNvPr id="14" name="Shape 11"/>
          <p:cNvSpPr/>
          <p:nvPr/>
        </p:nvSpPr>
        <p:spPr>
          <a:xfrm>
            <a:off x="548640" y="2926080"/>
            <a:ext cx="868680" cy="914400"/>
          </a:xfrm>
          <a:prstGeom prst="rect">
            <a:avLst/>
          </a:prstGeom>
          <a:solidFill>
            <a:srgbClr val="001F33"/>
          </a:solidFill>
          <a:ln w="12700">
            <a:solidFill>
              <a:srgbClr val="333333"/>
            </a:solidFill>
            <a:prstDash val="solid"/>
          </a:ln>
        </p:spPr>
        <p:txBody>
          <a:bodyPr/>
          <a:lstStyle/>
          <a:p>
            <a:endParaRPr lang="en-US"/>
          </a:p>
        </p:txBody>
      </p:sp>
      <p:sp>
        <p:nvSpPr>
          <p:cNvPr id="15" name="Text 12"/>
          <p:cNvSpPr/>
          <p:nvPr/>
        </p:nvSpPr>
        <p:spPr>
          <a:xfrm>
            <a:off x="548640" y="2926080"/>
            <a:ext cx="868680" cy="914400"/>
          </a:xfrm>
          <a:prstGeom prst="rect">
            <a:avLst/>
          </a:prstGeom>
          <a:noFill/>
          <a:ln/>
        </p:spPr>
        <p:txBody>
          <a:bodyPr wrap="square" lIns="0" tIns="0" rIns="0" bIns="0" rtlCol="0" anchor="ctr"/>
          <a:lstStyle/>
          <a:p>
            <a:pPr marL="0" indent="0" algn="ctr">
              <a:buNone/>
            </a:pPr>
            <a:r>
              <a:rPr lang="en-US" sz="3600" b="1" dirty="0">
                <a:solidFill>
                  <a:srgbClr val="FFB81C"/>
                </a:solidFill>
                <a:latin typeface="Calibri" pitchFamily="34" charset="0"/>
                <a:ea typeface="Calibri" pitchFamily="34" charset="-122"/>
                <a:cs typeface="Calibri" pitchFamily="34" charset="-120"/>
              </a:rPr>
              <a:t>C</a:t>
            </a:r>
            <a:endParaRPr lang="en-US" sz="3600" dirty="0"/>
          </a:p>
        </p:txBody>
      </p:sp>
      <p:sp>
        <p:nvSpPr>
          <p:cNvPr id="16" name="Text 13"/>
          <p:cNvSpPr/>
          <p:nvPr/>
        </p:nvSpPr>
        <p:spPr>
          <a:xfrm>
            <a:off x="1600200" y="3063240"/>
            <a:ext cx="1554480" cy="365760"/>
          </a:xfrm>
          <a:prstGeom prst="rect">
            <a:avLst/>
          </a:prstGeom>
          <a:noFill/>
          <a:ln/>
        </p:spPr>
        <p:txBody>
          <a:bodyPr wrap="square" lIns="0" tIns="0" rIns="0" bIns="0" rtlCol="0" anchor="ctr"/>
          <a:lstStyle/>
          <a:p>
            <a:pPr marL="0" indent="0">
              <a:buNone/>
            </a:pPr>
            <a:r>
              <a:rPr lang="en-US" sz="1600" b="1" dirty="0">
                <a:solidFill>
                  <a:srgbClr val="0B1F33"/>
                </a:solidFill>
                <a:latin typeface="Calibri" pitchFamily="34" charset="0"/>
                <a:ea typeface="Calibri" pitchFamily="34" charset="-122"/>
                <a:cs typeface="Calibri" pitchFamily="34" charset="-120"/>
              </a:rPr>
              <a:t>Context</a:t>
            </a:r>
            <a:endParaRPr lang="en-US" sz="1600" dirty="0"/>
          </a:p>
        </p:txBody>
      </p:sp>
      <p:sp>
        <p:nvSpPr>
          <p:cNvPr id="17" name="Text 14"/>
          <p:cNvSpPr/>
          <p:nvPr/>
        </p:nvSpPr>
        <p:spPr>
          <a:xfrm>
            <a:off x="3200400" y="3063240"/>
            <a:ext cx="8229600" cy="731520"/>
          </a:xfrm>
          <a:prstGeom prst="rect">
            <a:avLst/>
          </a:prstGeom>
          <a:noFill/>
          <a:ln/>
        </p:spPr>
        <p:txBody>
          <a:bodyPr wrap="square" lIns="0" tIns="0" rIns="0" bIns="0" rtlCol="0" anchor="ctr"/>
          <a:lstStyle/>
          <a:p>
            <a:pPr marL="0" indent="0">
              <a:buNone/>
            </a:pPr>
            <a:r>
              <a:rPr lang="en-US" sz="1200" dirty="0">
                <a:solidFill>
                  <a:srgbClr val="3D5573"/>
                </a:solidFill>
                <a:latin typeface="Calibri" pitchFamily="34" charset="0"/>
                <a:ea typeface="Calibri" pitchFamily="34" charset="-122"/>
                <a:cs typeface="Calibri" pitchFamily="34" charset="-120"/>
              </a:rPr>
              <a:t>The objection cites overshadowing, traffic and parking. The DA is for four townhouses at 25 Willowbank Road in a GRZ1 zone. The objector lives at #27 and has lodged similar objections on three other DAs in the street. The Planning Panel hearing is on 22 May.</a:t>
            </a:r>
            <a:endParaRPr lang="en-US" sz="1200" dirty="0"/>
          </a:p>
        </p:txBody>
      </p:sp>
      <p:sp>
        <p:nvSpPr>
          <p:cNvPr id="18" name="Shape 15"/>
          <p:cNvSpPr/>
          <p:nvPr/>
        </p:nvSpPr>
        <p:spPr>
          <a:xfrm>
            <a:off x="548640" y="3931920"/>
            <a:ext cx="11064240" cy="914400"/>
          </a:xfrm>
          <a:prstGeom prst="rect">
            <a:avLst/>
          </a:prstGeom>
          <a:solidFill>
            <a:srgbClr val="FFFFFF"/>
          </a:solidFill>
          <a:ln w="6350">
            <a:solidFill>
              <a:srgbClr val="D7DEE8"/>
            </a:solidFill>
            <a:prstDash val="solid"/>
          </a:ln>
        </p:spPr>
        <p:txBody>
          <a:bodyPr/>
          <a:lstStyle/>
          <a:p>
            <a:endParaRPr lang="en-US"/>
          </a:p>
        </p:txBody>
      </p:sp>
      <p:sp>
        <p:nvSpPr>
          <p:cNvPr id="19" name="Shape 16"/>
          <p:cNvSpPr/>
          <p:nvPr/>
        </p:nvSpPr>
        <p:spPr>
          <a:xfrm>
            <a:off x="548640" y="3931920"/>
            <a:ext cx="868680" cy="914400"/>
          </a:xfrm>
          <a:prstGeom prst="rect">
            <a:avLst/>
          </a:prstGeom>
          <a:solidFill>
            <a:srgbClr val="001F33"/>
          </a:solidFill>
          <a:ln w="12700">
            <a:solidFill>
              <a:srgbClr val="333333"/>
            </a:solidFill>
            <a:prstDash val="solid"/>
          </a:ln>
        </p:spPr>
        <p:txBody>
          <a:bodyPr/>
          <a:lstStyle/>
          <a:p>
            <a:endParaRPr lang="en-US"/>
          </a:p>
        </p:txBody>
      </p:sp>
      <p:sp>
        <p:nvSpPr>
          <p:cNvPr id="20" name="Text 17"/>
          <p:cNvSpPr/>
          <p:nvPr/>
        </p:nvSpPr>
        <p:spPr>
          <a:xfrm>
            <a:off x="548640" y="3931920"/>
            <a:ext cx="868680" cy="914400"/>
          </a:xfrm>
          <a:prstGeom prst="rect">
            <a:avLst/>
          </a:prstGeom>
          <a:noFill/>
          <a:ln/>
        </p:spPr>
        <p:txBody>
          <a:bodyPr wrap="square" lIns="0" tIns="0" rIns="0" bIns="0" rtlCol="0" anchor="ctr"/>
          <a:lstStyle/>
          <a:p>
            <a:pPr marL="0" indent="0" algn="ctr">
              <a:buNone/>
            </a:pPr>
            <a:r>
              <a:rPr lang="en-US" sz="3600" b="1" dirty="0">
                <a:solidFill>
                  <a:srgbClr val="FFB81C"/>
                </a:solidFill>
                <a:latin typeface="Calibri" pitchFamily="34" charset="0"/>
                <a:ea typeface="Calibri" pitchFamily="34" charset="-122"/>
                <a:cs typeface="Calibri" pitchFamily="34" charset="-120"/>
              </a:rPr>
              <a:t>S</a:t>
            </a:r>
            <a:endParaRPr lang="en-US" sz="3600" dirty="0"/>
          </a:p>
        </p:txBody>
      </p:sp>
      <p:sp>
        <p:nvSpPr>
          <p:cNvPr id="21" name="Text 18"/>
          <p:cNvSpPr/>
          <p:nvPr/>
        </p:nvSpPr>
        <p:spPr>
          <a:xfrm>
            <a:off x="1600200" y="4069080"/>
            <a:ext cx="1554480" cy="365760"/>
          </a:xfrm>
          <a:prstGeom prst="rect">
            <a:avLst/>
          </a:prstGeom>
          <a:noFill/>
          <a:ln/>
        </p:spPr>
        <p:txBody>
          <a:bodyPr wrap="square" lIns="0" tIns="0" rIns="0" bIns="0" rtlCol="0" anchor="ctr"/>
          <a:lstStyle/>
          <a:p>
            <a:pPr marL="0" indent="0">
              <a:buNone/>
            </a:pPr>
            <a:r>
              <a:rPr lang="en-US" sz="1600" b="1" dirty="0">
                <a:solidFill>
                  <a:srgbClr val="0B1F33"/>
                </a:solidFill>
                <a:latin typeface="Calibri" pitchFamily="34" charset="0"/>
                <a:ea typeface="Calibri" pitchFamily="34" charset="-122"/>
                <a:cs typeface="Calibri" pitchFamily="34" charset="-120"/>
              </a:rPr>
              <a:t>Source</a:t>
            </a:r>
            <a:endParaRPr lang="en-US" sz="1600" dirty="0"/>
          </a:p>
        </p:txBody>
      </p:sp>
      <p:sp>
        <p:nvSpPr>
          <p:cNvPr id="22" name="Text 19"/>
          <p:cNvSpPr/>
          <p:nvPr/>
        </p:nvSpPr>
        <p:spPr>
          <a:xfrm>
            <a:off x="3200400" y="4069080"/>
            <a:ext cx="8229600" cy="731520"/>
          </a:xfrm>
          <a:prstGeom prst="rect">
            <a:avLst/>
          </a:prstGeom>
          <a:noFill/>
          <a:ln/>
        </p:spPr>
        <p:txBody>
          <a:bodyPr wrap="square" lIns="0" tIns="0" rIns="0" bIns="0" rtlCol="0" anchor="ctr"/>
          <a:lstStyle/>
          <a:p>
            <a:pPr marL="0" indent="0">
              <a:buNone/>
            </a:pPr>
            <a:r>
              <a:rPr lang="en-US" sz="1200" dirty="0">
                <a:solidFill>
                  <a:srgbClr val="3D5573"/>
                </a:solidFill>
                <a:latin typeface="Calibri" pitchFamily="34" charset="0"/>
                <a:ea typeface="Calibri" pitchFamily="34" charset="-122"/>
                <a:cs typeface="Calibri" pitchFamily="34" charset="-120"/>
              </a:rPr>
              <a:t>Use the DA assessment report, the relevant ResCode clauses (Clause 55), and the response template used for the Smith Street objection in March.</a:t>
            </a:r>
            <a:endParaRPr lang="en-US" sz="1200" dirty="0"/>
          </a:p>
        </p:txBody>
      </p:sp>
      <p:sp>
        <p:nvSpPr>
          <p:cNvPr id="23" name="Shape 20"/>
          <p:cNvSpPr/>
          <p:nvPr/>
        </p:nvSpPr>
        <p:spPr>
          <a:xfrm>
            <a:off x="548640" y="4937760"/>
            <a:ext cx="11064240" cy="914400"/>
          </a:xfrm>
          <a:prstGeom prst="rect">
            <a:avLst/>
          </a:prstGeom>
          <a:solidFill>
            <a:srgbClr val="FFFFFF"/>
          </a:solidFill>
          <a:ln w="6350">
            <a:solidFill>
              <a:srgbClr val="D7DEE8"/>
            </a:solidFill>
            <a:prstDash val="solid"/>
          </a:ln>
        </p:spPr>
        <p:txBody>
          <a:bodyPr/>
          <a:lstStyle/>
          <a:p>
            <a:endParaRPr lang="en-US"/>
          </a:p>
        </p:txBody>
      </p:sp>
      <p:sp>
        <p:nvSpPr>
          <p:cNvPr id="24" name="Shape 21"/>
          <p:cNvSpPr/>
          <p:nvPr/>
        </p:nvSpPr>
        <p:spPr>
          <a:xfrm>
            <a:off x="548640" y="4937760"/>
            <a:ext cx="868680" cy="914400"/>
          </a:xfrm>
          <a:prstGeom prst="rect">
            <a:avLst/>
          </a:prstGeom>
          <a:solidFill>
            <a:srgbClr val="001F33"/>
          </a:solidFill>
          <a:ln w="12700">
            <a:solidFill>
              <a:srgbClr val="333333"/>
            </a:solidFill>
            <a:prstDash val="solid"/>
          </a:ln>
        </p:spPr>
        <p:txBody>
          <a:bodyPr/>
          <a:lstStyle/>
          <a:p>
            <a:endParaRPr lang="en-US"/>
          </a:p>
        </p:txBody>
      </p:sp>
      <p:sp>
        <p:nvSpPr>
          <p:cNvPr id="25" name="Text 22"/>
          <p:cNvSpPr/>
          <p:nvPr/>
        </p:nvSpPr>
        <p:spPr>
          <a:xfrm>
            <a:off x="548640" y="4937760"/>
            <a:ext cx="868680" cy="914400"/>
          </a:xfrm>
          <a:prstGeom prst="rect">
            <a:avLst/>
          </a:prstGeom>
          <a:noFill/>
          <a:ln/>
        </p:spPr>
        <p:txBody>
          <a:bodyPr wrap="square" lIns="0" tIns="0" rIns="0" bIns="0" rtlCol="0" anchor="ctr"/>
          <a:lstStyle/>
          <a:p>
            <a:pPr marL="0" indent="0" algn="ctr">
              <a:buNone/>
            </a:pPr>
            <a:r>
              <a:rPr lang="en-US" sz="3600" b="1" dirty="0">
                <a:solidFill>
                  <a:srgbClr val="FFB81C"/>
                </a:solidFill>
                <a:latin typeface="Calibri" pitchFamily="34" charset="0"/>
                <a:ea typeface="Calibri" pitchFamily="34" charset="-122"/>
                <a:cs typeface="Calibri" pitchFamily="34" charset="-120"/>
              </a:rPr>
              <a:t>E</a:t>
            </a:r>
            <a:endParaRPr lang="en-US" sz="3600" dirty="0"/>
          </a:p>
        </p:txBody>
      </p:sp>
      <p:sp>
        <p:nvSpPr>
          <p:cNvPr id="26" name="Text 23"/>
          <p:cNvSpPr/>
          <p:nvPr/>
        </p:nvSpPr>
        <p:spPr>
          <a:xfrm>
            <a:off x="1600200" y="5074920"/>
            <a:ext cx="1554480" cy="365760"/>
          </a:xfrm>
          <a:prstGeom prst="rect">
            <a:avLst/>
          </a:prstGeom>
          <a:noFill/>
          <a:ln/>
        </p:spPr>
        <p:txBody>
          <a:bodyPr wrap="square" lIns="0" tIns="0" rIns="0" bIns="0" rtlCol="0" anchor="ctr"/>
          <a:lstStyle/>
          <a:p>
            <a:pPr marL="0" indent="0">
              <a:buNone/>
            </a:pPr>
            <a:r>
              <a:rPr lang="en-US" sz="1600" b="1" dirty="0">
                <a:solidFill>
                  <a:srgbClr val="0B1F33"/>
                </a:solidFill>
                <a:latin typeface="Calibri" pitchFamily="34" charset="0"/>
                <a:ea typeface="Calibri" pitchFamily="34" charset="-122"/>
                <a:cs typeface="Calibri" pitchFamily="34" charset="-120"/>
              </a:rPr>
              <a:t>Expectation</a:t>
            </a:r>
            <a:endParaRPr lang="en-US" sz="1600" dirty="0"/>
          </a:p>
        </p:txBody>
      </p:sp>
      <p:sp>
        <p:nvSpPr>
          <p:cNvPr id="27" name="Text 24"/>
          <p:cNvSpPr/>
          <p:nvPr/>
        </p:nvSpPr>
        <p:spPr>
          <a:xfrm>
            <a:off x="3200400" y="5074920"/>
            <a:ext cx="8229600" cy="731520"/>
          </a:xfrm>
          <a:prstGeom prst="rect">
            <a:avLst/>
          </a:prstGeom>
          <a:noFill/>
          <a:ln/>
        </p:spPr>
        <p:txBody>
          <a:bodyPr wrap="square" lIns="0" tIns="0" rIns="0" bIns="0" rtlCol="0" anchor="ctr"/>
          <a:lstStyle/>
          <a:p>
            <a:pPr marL="0" indent="0">
              <a:buNone/>
            </a:pPr>
            <a:r>
              <a:rPr lang="en-US" sz="1200" dirty="0">
                <a:solidFill>
                  <a:srgbClr val="3D5573"/>
                </a:solidFill>
                <a:latin typeface="Calibri" pitchFamily="34" charset="0"/>
                <a:ea typeface="Calibri" pitchFamily="34" charset="-122"/>
                <a:cs typeface="Calibri" pitchFamily="34" charset="-120"/>
              </a:rPr>
              <a:t>Formal but respectful tone. Address each ground of objection under its own sub-heading. Reference specific clauses and assessment findings. Maximum 600 words. Plain-English explanations next to any technical planning terms.</a:t>
            </a:r>
            <a:endParaRPr lang="en-US" sz="1200" dirty="0"/>
          </a:p>
        </p:txBody>
      </p:sp>
      <p:sp>
        <p:nvSpPr>
          <p:cNvPr id="28" name="Text 25"/>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6B7C93"/>
                </a:solidFill>
                <a:latin typeface="Calibri" pitchFamily="34" charset="0"/>
                <a:ea typeface="Calibri" pitchFamily="34" charset="-122"/>
                <a:cs typeface="Calibri" pitchFamily="34" charset="-120"/>
              </a:rPr>
              <a:t>6 / 40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105156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Beyond GCSE — three more prompting skills</a:t>
            </a:r>
            <a:endParaRPr lang="en-US" sz="3200" dirty="0"/>
          </a:p>
        </p:txBody>
      </p:sp>
      <p:sp>
        <p:nvSpPr>
          <p:cNvPr id="6" name="Shape 2"/>
          <p:cNvSpPr/>
          <p:nvPr/>
        </p:nvSpPr>
        <p:spPr>
          <a:xfrm>
            <a:off x="548640" y="1143000"/>
            <a:ext cx="1280160" cy="73152"/>
          </a:xfrm>
          <a:prstGeom prst="rect">
            <a:avLst/>
          </a:prstGeom>
          <a:solidFill>
            <a:srgbClr val="FFB81C"/>
          </a:solidFill>
          <a:ln w="12700">
            <a:solidFill>
              <a:srgbClr val="FFB81C"/>
            </a:solidFill>
            <a:prstDash val="solid"/>
          </a:ln>
        </p:spPr>
        <p:txBody>
          <a:bodyPr/>
          <a:lstStyle/>
          <a:p>
            <a:endParaRPr lang="en-US"/>
          </a:p>
        </p:txBody>
      </p:sp>
      <p:sp>
        <p:nvSpPr>
          <p:cNvPr id="7" name="Shape 3"/>
          <p:cNvSpPr/>
          <p:nvPr/>
        </p:nvSpPr>
        <p:spPr>
          <a:xfrm>
            <a:off x="1920240" y="1143000"/>
            <a:ext cx="640080" cy="73152"/>
          </a:xfrm>
          <a:prstGeom prst="rect">
            <a:avLst/>
          </a:prstGeom>
          <a:solidFill>
            <a:srgbClr val="4FC3F7"/>
          </a:solidFill>
          <a:ln w="12700">
            <a:solidFill>
              <a:srgbClr val="4FC3F7"/>
            </a:solidFill>
            <a:prstDash val="solid"/>
          </a:ln>
        </p:spPr>
        <p:txBody>
          <a:bodyPr/>
          <a:lstStyle/>
          <a:p>
            <a:endParaRPr lang="en-US"/>
          </a:p>
        </p:txBody>
      </p:sp>
      <p:sp>
        <p:nvSpPr>
          <p:cNvPr id="8" name="Text 4"/>
          <p:cNvSpPr/>
          <p:nvPr/>
        </p:nvSpPr>
        <p:spPr>
          <a:xfrm>
            <a:off x="548640" y="1417320"/>
            <a:ext cx="10972800" cy="457200"/>
          </a:xfrm>
          <a:prstGeom prst="rect">
            <a:avLst/>
          </a:prstGeom>
          <a:noFill/>
          <a:ln/>
        </p:spPr>
        <p:txBody>
          <a:bodyPr wrap="square" lIns="0" tIns="0" rIns="0" bIns="0" rtlCol="0" anchor="ctr"/>
          <a:lstStyle/>
          <a:p>
            <a:pPr marL="0" indent="0">
              <a:buNone/>
            </a:pPr>
            <a:r>
              <a:rPr lang="en-US" sz="1500" i="1" dirty="0">
                <a:solidFill>
                  <a:srgbClr val="EAF2FA"/>
                </a:solidFill>
                <a:latin typeface="Calibri" pitchFamily="34" charset="0"/>
                <a:ea typeface="Calibri" pitchFamily="34" charset="-122"/>
                <a:cs typeface="Calibri" pitchFamily="34" charset="-120"/>
              </a:rPr>
              <a:t>Once GCSE is second nature, these are the techniques that take your prompting from good to great</a:t>
            </a:r>
            <a:endParaRPr lang="en-US" sz="1500" dirty="0"/>
          </a:p>
        </p:txBody>
      </p:sp>
      <p:sp>
        <p:nvSpPr>
          <p:cNvPr id="9" name="Shape 5"/>
          <p:cNvSpPr/>
          <p:nvPr/>
        </p:nvSpPr>
        <p:spPr>
          <a:xfrm>
            <a:off x="548640" y="2194560"/>
            <a:ext cx="3514344" cy="3931920"/>
          </a:xfrm>
          <a:prstGeom prst="rect">
            <a:avLst/>
          </a:prstGeom>
          <a:solidFill>
            <a:srgbClr val="0A2A44"/>
          </a:solidFill>
          <a:ln w="6350">
            <a:solidFill>
              <a:srgbClr val="1E3A5C"/>
            </a:solidFill>
            <a:prstDash val="solid"/>
          </a:ln>
        </p:spPr>
        <p:txBody>
          <a:bodyPr/>
          <a:lstStyle/>
          <a:p>
            <a:endParaRPr lang="en-US"/>
          </a:p>
        </p:txBody>
      </p:sp>
      <p:sp>
        <p:nvSpPr>
          <p:cNvPr id="10" name="Shape 6"/>
          <p:cNvSpPr/>
          <p:nvPr/>
        </p:nvSpPr>
        <p:spPr>
          <a:xfrm>
            <a:off x="548640" y="2194560"/>
            <a:ext cx="3514344" cy="73152"/>
          </a:xfrm>
          <a:prstGeom prst="rect">
            <a:avLst/>
          </a:prstGeom>
          <a:solidFill>
            <a:srgbClr val="FFB81C"/>
          </a:solidFill>
          <a:ln w="12700">
            <a:solidFill>
              <a:srgbClr val="333333"/>
            </a:solidFill>
            <a:prstDash val="solid"/>
          </a:ln>
        </p:spPr>
        <p:txBody>
          <a:bodyPr/>
          <a:lstStyle/>
          <a:p>
            <a:endParaRPr lang="en-US"/>
          </a:p>
        </p:txBody>
      </p:sp>
      <p:sp>
        <p:nvSpPr>
          <p:cNvPr id="11" name="Text 7"/>
          <p:cNvSpPr/>
          <p:nvPr/>
        </p:nvSpPr>
        <p:spPr>
          <a:xfrm>
            <a:off x="914400" y="2560320"/>
            <a:ext cx="2782824" cy="640080"/>
          </a:xfrm>
          <a:prstGeom prst="rect">
            <a:avLst/>
          </a:prstGeom>
          <a:noFill/>
          <a:ln/>
        </p:spPr>
        <p:txBody>
          <a:bodyPr wrap="square" lIns="0" tIns="0" rIns="0" bIns="0" rtlCol="0" anchor="ctr"/>
          <a:lstStyle/>
          <a:p>
            <a:pPr marL="0" indent="0">
              <a:buNone/>
            </a:pPr>
            <a:r>
              <a:rPr lang="en-US" sz="3600" b="1" dirty="0">
                <a:solidFill>
                  <a:srgbClr val="FFB81C"/>
                </a:solidFill>
                <a:latin typeface="Calibri" pitchFamily="34" charset="0"/>
                <a:ea typeface="Calibri" pitchFamily="34" charset="-122"/>
                <a:cs typeface="Calibri" pitchFamily="34" charset="-120"/>
              </a:rPr>
              <a:t>01</a:t>
            </a:r>
            <a:endParaRPr lang="en-US" sz="3600" dirty="0"/>
          </a:p>
        </p:txBody>
      </p:sp>
      <p:sp>
        <p:nvSpPr>
          <p:cNvPr id="12" name="Text 8"/>
          <p:cNvSpPr/>
          <p:nvPr/>
        </p:nvSpPr>
        <p:spPr>
          <a:xfrm>
            <a:off x="914400" y="3200400"/>
            <a:ext cx="2782824"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Give feedback</a:t>
            </a:r>
            <a:endParaRPr lang="en-US" sz="2200" dirty="0"/>
          </a:p>
        </p:txBody>
      </p:sp>
      <p:sp>
        <p:nvSpPr>
          <p:cNvPr id="13" name="Text 9"/>
          <p:cNvSpPr/>
          <p:nvPr/>
        </p:nvSpPr>
        <p:spPr>
          <a:xfrm>
            <a:off x="914400" y="3703320"/>
            <a:ext cx="2782824" cy="365760"/>
          </a:xfrm>
          <a:prstGeom prst="rect">
            <a:avLst/>
          </a:prstGeom>
          <a:noFill/>
          <a:ln/>
        </p:spPr>
        <p:txBody>
          <a:bodyPr wrap="square" lIns="0" tIns="0" rIns="0" bIns="0" rtlCol="0" anchor="ctr"/>
          <a:lstStyle/>
          <a:p>
            <a:pPr marL="0" indent="0">
              <a:buNone/>
            </a:pPr>
            <a:r>
              <a:rPr lang="en-US" sz="1300" i="1" dirty="0">
                <a:solidFill>
                  <a:srgbClr val="FFB81C"/>
                </a:solidFill>
                <a:latin typeface="Calibri" pitchFamily="34" charset="0"/>
                <a:ea typeface="Calibri" pitchFamily="34" charset="-122"/>
                <a:cs typeface="Calibri" pitchFamily="34" charset="-120"/>
              </a:rPr>
              <a:t>Don't stop at the first draft</a:t>
            </a:r>
            <a:endParaRPr lang="en-US" sz="1300" dirty="0"/>
          </a:p>
        </p:txBody>
      </p:sp>
      <p:sp>
        <p:nvSpPr>
          <p:cNvPr id="14" name="Shape 10"/>
          <p:cNvSpPr/>
          <p:nvPr/>
        </p:nvSpPr>
        <p:spPr>
          <a:xfrm>
            <a:off x="914400" y="4114800"/>
            <a:ext cx="457200" cy="36576"/>
          </a:xfrm>
          <a:prstGeom prst="rect">
            <a:avLst/>
          </a:prstGeom>
          <a:solidFill>
            <a:srgbClr val="FFB81C"/>
          </a:solidFill>
          <a:ln w="12700">
            <a:solidFill>
              <a:srgbClr val="333333"/>
            </a:solidFill>
            <a:prstDash val="solid"/>
          </a:ln>
        </p:spPr>
        <p:txBody>
          <a:bodyPr/>
          <a:lstStyle/>
          <a:p>
            <a:endParaRPr lang="en-US"/>
          </a:p>
        </p:txBody>
      </p:sp>
      <p:sp>
        <p:nvSpPr>
          <p:cNvPr id="15" name="Text 11"/>
          <p:cNvSpPr/>
          <p:nvPr/>
        </p:nvSpPr>
        <p:spPr>
          <a:xfrm>
            <a:off x="914400" y="4251960"/>
            <a:ext cx="2782824" cy="1737360"/>
          </a:xfrm>
          <a:prstGeom prst="rect">
            <a:avLst/>
          </a:prstGeom>
          <a:noFill/>
          <a:ln/>
        </p:spPr>
        <p:txBody>
          <a:bodyPr wrap="square" lIns="0" tIns="0" rIns="0" bIns="0" rtlCol="0" anchor="ctr"/>
          <a:lstStyle/>
          <a:p>
            <a:pPr marL="0" indent="0">
              <a:buNone/>
            </a:pPr>
            <a:r>
              <a:rPr lang="en-US" sz="1300" dirty="0">
                <a:solidFill>
                  <a:srgbClr val="EAF2FA"/>
                </a:solidFill>
                <a:latin typeface="Calibri" pitchFamily="34" charset="0"/>
                <a:ea typeface="Calibri" pitchFamily="34" charset="-122"/>
                <a:cs typeface="Calibri" pitchFamily="34" charset="-120"/>
              </a:rPr>
              <a:t>Tell Copilot what to change. "Make it warmer." "Shorter." "Cite the clause number." "Add a counter-argument we'd hear from objectors." Every round of feedback teaches Copilot what good looks like for you.</a:t>
            </a:r>
            <a:endParaRPr lang="en-US" sz="1300" dirty="0"/>
          </a:p>
        </p:txBody>
      </p:sp>
      <p:sp>
        <p:nvSpPr>
          <p:cNvPr id="16" name="Shape 12"/>
          <p:cNvSpPr/>
          <p:nvPr/>
        </p:nvSpPr>
        <p:spPr>
          <a:xfrm>
            <a:off x="4337304" y="2194560"/>
            <a:ext cx="3514344" cy="3931920"/>
          </a:xfrm>
          <a:prstGeom prst="rect">
            <a:avLst/>
          </a:prstGeom>
          <a:solidFill>
            <a:srgbClr val="0A2A44"/>
          </a:solidFill>
          <a:ln w="6350">
            <a:solidFill>
              <a:srgbClr val="1E3A5C"/>
            </a:solidFill>
            <a:prstDash val="solid"/>
          </a:ln>
        </p:spPr>
        <p:txBody>
          <a:bodyPr/>
          <a:lstStyle/>
          <a:p>
            <a:endParaRPr lang="en-US"/>
          </a:p>
        </p:txBody>
      </p:sp>
      <p:sp>
        <p:nvSpPr>
          <p:cNvPr id="17" name="Shape 13"/>
          <p:cNvSpPr/>
          <p:nvPr/>
        </p:nvSpPr>
        <p:spPr>
          <a:xfrm>
            <a:off x="4337304" y="2194560"/>
            <a:ext cx="3514344" cy="73152"/>
          </a:xfrm>
          <a:prstGeom prst="rect">
            <a:avLst/>
          </a:prstGeom>
          <a:solidFill>
            <a:srgbClr val="4FC3F7"/>
          </a:solidFill>
          <a:ln w="12700">
            <a:solidFill>
              <a:srgbClr val="333333"/>
            </a:solidFill>
            <a:prstDash val="solid"/>
          </a:ln>
        </p:spPr>
        <p:txBody>
          <a:bodyPr/>
          <a:lstStyle/>
          <a:p>
            <a:endParaRPr lang="en-US"/>
          </a:p>
        </p:txBody>
      </p:sp>
      <p:sp>
        <p:nvSpPr>
          <p:cNvPr id="18" name="Text 14"/>
          <p:cNvSpPr/>
          <p:nvPr/>
        </p:nvSpPr>
        <p:spPr>
          <a:xfrm>
            <a:off x="4703064" y="2560320"/>
            <a:ext cx="2782824" cy="640080"/>
          </a:xfrm>
          <a:prstGeom prst="rect">
            <a:avLst/>
          </a:prstGeom>
          <a:noFill/>
          <a:ln/>
        </p:spPr>
        <p:txBody>
          <a:bodyPr wrap="square" lIns="0" tIns="0" rIns="0" bIns="0" rtlCol="0" anchor="ctr"/>
          <a:lstStyle/>
          <a:p>
            <a:pPr marL="0" indent="0">
              <a:buNone/>
            </a:pPr>
            <a:r>
              <a:rPr lang="en-US" sz="3600" b="1" dirty="0">
                <a:solidFill>
                  <a:srgbClr val="4FC3F7"/>
                </a:solidFill>
                <a:latin typeface="Calibri" pitchFamily="34" charset="0"/>
                <a:ea typeface="Calibri" pitchFamily="34" charset="-122"/>
                <a:cs typeface="Calibri" pitchFamily="34" charset="-120"/>
              </a:rPr>
              <a:t>02</a:t>
            </a:r>
            <a:endParaRPr lang="en-US" sz="3600" dirty="0"/>
          </a:p>
        </p:txBody>
      </p:sp>
      <p:sp>
        <p:nvSpPr>
          <p:cNvPr id="19" name="Text 15"/>
          <p:cNvSpPr/>
          <p:nvPr/>
        </p:nvSpPr>
        <p:spPr>
          <a:xfrm>
            <a:off x="4703064" y="3200400"/>
            <a:ext cx="2782824" cy="54864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Iterate the conversation</a:t>
            </a:r>
            <a:endParaRPr lang="en-US" sz="2200" dirty="0"/>
          </a:p>
        </p:txBody>
      </p:sp>
      <p:sp>
        <p:nvSpPr>
          <p:cNvPr id="20" name="Text 16"/>
          <p:cNvSpPr/>
          <p:nvPr/>
        </p:nvSpPr>
        <p:spPr>
          <a:xfrm>
            <a:off x="4703064" y="3703320"/>
            <a:ext cx="2782824" cy="365760"/>
          </a:xfrm>
          <a:prstGeom prst="rect">
            <a:avLst/>
          </a:prstGeom>
          <a:noFill/>
          <a:ln/>
        </p:spPr>
        <p:txBody>
          <a:bodyPr wrap="square" lIns="0" tIns="0" rIns="0" bIns="0" rtlCol="0" anchor="ctr"/>
          <a:lstStyle/>
          <a:p>
            <a:pPr marL="0" indent="0">
              <a:buNone/>
            </a:pPr>
            <a:r>
              <a:rPr lang="en-US" sz="1300" i="1">
                <a:solidFill>
                  <a:srgbClr val="4FC3F7"/>
                </a:solidFill>
                <a:latin typeface="Calibri" pitchFamily="34" charset="0"/>
                <a:ea typeface="Calibri" pitchFamily="34" charset="-122"/>
                <a:cs typeface="Calibri" pitchFamily="34" charset="-120"/>
              </a:rPr>
              <a:t>Build on what you've already said</a:t>
            </a:r>
            <a:endParaRPr lang="en-US" sz="1300" dirty="0"/>
          </a:p>
        </p:txBody>
      </p:sp>
      <p:sp>
        <p:nvSpPr>
          <p:cNvPr id="21" name="Shape 17"/>
          <p:cNvSpPr/>
          <p:nvPr/>
        </p:nvSpPr>
        <p:spPr>
          <a:xfrm>
            <a:off x="4703064" y="4114800"/>
            <a:ext cx="457200" cy="36576"/>
          </a:xfrm>
          <a:prstGeom prst="rect">
            <a:avLst/>
          </a:prstGeom>
          <a:solidFill>
            <a:srgbClr val="4FC3F7"/>
          </a:solidFill>
          <a:ln w="12700">
            <a:solidFill>
              <a:srgbClr val="333333"/>
            </a:solidFill>
            <a:prstDash val="solid"/>
          </a:ln>
        </p:spPr>
        <p:txBody>
          <a:bodyPr/>
          <a:lstStyle/>
          <a:p>
            <a:endParaRPr lang="en-US"/>
          </a:p>
        </p:txBody>
      </p:sp>
      <p:sp>
        <p:nvSpPr>
          <p:cNvPr id="22" name="Text 18"/>
          <p:cNvSpPr/>
          <p:nvPr/>
        </p:nvSpPr>
        <p:spPr>
          <a:xfrm>
            <a:off x="4703064" y="4251960"/>
            <a:ext cx="2782824" cy="1737360"/>
          </a:xfrm>
          <a:prstGeom prst="rect">
            <a:avLst/>
          </a:prstGeom>
          <a:noFill/>
          <a:ln/>
        </p:spPr>
        <p:txBody>
          <a:bodyPr wrap="square" lIns="0" tIns="0" rIns="0" bIns="0" rtlCol="0" anchor="ctr"/>
          <a:lstStyle/>
          <a:p>
            <a:pPr marL="0" indent="0">
              <a:buNone/>
            </a:pPr>
            <a:r>
              <a:rPr lang="en-US" sz="1300">
                <a:solidFill>
                  <a:srgbClr val="EAF2FA"/>
                </a:solidFill>
                <a:latin typeface="Calibri" pitchFamily="34" charset="0"/>
                <a:ea typeface="Calibri" pitchFamily="34" charset="-122"/>
                <a:cs typeface="Calibri" pitchFamily="34" charset="-120"/>
              </a:rPr>
              <a:t>Don't start over each time. Refine, expand, branch off</a:t>
            </a:r>
            <a:r>
              <a:rPr lang="en-US" sz="1300" dirty="0">
                <a:solidFill>
                  <a:srgbClr val="EAF2FA"/>
                </a:solidFill>
                <a:latin typeface="Calibri" pitchFamily="34" charset="0"/>
                <a:ea typeface="Calibri" pitchFamily="34" charset="-122"/>
                <a:cs typeface="Calibri" pitchFamily="34" charset="-120"/>
              </a:rPr>
              <a:t>. "</a:t>
            </a:r>
            <a:r>
              <a:rPr lang="en-US" sz="1300">
                <a:solidFill>
                  <a:srgbClr val="EAF2FA"/>
                </a:solidFill>
                <a:latin typeface="Calibri" pitchFamily="34" charset="0"/>
                <a:ea typeface="Calibri" pitchFamily="34" charset="-122"/>
                <a:cs typeface="Calibri" pitchFamily="34" charset="-120"/>
              </a:rPr>
              <a:t>Now redo it for an internal audience</a:t>
            </a:r>
            <a:r>
              <a:rPr lang="en-US" sz="1300" dirty="0">
                <a:solidFill>
                  <a:srgbClr val="EAF2FA"/>
                </a:solidFill>
                <a:latin typeface="Calibri" pitchFamily="34" charset="0"/>
                <a:ea typeface="Calibri" pitchFamily="34" charset="-122"/>
                <a:cs typeface="Calibri" pitchFamily="34" charset="-120"/>
              </a:rPr>
              <a:t>." "</a:t>
            </a:r>
            <a:r>
              <a:rPr lang="en-US" sz="1300">
                <a:solidFill>
                  <a:srgbClr val="EAF2FA"/>
                </a:solidFill>
                <a:latin typeface="Calibri" pitchFamily="34" charset="0"/>
                <a:ea typeface="Calibri" pitchFamily="34" charset="-122"/>
                <a:cs typeface="Calibri" pitchFamily="34" charset="-120"/>
              </a:rPr>
              <a:t>Give me </a:t>
            </a:r>
            <a:r>
              <a:rPr lang="en-US" sz="1300" dirty="0">
                <a:solidFill>
                  <a:srgbClr val="EAF2FA"/>
                </a:solidFill>
                <a:latin typeface="Calibri" pitchFamily="34" charset="0"/>
                <a:ea typeface="Calibri" pitchFamily="34" charset="-122"/>
                <a:cs typeface="Calibri" pitchFamily="34" charset="-120"/>
              </a:rPr>
              <a:t>a </a:t>
            </a:r>
            <a:r>
              <a:rPr lang="en-US" sz="1300">
                <a:solidFill>
                  <a:srgbClr val="EAF2FA"/>
                </a:solidFill>
                <a:latin typeface="Calibri" pitchFamily="34" charset="0"/>
                <a:ea typeface="Calibri" pitchFamily="34" charset="-122"/>
                <a:cs typeface="Calibri" pitchFamily="34" charset="-120"/>
              </a:rPr>
              <a:t>one-page version</a:t>
            </a:r>
            <a:r>
              <a:rPr lang="en-US" sz="1300" dirty="0">
                <a:solidFill>
                  <a:srgbClr val="EAF2FA"/>
                </a:solidFill>
                <a:latin typeface="Calibri" pitchFamily="34" charset="0"/>
                <a:ea typeface="Calibri" pitchFamily="34" charset="-122"/>
                <a:cs typeface="Calibri" pitchFamily="34" charset="-120"/>
              </a:rPr>
              <a:t>." </a:t>
            </a:r>
            <a:r>
              <a:rPr lang="en-US" sz="1300">
                <a:solidFill>
                  <a:srgbClr val="EAF2FA"/>
                </a:solidFill>
                <a:latin typeface="Calibri" pitchFamily="34" charset="0"/>
                <a:ea typeface="Calibri" pitchFamily="34" charset="-122"/>
                <a:cs typeface="Calibri" pitchFamily="34" charset="-120"/>
              </a:rPr>
              <a:t>The conversation itself becomes a richer brief than any single prompt</a:t>
            </a:r>
            <a:r>
              <a:rPr lang="en-US" sz="1300" dirty="0">
                <a:solidFill>
                  <a:srgbClr val="EAF2FA"/>
                </a:solidFill>
                <a:latin typeface="Calibri" pitchFamily="34" charset="0"/>
                <a:ea typeface="Calibri" pitchFamily="34" charset="-122"/>
                <a:cs typeface="Calibri" pitchFamily="34" charset="-120"/>
              </a:rPr>
              <a:t>.</a:t>
            </a:r>
            <a:endParaRPr lang="en-US" sz="1300" dirty="0"/>
          </a:p>
        </p:txBody>
      </p:sp>
      <p:sp>
        <p:nvSpPr>
          <p:cNvPr id="23" name="Shape 19"/>
          <p:cNvSpPr/>
          <p:nvPr/>
        </p:nvSpPr>
        <p:spPr>
          <a:xfrm>
            <a:off x="8125968" y="2194560"/>
            <a:ext cx="3514344" cy="3931920"/>
          </a:xfrm>
          <a:prstGeom prst="rect">
            <a:avLst/>
          </a:prstGeom>
          <a:solidFill>
            <a:srgbClr val="0A2A44"/>
          </a:solidFill>
          <a:ln w="6350">
            <a:solidFill>
              <a:srgbClr val="1E3A5C"/>
            </a:solidFill>
            <a:prstDash val="solid"/>
          </a:ln>
        </p:spPr>
        <p:txBody>
          <a:bodyPr/>
          <a:lstStyle/>
          <a:p>
            <a:endParaRPr lang="en-US"/>
          </a:p>
        </p:txBody>
      </p:sp>
      <p:sp>
        <p:nvSpPr>
          <p:cNvPr id="24" name="Shape 20"/>
          <p:cNvSpPr/>
          <p:nvPr/>
        </p:nvSpPr>
        <p:spPr>
          <a:xfrm>
            <a:off x="8125968" y="2194560"/>
            <a:ext cx="3514344" cy="73152"/>
          </a:xfrm>
          <a:prstGeom prst="rect">
            <a:avLst/>
          </a:prstGeom>
          <a:solidFill>
            <a:srgbClr val="FFB81C"/>
          </a:solidFill>
          <a:ln w="12700">
            <a:solidFill>
              <a:srgbClr val="333333"/>
            </a:solidFill>
            <a:prstDash val="solid"/>
          </a:ln>
        </p:spPr>
        <p:txBody>
          <a:bodyPr/>
          <a:lstStyle/>
          <a:p>
            <a:endParaRPr lang="en-US"/>
          </a:p>
        </p:txBody>
      </p:sp>
      <p:sp>
        <p:nvSpPr>
          <p:cNvPr id="25" name="Text 21"/>
          <p:cNvSpPr/>
          <p:nvPr/>
        </p:nvSpPr>
        <p:spPr>
          <a:xfrm>
            <a:off x="8491728" y="2560320"/>
            <a:ext cx="2782824" cy="640080"/>
          </a:xfrm>
          <a:prstGeom prst="rect">
            <a:avLst/>
          </a:prstGeom>
          <a:noFill/>
          <a:ln/>
        </p:spPr>
        <p:txBody>
          <a:bodyPr wrap="square" lIns="0" tIns="0" rIns="0" bIns="0" rtlCol="0" anchor="ctr"/>
          <a:lstStyle/>
          <a:p>
            <a:pPr marL="0" indent="0">
              <a:buNone/>
            </a:pPr>
            <a:r>
              <a:rPr lang="en-US" sz="3600" b="1" dirty="0">
                <a:solidFill>
                  <a:srgbClr val="FFB81C"/>
                </a:solidFill>
                <a:latin typeface="Calibri" pitchFamily="34" charset="0"/>
                <a:ea typeface="Calibri" pitchFamily="34" charset="-122"/>
                <a:cs typeface="Calibri" pitchFamily="34" charset="-120"/>
              </a:rPr>
              <a:t>03</a:t>
            </a:r>
            <a:endParaRPr lang="en-US" sz="3600" dirty="0"/>
          </a:p>
        </p:txBody>
      </p:sp>
      <p:sp>
        <p:nvSpPr>
          <p:cNvPr id="26" name="Text 22"/>
          <p:cNvSpPr/>
          <p:nvPr/>
        </p:nvSpPr>
        <p:spPr>
          <a:xfrm>
            <a:off x="8491728" y="3200400"/>
            <a:ext cx="2782824" cy="54864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Use a persona</a:t>
            </a:r>
            <a:endParaRPr lang="en-US" sz="2200" dirty="0"/>
          </a:p>
        </p:txBody>
      </p:sp>
      <p:sp>
        <p:nvSpPr>
          <p:cNvPr id="27" name="Text 23"/>
          <p:cNvSpPr/>
          <p:nvPr/>
        </p:nvSpPr>
        <p:spPr>
          <a:xfrm>
            <a:off x="8491728" y="3703320"/>
            <a:ext cx="2782824" cy="365760"/>
          </a:xfrm>
          <a:prstGeom prst="rect">
            <a:avLst/>
          </a:prstGeom>
          <a:noFill/>
          <a:ln/>
        </p:spPr>
        <p:txBody>
          <a:bodyPr wrap="square" lIns="0" tIns="0" rIns="0" bIns="0" rtlCol="0" anchor="ctr"/>
          <a:lstStyle/>
          <a:p>
            <a:pPr marL="0" indent="0">
              <a:buNone/>
            </a:pPr>
            <a:r>
              <a:rPr lang="en-US" sz="1300" i="1">
                <a:solidFill>
                  <a:srgbClr val="FFB81C"/>
                </a:solidFill>
                <a:latin typeface="Calibri" pitchFamily="34" charset="0"/>
                <a:ea typeface="Calibri" pitchFamily="34" charset="-122"/>
                <a:cs typeface="Calibri" pitchFamily="34" charset="-120"/>
              </a:rPr>
              <a:t>Frame Copilot's role</a:t>
            </a:r>
            <a:endParaRPr lang="en-US" sz="1300" dirty="0"/>
          </a:p>
        </p:txBody>
      </p:sp>
      <p:sp>
        <p:nvSpPr>
          <p:cNvPr id="28" name="Shape 24"/>
          <p:cNvSpPr/>
          <p:nvPr/>
        </p:nvSpPr>
        <p:spPr>
          <a:xfrm>
            <a:off x="8491728" y="4114800"/>
            <a:ext cx="457200" cy="36576"/>
          </a:xfrm>
          <a:prstGeom prst="rect">
            <a:avLst/>
          </a:prstGeom>
          <a:solidFill>
            <a:srgbClr val="FFB81C"/>
          </a:solidFill>
          <a:ln w="12700">
            <a:solidFill>
              <a:srgbClr val="333333"/>
            </a:solidFill>
            <a:prstDash val="solid"/>
          </a:ln>
        </p:spPr>
        <p:txBody>
          <a:bodyPr/>
          <a:lstStyle/>
          <a:p>
            <a:endParaRPr lang="en-US"/>
          </a:p>
        </p:txBody>
      </p:sp>
      <p:sp>
        <p:nvSpPr>
          <p:cNvPr id="29" name="Text 25"/>
          <p:cNvSpPr/>
          <p:nvPr/>
        </p:nvSpPr>
        <p:spPr>
          <a:xfrm>
            <a:off x="8491728" y="4251960"/>
            <a:ext cx="2782824" cy="1737360"/>
          </a:xfrm>
          <a:prstGeom prst="rect">
            <a:avLst/>
          </a:prstGeom>
          <a:noFill/>
          <a:ln/>
        </p:spPr>
        <p:txBody>
          <a:bodyPr wrap="square" lIns="0" tIns="0" rIns="0" bIns="0" rtlCol="0" anchor="ctr"/>
          <a:lstStyle/>
          <a:p>
            <a:pPr marL="0" indent="0">
              <a:buNone/>
            </a:pPr>
            <a:r>
              <a:rPr lang="en-US" sz="1300">
                <a:solidFill>
                  <a:srgbClr val="EAF2FA"/>
                </a:solidFill>
                <a:latin typeface="Calibri" pitchFamily="34" charset="0"/>
                <a:ea typeface="Calibri" pitchFamily="34" charset="-122"/>
                <a:cs typeface="Calibri" pitchFamily="34" charset="-120"/>
              </a:rPr>
              <a:t>Tell Copilot who to be</a:t>
            </a:r>
            <a:r>
              <a:rPr lang="en-US" sz="1300" dirty="0">
                <a:solidFill>
                  <a:srgbClr val="EAF2FA"/>
                </a:solidFill>
                <a:latin typeface="Calibri" pitchFamily="34" charset="0"/>
                <a:ea typeface="Calibri" pitchFamily="34" charset="-122"/>
                <a:cs typeface="Calibri" pitchFamily="34" charset="-120"/>
              </a:rPr>
              <a:t>. "</a:t>
            </a:r>
            <a:r>
              <a:rPr lang="en-US" sz="1300">
                <a:solidFill>
                  <a:srgbClr val="EAF2FA"/>
                </a:solidFill>
                <a:latin typeface="Calibri" pitchFamily="34" charset="0"/>
                <a:ea typeface="Calibri" pitchFamily="34" charset="-122"/>
                <a:cs typeface="Calibri" pitchFamily="34" charset="-120"/>
              </a:rPr>
              <a:t>Act as a senior planning officer reviewing this DA</a:t>
            </a:r>
            <a:r>
              <a:rPr lang="en-US" sz="1300" dirty="0">
                <a:solidFill>
                  <a:srgbClr val="EAF2FA"/>
                </a:solidFill>
                <a:latin typeface="Calibri" pitchFamily="34" charset="0"/>
                <a:ea typeface="Calibri" pitchFamily="34" charset="-122"/>
                <a:cs typeface="Calibri" pitchFamily="34" charset="-120"/>
              </a:rPr>
              <a:t>." "</a:t>
            </a:r>
            <a:r>
              <a:rPr lang="en-US" sz="1300">
                <a:solidFill>
                  <a:srgbClr val="EAF2FA"/>
                </a:solidFill>
                <a:latin typeface="Calibri" pitchFamily="34" charset="0"/>
                <a:ea typeface="Calibri" pitchFamily="34" charset="-122"/>
                <a:cs typeface="Calibri" pitchFamily="34" charset="-120"/>
              </a:rPr>
              <a:t>You're </a:t>
            </a:r>
            <a:r>
              <a:rPr lang="en-US" sz="1300" dirty="0">
                <a:solidFill>
                  <a:srgbClr val="EAF2FA"/>
                </a:solidFill>
                <a:latin typeface="Calibri" pitchFamily="34" charset="0"/>
                <a:ea typeface="Calibri" pitchFamily="34" charset="-122"/>
                <a:cs typeface="Calibri" pitchFamily="34" charset="-120"/>
              </a:rPr>
              <a:t>a </a:t>
            </a:r>
            <a:r>
              <a:rPr lang="en-US" sz="1300">
                <a:solidFill>
                  <a:srgbClr val="EAF2FA"/>
                </a:solidFill>
                <a:latin typeface="Calibri" pitchFamily="34" charset="0"/>
                <a:ea typeface="Calibri" pitchFamily="34" charset="-122"/>
                <a:cs typeface="Calibri" pitchFamily="34" charset="-120"/>
              </a:rPr>
              <a:t>community engagement officer briefing residents</a:t>
            </a:r>
            <a:r>
              <a:rPr lang="en-US" sz="1300" dirty="0">
                <a:solidFill>
                  <a:srgbClr val="EAF2FA"/>
                </a:solidFill>
                <a:latin typeface="Calibri" pitchFamily="34" charset="0"/>
                <a:ea typeface="Calibri" pitchFamily="34" charset="-122"/>
                <a:cs typeface="Calibri" pitchFamily="34" charset="-120"/>
              </a:rPr>
              <a:t>." </a:t>
            </a:r>
            <a:r>
              <a:rPr lang="en-US" sz="1300">
                <a:solidFill>
                  <a:srgbClr val="EAF2FA"/>
                </a:solidFill>
                <a:latin typeface="Calibri" pitchFamily="34" charset="0"/>
                <a:ea typeface="Calibri" pitchFamily="34" charset="-122"/>
                <a:cs typeface="Calibri" pitchFamily="34" charset="-120"/>
              </a:rPr>
              <a:t>Personas shape tone, depth and what the response emphasises</a:t>
            </a:r>
            <a:r>
              <a:rPr lang="en-US" sz="1300" dirty="0">
                <a:solidFill>
                  <a:srgbClr val="EAF2FA"/>
                </a:solidFill>
                <a:latin typeface="Calibri" pitchFamily="34" charset="0"/>
                <a:ea typeface="Calibri" pitchFamily="34" charset="-122"/>
                <a:cs typeface="Calibri" pitchFamily="34" charset="-120"/>
              </a:rPr>
              <a:t>.</a:t>
            </a:r>
            <a:endParaRPr lang="en-US" sz="1300" dirty="0"/>
          </a:p>
        </p:txBody>
      </p:sp>
      <p:sp>
        <p:nvSpPr>
          <p:cNvPr id="30" name="Text 26"/>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7 / 40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Shape 1"/>
          <p:cNvSpPr/>
          <p:nvPr/>
        </p:nvSpPr>
        <p:spPr>
          <a:xfrm>
            <a:off x="548640" y="502920"/>
            <a:ext cx="2194560" cy="411480"/>
          </a:xfrm>
          <a:prstGeom prst="rect">
            <a:avLst/>
          </a:prstGeom>
          <a:solidFill>
            <a:srgbClr val="FFB81C"/>
          </a:solidFill>
          <a:ln w="12700">
            <a:solidFill>
              <a:srgbClr val="333333"/>
            </a:solidFill>
            <a:prstDash val="solid"/>
          </a:ln>
        </p:spPr>
        <p:txBody>
          <a:bodyPr/>
          <a:lstStyle/>
          <a:p>
            <a:endParaRPr lang="en-US"/>
          </a:p>
        </p:txBody>
      </p:sp>
      <p:sp>
        <p:nvSpPr>
          <p:cNvPr id="6" name="Text 2"/>
          <p:cNvSpPr/>
          <p:nvPr/>
        </p:nvSpPr>
        <p:spPr>
          <a:xfrm>
            <a:off x="548640" y="502920"/>
            <a:ext cx="2194560" cy="411480"/>
          </a:xfrm>
          <a:prstGeom prst="rect">
            <a:avLst/>
          </a:prstGeom>
          <a:noFill/>
          <a:ln/>
        </p:spPr>
        <p:txBody>
          <a:bodyPr wrap="square" lIns="0" tIns="0" rIns="0" bIns="0" rtlCol="0" anchor="ctr"/>
          <a:lstStyle/>
          <a:p>
            <a:pPr marL="0" indent="0" algn="ctr">
              <a:buNone/>
            </a:pPr>
            <a:r>
              <a:rPr lang="en-US" sz="1200" b="1" kern="0" spc="300" dirty="0">
                <a:solidFill>
                  <a:srgbClr val="001F33"/>
                </a:solidFill>
                <a:latin typeface="Calibri" pitchFamily="34" charset="0"/>
                <a:ea typeface="Calibri" pitchFamily="34" charset="-122"/>
                <a:cs typeface="Calibri" pitchFamily="34" charset="-120"/>
              </a:rPr>
              <a:t>HANDS-ON 1</a:t>
            </a:r>
            <a:endParaRPr lang="en-US" sz="1200" dirty="0"/>
          </a:p>
        </p:txBody>
      </p:sp>
      <p:sp>
        <p:nvSpPr>
          <p:cNvPr id="7" name="Text 3"/>
          <p:cNvSpPr/>
          <p:nvPr/>
        </p:nvSpPr>
        <p:spPr>
          <a:xfrm>
            <a:off x="548640" y="1005840"/>
            <a:ext cx="10058400" cy="64008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Reply to a resident complaint</a:t>
            </a:r>
            <a:endParaRPr lang="en-US" sz="3000" dirty="0"/>
          </a:p>
        </p:txBody>
      </p:sp>
      <p:sp>
        <p:nvSpPr>
          <p:cNvPr id="8" name="Shape 4"/>
          <p:cNvSpPr/>
          <p:nvPr/>
        </p:nvSpPr>
        <p:spPr>
          <a:xfrm>
            <a:off x="548640" y="1691640"/>
            <a:ext cx="1280160" cy="54864"/>
          </a:xfrm>
          <a:prstGeom prst="rect">
            <a:avLst/>
          </a:prstGeom>
          <a:solidFill>
            <a:srgbClr val="FFB81C"/>
          </a:solidFill>
          <a:ln w="12700">
            <a:solidFill>
              <a:srgbClr val="FFB81C"/>
            </a:solidFill>
            <a:prstDash val="solid"/>
          </a:ln>
        </p:spPr>
        <p:txBody>
          <a:bodyPr/>
          <a:lstStyle/>
          <a:p>
            <a:endParaRPr lang="en-US"/>
          </a:p>
        </p:txBody>
      </p:sp>
      <p:sp>
        <p:nvSpPr>
          <p:cNvPr id="9" name="Shape 5"/>
          <p:cNvSpPr/>
          <p:nvPr/>
        </p:nvSpPr>
        <p:spPr>
          <a:xfrm>
            <a:off x="1920240" y="1691640"/>
            <a:ext cx="640080" cy="54864"/>
          </a:xfrm>
          <a:prstGeom prst="rect">
            <a:avLst/>
          </a:prstGeom>
          <a:solidFill>
            <a:srgbClr val="4FC3F7"/>
          </a:solidFill>
          <a:ln w="12700">
            <a:solidFill>
              <a:srgbClr val="4FC3F7"/>
            </a:solidFill>
            <a:prstDash val="solid"/>
          </a:ln>
        </p:spPr>
        <p:txBody>
          <a:bodyPr/>
          <a:lstStyle/>
          <a:p>
            <a:endParaRPr lang="en-US"/>
          </a:p>
        </p:txBody>
      </p:sp>
      <p:sp>
        <p:nvSpPr>
          <p:cNvPr id="10" name="Shape 6"/>
          <p:cNvSpPr/>
          <p:nvPr/>
        </p:nvSpPr>
        <p:spPr>
          <a:xfrm>
            <a:off x="548640" y="1920240"/>
            <a:ext cx="11064240" cy="914400"/>
          </a:xfrm>
          <a:prstGeom prst="rect">
            <a:avLst/>
          </a:prstGeom>
          <a:solidFill>
            <a:srgbClr val="0A2A44"/>
          </a:solidFill>
          <a:ln w="6350">
            <a:solidFill>
              <a:srgbClr val="1E3A5C"/>
            </a:solidFill>
            <a:prstDash val="solid"/>
          </a:ln>
        </p:spPr>
        <p:txBody>
          <a:bodyPr/>
          <a:lstStyle/>
          <a:p>
            <a:endParaRPr lang="en-US"/>
          </a:p>
        </p:txBody>
      </p:sp>
      <p:sp>
        <p:nvSpPr>
          <p:cNvPr id="11" name="Shape 7"/>
          <p:cNvSpPr/>
          <p:nvPr/>
        </p:nvSpPr>
        <p:spPr>
          <a:xfrm>
            <a:off x="548640" y="1920240"/>
            <a:ext cx="91440" cy="914400"/>
          </a:xfrm>
          <a:prstGeom prst="rect">
            <a:avLst/>
          </a:prstGeom>
          <a:solidFill>
            <a:srgbClr val="4FC3F7"/>
          </a:solidFill>
          <a:ln w="12700">
            <a:solidFill>
              <a:srgbClr val="333333"/>
            </a:solidFill>
            <a:prstDash val="solid"/>
          </a:ln>
        </p:spPr>
        <p:txBody>
          <a:bodyPr/>
          <a:lstStyle/>
          <a:p>
            <a:endParaRPr lang="en-US"/>
          </a:p>
        </p:txBody>
      </p:sp>
      <p:sp>
        <p:nvSpPr>
          <p:cNvPr id="12" name="Text 8"/>
          <p:cNvSpPr/>
          <p:nvPr/>
        </p:nvSpPr>
        <p:spPr>
          <a:xfrm>
            <a:off x="777240" y="2011680"/>
            <a:ext cx="3657600" cy="274320"/>
          </a:xfrm>
          <a:prstGeom prst="rect">
            <a:avLst/>
          </a:prstGeom>
          <a:noFill/>
          <a:ln/>
        </p:spPr>
        <p:txBody>
          <a:bodyPr wrap="square" lIns="0" tIns="0" rIns="0" bIns="0" rtlCol="0" anchor="ctr"/>
          <a:lstStyle/>
          <a:p>
            <a:pPr marL="0" indent="0">
              <a:buNone/>
            </a:pPr>
            <a:r>
              <a:rPr lang="en-US" sz="1000" b="1" kern="0" spc="300" dirty="0">
                <a:solidFill>
                  <a:srgbClr val="4FC3F7"/>
                </a:solidFill>
                <a:latin typeface="Calibri" pitchFamily="34" charset="0"/>
                <a:ea typeface="Calibri" pitchFamily="34" charset="-122"/>
                <a:cs typeface="Calibri" pitchFamily="34" charset="-120"/>
              </a:rPr>
              <a:t>SCENARIO</a:t>
            </a:r>
            <a:endParaRPr lang="en-US" sz="1000" dirty="0"/>
          </a:p>
        </p:txBody>
      </p:sp>
      <p:sp>
        <p:nvSpPr>
          <p:cNvPr id="13" name="Text 9"/>
          <p:cNvSpPr/>
          <p:nvPr/>
        </p:nvSpPr>
        <p:spPr>
          <a:xfrm>
            <a:off x="777240" y="2286000"/>
            <a:ext cx="10698480" cy="502920"/>
          </a:xfrm>
          <a:prstGeom prst="rect">
            <a:avLst/>
          </a:prstGeom>
          <a:noFill/>
          <a:ln/>
        </p:spPr>
        <p:txBody>
          <a:bodyPr wrap="square" lIns="0" tIns="0" rIns="0" bIns="0" rtlCol="0" anchor="ctr"/>
          <a:lstStyle/>
          <a:p>
            <a:pPr marL="0" indent="0">
              <a:buNone/>
            </a:pPr>
            <a:r>
              <a:rPr lang="en-US" sz="1200" dirty="0">
                <a:solidFill>
                  <a:srgbClr val="EAF2FA"/>
                </a:solidFill>
                <a:latin typeface="Calibri" pitchFamily="34" charset="0"/>
                <a:ea typeface="Calibri" pitchFamily="34" charset="-122"/>
                <a:cs typeface="Calibri" pitchFamily="34" charset="-120"/>
              </a:rPr>
              <a:t>A resident has emailed council frustrated about a missed bin collection on their street, threatening to escalate to the Mayor and local newspaper. You need to draft a reply that's empathetic, accurate and stops it escalating.</a:t>
            </a:r>
            <a:endParaRPr lang="en-US" sz="1200" dirty="0"/>
          </a:p>
        </p:txBody>
      </p:sp>
      <p:sp>
        <p:nvSpPr>
          <p:cNvPr id="14" name="Shape 10"/>
          <p:cNvSpPr/>
          <p:nvPr/>
        </p:nvSpPr>
        <p:spPr>
          <a:xfrm>
            <a:off x="548640" y="3017520"/>
            <a:ext cx="2649474" cy="2194560"/>
          </a:xfrm>
          <a:prstGeom prst="rect">
            <a:avLst/>
          </a:prstGeom>
          <a:solidFill>
            <a:srgbClr val="0A2A44"/>
          </a:solidFill>
          <a:ln w="6350">
            <a:solidFill>
              <a:srgbClr val="1E3A5C"/>
            </a:solidFill>
            <a:prstDash val="solid"/>
          </a:ln>
        </p:spPr>
        <p:txBody>
          <a:bodyPr/>
          <a:lstStyle/>
          <a:p>
            <a:endParaRPr lang="en-US"/>
          </a:p>
        </p:txBody>
      </p:sp>
      <p:sp>
        <p:nvSpPr>
          <p:cNvPr id="15" name="Shape 11"/>
          <p:cNvSpPr/>
          <p:nvPr/>
        </p:nvSpPr>
        <p:spPr>
          <a:xfrm>
            <a:off x="548640" y="3017520"/>
            <a:ext cx="2649474" cy="64008"/>
          </a:xfrm>
          <a:prstGeom prst="rect">
            <a:avLst/>
          </a:prstGeom>
          <a:solidFill>
            <a:srgbClr val="FFB81C"/>
          </a:solidFill>
          <a:ln w="12700">
            <a:solidFill>
              <a:srgbClr val="333333"/>
            </a:solidFill>
            <a:prstDash val="solid"/>
          </a:ln>
        </p:spPr>
        <p:txBody>
          <a:bodyPr/>
          <a:lstStyle/>
          <a:p>
            <a:endParaRPr lang="en-US"/>
          </a:p>
        </p:txBody>
      </p:sp>
      <p:sp>
        <p:nvSpPr>
          <p:cNvPr id="16" name="Text 12"/>
          <p:cNvSpPr/>
          <p:nvPr/>
        </p:nvSpPr>
        <p:spPr>
          <a:xfrm>
            <a:off x="731520" y="3182112"/>
            <a:ext cx="2283714" cy="320040"/>
          </a:xfrm>
          <a:prstGeom prst="rect">
            <a:avLst/>
          </a:prstGeom>
          <a:noFill/>
          <a:ln/>
        </p:spPr>
        <p:txBody>
          <a:bodyPr wrap="square" lIns="0" tIns="0" rIns="0" bIns="0" rtlCol="0" anchor="ctr"/>
          <a:lstStyle/>
          <a:p>
            <a:pPr marL="0" indent="0">
              <a:buNone/>
            </a:pPr>
            <a:r>
              <a:rPr lang="en-US" sz="1300" b="1" dirty="0">
                <a:solidFill>
                  <a:srgbClr val="FFB81C"/>
                </a:solidFill>
                <a:latin typeface="Calibri" pitchFamily="34" charset="0"/>
                <a:ea typeface="Calibri" pitchFamily="34" charset="-122"/>
                <a:cs typeface="Calibri" pitchFamily="34" charset="-120"/>
              </a:rPr>
              <a:t>G — Goal</a:t>
            </a:r>
            <a:endParaRPr lang="en-US" sz="1300" dirty="0"/>
          </a:p>
        </p:txBody>
      </p:sp>
      <p:sp>
        <p:nvSpPr>
          <p:cNvPr id="17" name="Text 13"/>
          <p:cNvSpPr/>
          <p:nvPr/>
        </p:nvSpPr>
        <p:spPr>
          <a:xfrm>
            <a:off x="731520" y="3566160"/>
            <a:ext cx="2283714" cy="1554480"/>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Draft a reply email to the resident that acknowledges the issue, explains what happened, and outlines what we're doing to fix it.</a:t>
            </a:r>
            <a:endParaRPr lang="en-US" sz="1100" dirty="0"/>
          </a:p>
        </p:txBody>
      </p:sp>
      <p:sp>
        <p:nvSpPr>
          <p:cNvPr id="18" name="Shape 14"/>
          <p:cNvSpPr/>
          <p:nvPr/>
        </p:nvSpPr>
        <p:spPr>
          <a:xfrm>
            <a:off x="3362706" y="3017520"/>
            <a:ext cx="2649474" cy="2194560"/>
          </a:xfrm>
          <a:prstGeom prst="rect">
            <a:avLst/>
          </a:prstGeom>
          <a:solidFill>
            <a:srgbClr val="0A2A44"/>
          </a:solidFill>
          <a:ln w="6350">
            <a:solidFill>
              <a:srgbClr val="1E3A5C"/>
            </a:solidFill>
            <a:prstDash val="solid"/>
          </a:ln>
        </p:spPr>
        <p:txBody>
          <a:bodyPr/>
          <a:lstStyle/>
          <a:p>
            <a:endParaRPr lang="en-US"/>
          </a:p>
        </p:txBody>
      </p:sp>
      <p:sp>
        <p:nvSpPr>
          <p:cNvPr id="19" name="Shape 15"/>
          <p:cNvSpPr/>
          <p:nvPr/>
        </p:nvSpPr>
        <p:spPr>
          <a:xfrm>
            <a:off x="3362706" y="3017520"/>
            <a:ext cx="2649474" cy="64008"/>
          </a:xfrm>
          <a:prstGeom prst="rect">
            <a:avLst/>
          </a:prstGeom>
          <a:solidFill>
            <a:srgbClr val="4FC3F7"/>
          </a:solidFill>
          <a:ln w="12700">
            <a:solidFill>
              <a:srgbClr val="333333"/>
            </a:solidFill>
            <a:prstDash val="solid"/>
          </a:ln>
        </p:spPr>
        <p:txBody>
          <a:bodyPr/>
          <a:lstStyle/>
          <a:p>
            <a:endParaRPr lang="en-US"/>
          </a:p>
        </p:txBody>
      </p:sp>
      <p:sp>
        <p:nvSpPr>
          <p:cNvPr id="20" name="Text 16"/>
          <p:cNvSpPr/>
          <p:nvPr/>
        </p:nvSpPr>
        <p:spPr>
          <a:xfrm>
            <a:off x="3545586" y="3182112"/>
            <a:ext cx="2283714" cy="320040"/>
          </a:xfrm>
          <a:prstGeom prst="rect">
            <a:avLst/>
          </a:prstGeom>
          <a:noFill/>
          <a:ln/>
        </p:spPr>
        <p:txBody>
          <a:bodyPr wrap="square" lIns="0" tIns="0" rIns="0" bIns="0"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C — Context</a:t>
            </a:r>
            <a:endParaRPr lang="en-US" sz="1300" dirty="0"/>
          </a:p>
        </p:txBody>
      </p:sp>
      <p:sp>
        <p:nvSpPr>
          <p:cNvPr id="21" name="Text 17"/>
          <p:cNvSpPr/>
          <p:nvPr/>
        </p:nvSpPr>
        <p:spPr>
          <a:xfrm>
            <a:off x="3545586" y="3566160"/>
            <a:ext cx="2283714" cy="1554480"/>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Suburb of Riverview, missed FOGO collection on Tuesday due to a truck breakdown. Make-good run scheduled Thursday. The resident, Margaret, is a long-time ratepayer and uses the Mayor's name.</a:t>
            </a:r>
            <a:endParaRPr lang="en-US" sz="1100" dirty="0"/>
          </a:p>
        </p:txBody>
      </p:sp>
      <p:sp>
        <p:nvSpPr>
          <p:cNvPr id="22" name="Shape 18"/>
          <p:cNvSpPr/>
          <p:nvPr/>
        </p:nvSpPr>
        <p:spPr>
          <a:xfrm>
            <a:off x="6176772" y="3017520"/>
            <a:ext cx="2649474" cy="2194560"/>
          </a:xfrm>
          <a:prstGeom prst="rect">
            <a:avLst/>
          </a:prstGeom>
          <a:solidFill>
            <a:srgbClr val="0A2A44"/>
          </a:solidFill>
          <a:ln w="6350">
            <a:solidFill>
              <a:srgbClr val="1E3A5C"/>
            </a:solidFill>
            <a:prstDash val="solid"/>
          </a:ln>
        </p:spPr>
        <p:txBody>
          <a:bodyPr/>
          <a:lstStyle/>
          <a:p>
            <a:endParaRPr lang="en-US"/>
          </a:p>
        </p:txBody>
      </p:sp>
      <p:sp>
        <p:nvSpPr>
          <p:cNvPr id="23" name="Shape 19"/>
          <p:cNvSpPr/>
          <p:nvPr/>
        </p:nvSpPr>
        <p:spPr>
          <a:xfrm>
            <a:off x="6176772" y="3017520"/>
            <a:ext cx="2649474" cy="64008"/>
          </a:xfrm>
          <a:prstGeom prst="rect">
            <a:avLst/>
          </a:prstGeom>
          <a:solidFill>
            <a:srgbClr val="FFB81C"/>
          </a:solidFill>
          <a:ln w="12700">
            <a:solidFill>
              <a:srgbClr val="333333"/>
            </a:solidFill>
            <a:prstDash val="solid"/>
          </a:ln>
        </p:spPr>
        <p:txBody>
          <a:bodyPr/>
          <a:lstStyle/>
          <a:p>
            <a:endParaRPr lang="en-US"/>
          </a:p>
        </p:txBody>
      </p:sp>
      <p:sp>
        <p:nvSpPr>
          <p:cNvPr id="24" name="Text 20"/>
          <p:cNvSpPr/>
          <p:nvPr/>
        </p:nvSpPr>
        <p:spPr>
          <a:xfrm>
            <a:off x="6359652" y="3182112"/>
            <a:ext cx="2283714" cy="320040"/>
          </a:xfrm>
          <a:prstGeom prst="rect">
            <a:avLst/>
          </a:prstGeom>
          <a:noFill/>
          <a:ln/>
        </p:spPr>
        <p:txBody>
          <a:bodyPr wrap="square" lIns="0" tIns="0" rIns="0" bIns="0" rtlCol="0" anchor="ctr"/>
          <a:lstStyle/>
          <a:p>
            <a:pPr marL="0" indent="0">
              <a:buNone/>
            </a:pPr>
            <a:r>
              <a:rPr lang="en-US" sz="1300" b="1" dirty="0">
                <a:solidFill>
                  <a:srgbClr val="FFB81C"/>
                </a:solidFill>
                <a:latin typeface="Calibri" pitchFamily="34" charset="0"/>
                <a:ea typeface="Calibri" pitchFamily="34" charset="-122"/>
                <a:cs typeface="Calibri" pitchFamily="34" charset="-120"/>
              </a:rPr>
              <a:t>S — Source</a:t>
            </a:r>
            <a:endParaRPr lang="en-US" sz="1300" dirty="0"/>
          </a:p>
        </p:txBody>
      </p:sp>
      <p:sp>
        <p:nvSpPr>
          <p:cNvPr id="25" name="Text 21"/>
          <p:cNvSpPr/>
          <p:nvPr/>
        </p:nvSpPr>
        <p:spPr>
          <a:xfrm>
            <a:off x="6359652" y="3566160"/>
            <a:ext cx="2283714" cy="1554480"/>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Reference the Customer Service Charter and the published waste service standards on our website.</a:t>
            </a:r>
            <a:endParaRPr lang="en-US" sz="1100" dirty="0"/>
          </a:p>
        </p:txBody>
      </p:sp>
      <p:sp>
        <p:nvSpPr>
          <p:cNvPr id="26" name="Shape 22"/>
          <p:cNvSpPr/>
          <p:nvPr/>
        </p:nvSpPr>
        <p:spPr>
          <a:xfrm>
            <a:off x="8990838" y="3017520"/>
            <a:ext cx="2649474" cy="2194560"/>
          </a:xfrm>
          <a:prstGeom prst="rect">
            <a:avLst/>
          </a:prstGeom>
          <a:solidFill>
            <a:srgbClr val="0A2A44"/>
          </a:solidFill>
          <a:ln w="6350">
            <a:solidFill>
              <a:srgbClr val="1E3A5C"/>
            </a:solidFill>
            <a:prstDash val="solid"/>
          </a:ln>
        </p:spPr>
        <p:txBody>
          <a:bodyPr/>
          <a:lstStyle/>
          <a:p>
            <a:endParaRPr lang="en-US"/>
          </a:p>
        </p:txBody>
      </p:sp>
      <p:sp>
        <p:nvSpPr>
          <p:cNvPr id="27" name="Shape 23"/>
          <p:cNvSpPr/>
          <p:nvPr/>
        </p:nvSpPr>
        <p:spPr>
          <a:xfrm>
            <a:off x="8990838" y="3017520"/>
            <a:ext cx="2649474" cy="64008"/>
          </a:xfrm>
          <a:prstGeom prst="rect">
            <a:avLst/>
          </a:prstGeom>
          <a:solidFill>
            <a:srgbClr val="4FC3F7"/>
          </a:solidFill>
          <a:ln w="12700">
            <a:solidFill>
              <a:srgbClr val="333333"/>
            </a:solidFill>
            <a:prstDash val="solid"/>
          </a:ln>
        </p:spPr>
        <p:txBody>
          <a:bodyPr/>
          <a:lstStyle/>
          <a:p>
            <a:endParaRPr lang="en-US"/>
          </a:p>
        </p:txBody>
      </p:sp>
      <p:sp>
        <p:nvSpPr>
          <p:cNvPr id="28" name="Text 24"/>
          <p:cNvSpPr/>
          <p:nvPr/>
        </p:nvSpPr>
        <p:spPr>
          <a:xfrm>
            <a:off x="9173718" y="3182112"/>
            <a:ext cx="2283714" cy="320040"/>
          </a:xfrm>
          <a:prstGeom prst="rect">
            <a:avLst/>
          </a:prstGeom>
          <a:noFill/>
          <a:ln/>
        </p:spPr>
        <p:txBody>
          <a:bodyPr wrap="square" lIns="0" tIns="0" rIns="0" bIns="0"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E — Expectation</a:t>
            </a:r>
            <a:endParaRPr lang="en-US" sz="1300" dirty="0"/>
          </a:p>
        </p:txBody>
      </p:sp>
      <p:sp>
        <p:nvSpPr>
          <p:cNvPr id="29" name="Text 25"/>
          <p:cNvSpPr/>
          <p:nvPr/>
        </p:nvSpPr>
        <p:spPr>
          <a:xfrm>
            <a:off x="9173718" y="3566160"/>
            <a:ext cx="2283714" cy="1554480"/>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Under 200 words. Warm but professional tone. Address Margaret by name. Include the make-good date, an apology, and a direct contact for follow-up. No legalese.</a:t>
            </a:r>
            <a:endParaRPr lang="en-US" sz="1100" dirty="0"/>
          </a:p>
        </p:txBody>
      </p:sp>
      <p:sp>
        <p:nvSpPr>
          <p:cNvPr id="30" name="Shape 26"/>
          <p:cNvSpPr/>
          <p:nvPr/>
        </p:nvSpPr>
        <p:spPr>
          <a:xfrm>
            <a:off x="548640" y="5349240"/>
            <a:ext cx="11064240" cy="1143000"/>
          </a:xfrm>
          <a:prstGeom prst="rect">
            <a:avLst/>
          </a:prstGeom>
          <a:solidFill>
            <a:srgbClr val="153A5C"/>
          </a:solidFill>
          <a:ln w="12700">
            <a:solidFill>
              <a:srgbClr val="FFB81C"/>
            </a:solidFill>
            <a:prstDash val="solid"/>
          </a:ln>
        </p:spPr>
        <p:txBody>
          <a:bodyPr/>
          <a:lstStyle/>
          <a:p>
            <a:endParaRPr lang="en-US"/>
          </a:p>
        </p:txBody>
      </p:sp>
      <p:sp>
        <p:nvSpPr>
          <p:cNvPr id="31" name="Shape 27"/>
          <p:cNvSpPr/>
          <p:nvPr/>
        </p:nvSpPr>
        <p:spPr>
          <a:xfrm>
            <a:off x="777240" y="5623560"/>
            <a:ext cx="594360" cy="594360"/>
          </a:xfrm>
          <a:prstGeom prst="ellipse">
            <a:avLst/>
          </a:prstGeom>
          <a:solidFill>
            <a:srgbClr val="FFB81C"/>
          </a:solidFill>
          <a:ln w="12700">
            <a:solidFill>
              <a:srgbClr val="333333"/>
            </a:solidFill>
            <a:prstDash val="solid"/>
          </a:ln>
        </p:spPr>
        <p:txBody>
          <a:bodyPr/>
          <a:lstStyle/>
          <a:p>
            <a:endParaRPr lang="en-US"/>
          </a:p>
        </p:txBody>
      </p:sp>
      <p:sp>
        <p:nvSpPr>
          <p:cNvPr id="32" name="Text 28"/>
          <p:cNvSpPr/>
          <p:nvPr/>
        </p:nvSpPr>
        <p:spPr>
          <a:xfrm>
            <a:off x="777240" y="5623560"/>
            <a:ext cx="594360" cy="594360"/>
          </a:xfrm>
          <a:prstGeom prst="rect">
            <a:avLst/>
          </a:prstGeom>
          <a:noFill/>
          <a:ln/>
        </p:spPr>
        <p:txBody>
          <a:bodyPr wrap="square" lIns="0" tIns="0" rIns="0" bIns="0" rtlCol="0" anchor="ctr"/>
          <a:lstStyle/>
          <a:p>
            <a:pPr marL="0" indent="0" algn="ctr">
              <a:buNone/>
            </a:pPr>
            <a:r>
              <a:rPr lang="en-US" sz="2400" b="1" dirty="0">
                <a:solidFill>
                  <a:srgbClr val="001F33"/>
                </a:solidFill>
                <a:latin typeface="Calibri" pitchFamily="34" charset="0"/>
                <a:ea typeface="Calibri" pitchFamily="34" charset="-122"/>
                <a:cs typeface="Calibri" pitchFamily="34" charset="-120"/>
              </a:rPr>
              <a:t>→</a:t>
            </a:r>
            <a:endParaRPr lang="en-US" sz="2400" dirty="0"/>
          </a:p>
        </p:txBody>
      </p:sp>
      <p:sp>
        <p:nvSpPr>
          <p:cNvPr id="33" name="Text 29"/>
          <p:cNvSpPr/>
          <p:nvPr/>
        </p:nvSpPr>
        <p:spPr>
          <a:xfrm>
            <a:off x="1554480" y="5513832"/>
            <a:ext cx="5486400" cy="274320"/>
          </a:xfrm>
          <a:prstGeom prst="rect">
            <a:avLst/>
          </a:prstGeom>
          <a:noFill/>
          <a:ln/>
        </p:spPr>
        <p:txBody>
          <a:bodyPr wrap="square" lIns="0" tIns="0" rIns="0" bIns="0" rtlCol="0" anchor="ctr"/>
          <a:lstStyle/>
          <a:p>
            <a:pPr marL="0" indent="0">
              <a:buNone/>
            </a:pPr>
            <a:r>
              <a:rPr lang="en-US" sz="1100" b="1" kern="0" spc="300" dirty="0">
                <a:solidFill>
                  <a:srgbClr val="FFB81C"/>
                </a:solidFill>
                <a:latin typeface="Calibri" pitchFamily="34" charset="0"/>
                <a:ea typeface="Calibri" pitchFamily="34" charset="-122"/>
                <a:cs typeface="Calibri" pitchFamily="34" charset="-120"/>
              </a:rPr>
              <a:t>TRY THIS NOW</a:t>
            </a:r>
            <a:endParaRPr lang="en-US" sz="1100" dirty="0"/>
          </a:p>
        </p:txBody>
      </p:sp>
      <p:sp>
        <p:nvSpPr>
          <p:cNvPr id="34" name="Text 30"/>
          <p:cNvSpPr/>
          <p:nvPr/>
        </p:nvSpPr>
        <p:spPr>
          <a:xfrm>
            <a:off x="1554480" y="5806440"/>
            <a:ext cx="10058400" cy="59436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Open Copilot Chat. Type your full GCSE prompt above. Compare what you get back with a 'just write a reply email' prompt — notice the difference in tone, specificity and confidence.</a:t>
            </a:r>
            <a:endParaRPr lang="en-US" sz="1300" dirty="0"/>
          </a:p>
        </p:txBody>
      </p:sp>
      <p:sp>
        <p:nvSpPr>
          <p:cNvPr id="35" name="Text 31"/>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8 / 40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Shape 1"/>
          <p:cNvSpPr/>
          <p:nvPr/>
        </p:nvSpPr>
        <p:spPr>
          <a:xfrm>
            <a:off x="548640" y="502920"/>
            <a:ext cx="2194560" cy="411480"/>
          </a:xfrm>
          <a:prstGeom prst="rect">
            <a:avLst/>
          </a:prstGeom>
          <a:solidFill>
            <a:srgbClr val="FFB81C"/>
          </a:solidFill>
          <a:ln w="12700">
            <a:solidFill>
              <a:srgbClr val="333333"/>
            </a:solidFill>
            <a:prstDash val="solid"/>
          </a:ln>
        </p:spPr>
        <p:txBody>
          <a:bodyPr/>
          <a:lstStyle/>
          <a:p>
            <a:endParaRPr lang="en-US"/>
          </a:p>
        </p:txBody>
      </p:sp>
      <p:sp>
        <p:nvSpPr>
          <p:cNvPr id="6" name="Text 2"/>
          <p:cNvSpPr/>
          <p:nvPr/>
        </p:nvSpPr>
        <p:spPr>
          <a:xfrm>
            <a:off x="548640" y="502920"/>
            <a:ext cx="2194560" cy="411480"/>
          </a:xfrm>
          <a:prstGeom prst="rect">
            <a:avLst/>
          </a:prstGeom>
          <a:noFill/>
          <a:ln/>
        </p:spPr>
        <p:txBody>
          <a:bodyPr wrap="square" lIns="0" tIns="0" rIns="0" bIns="0" rtlCol="0" anchor="ctr"/>
          <a:lstStyle/>
          <a:p>
            <a:pPr marL="0" indent="0" algn="ctr">
              <a:buNone/>
            </a:pPr>
            <a:r>
              <a:rPr lang="en-US" sz="1200" b="1" kern="0" spc="300" dirty="0">
                <a:solidFill>
                  <a:srgbClr val="001F33"/>
                </a:solidFill>
                <a:latin typeface="Calibri" pitchFamily="34" charset="0"/>
                <a:ea typeface="Calibri" pitchFamily="34" charset="-122"/>
                <a:cs typeface="Calibri" pitchFamily="34" charset="-120"/>
              </a:rPr>
              <a:t>HANDS-ON 2</a:t>
            </a:r>
            <a:endParaRPr lang="en-US" sz="1200" dirty="0"/>
          </a:p>
        </p:txBody>
      </p:sp>
      <p:sp>
        <p:nvSpPr>
          <p:cNvPr id="7" name="Text 3"/>
          <p:cNvSpPr/>
          <p:nvPr/>
        </p:nvSpPr>
        <p:spPr>
          <a:xfrm>
            <a:off x="548640" y="1005840"/>
            <a:ext cx="10058400" cy="64008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Turn a long report into a council briefing note</a:t>
            </a:r>
            <a:endParaRPr lang="en-US" sz="3000" dirty="0"/>
          </a:p>
        </p:txBody>
      </p:sp>
      <p:sp>
        <p:nvSpPr>
          <p:cNvPr id="8" name="Shape 4"/>
          <p:cNvSpPr/>
          <p:nvPr/>
        </p:nvSpPr>
        <p:spPr>
          <a:xfrm>
            <a:off x="548640" y="1691640"/>
            <a:ext cx="1280160" cy="54864"/>
          </a:xfrm>
          <a:prstGeom prst="rect">
            <a:avLst/>
          </a:prstGeom>
          <a:solidFill>
            <a:srgbClr val="FFB81C"/>
          </a:solidFill>
          <a:ln w="12700">
            <a:solidFill>
              <a:srgbClr val="FFB81C"/>
            </a:solidFill>
            <a:prstDash val="solid"/>
          </a:ln>
        </p:spPr>
        <p:txBody>
          <a:bodyPr/>
          <a:lstStyle/>
          <a:p>
            <a:endParaRPr lang="en-US"/>
          </a:p>
        </p:txBody>
      </p:sp>
      <p:sp>
        <p:nvSpPr>
          <p:cNvPr id="9" name="Shape 5"/>
          <p:cNvSpPr/>
          <p:nvPr/>
        </p:nvSpPr>
        <p:spPr>
          <a:xfrm>
            <a:off x="1920240" y="1691640"/>
            <a:ext cx="640080" cy="54864"/>
          </a:xfrm>
          <a:prstGeom prst="rect">
            <a:avLst/>
          </a:prstGeom>
          <a:solidFill>
            <a:srgbClr val="4FC3F7"/>
          </a:solidFill>
          <a:ln w="12700">
            <a:solidFill>
              <a:srgbClr val="4FC3F7"/>
            </a:solidFill>
            <a:prstDash val="solid"/>
          </a:ln>
        </p:spPr>
        <p:txBody>
          <a:bodyPr/>
          <a:lstStyle/>
          <a:p>
            <a:endParaRPr lang="en-US"/>
          </a:p>
        </p:txBody>
      </p:sp>
      <p:sp>
        <p:nvSpPr>
          <p:cNvPr id="10" name="Shape 6"/>
          <p:cNvSpPr/>
          <p:nvPr/>
        </p:nvSpPr>
        <p:spPr>
          <a:xfrm>
            <a:off x="548640" y="1920240"/>
            <a:ext cx="11064240" cy="914400"/>
          </a:xfrm>
          <a:prstGeom prst="rect">
            <a:avLst/>
          </a:prstGeom>
          <a:solidFill>
            <a:srgbClr val="0A2A44"/>
          </a:solidFill>
          <a:ln w="6350">
            <a:solidFill>
              <a:srgbClr val="1E3A5C"/>
            </a:solidFill>
            <a:prstDash val="solid"/>
          </a:ln>
        </p:spPr>
        <p:txBody>
          <a:bodyPr/>
          <a:lstStyle/>
          <a:p>
            <a:endParaRPr lang="en-US"/>
          </a:p>
        </p:txBody>
      </p:sp>
      <p:sp>
        <p:nvSpPr>
          <p:cNvPr id="11" name="Shape 7"/>
          <p:cNvSpPr/>
          <p:nvPr/>
        </p:nvSpPr>
        <p:spPr>
          <a:xfrm>
            <a:off x="548640" y="1920240"/>
            <a:ext cx="91440" cy="914400"/>
          </a:xfrm>
          <a:prstGeom prst="rect">
            <a:avLst/>
          </a:prstGeom>
          <a:solidFill>
            <a:srgbClr val="4FC3F7"/>
          </a:solidFill>
          <a:ln w="12700">
            <a:solidFill>
              <a:srgbClr val="333333"/>
            </a:solidFill>
            <a:prstDash val="solid"/>
          </a:ln>
        </p:spPr>
        <p:txBody>
          <a:bodyPr/>
          <a:lstStyle/>
          <a:p>
            <a:endParaRPr lang="en-US"/>
          </a:p>
        </p:txBody>
      </p:sp>
      <p:sp>
        <p:nvSpPr>
          <p:cNvPr id="12" name="Text 8"/>
          <p:cNvSpPr/>
          <p:nvPr/>
        </p:nvSpPr>
        <p:spPr>
          <a:xfrm>
            <a:off x="777240" y="2011680"/>
            <a:ext cx="3657600" cy="274320"/>
          </a:xfrm>
          <a:prstGeom prst="rect">
            <a:avLst/>
          </a:prstGeom>
          <a:noFill/>
          <a:ln/>
        </p:spPr>
        <p:txBody>
          <a:bodyPr wrap="square" lIns="0" tIns="0" rIns="0" bIns="0" rtlCol="0" anchor="ctr"/>
          <a:lstStyle/>
          <a:p>
            <a:pPr marL="0" indent="0">
              <a:buNone/>
            </a:pPr>
            <a:r>
              <a:rPr lang="en-US" sz="1000" b="1" kern="0" spc="300" dirty="0">
                <a:solidFill>
                  <a:srgbClr val="4FC3F7"/>
                </a:solidFill>
                <a:latin typeface="Calibri" pitchFamily="34" charset="0"/>
                <a:ea typeface="Calibri" pitchFamily="34" charset="-122"/>
                <a:cs typeface="Calibri" pitchFamily="34" charset="-120"/>
              </a:rPr>
              <a:t>SCENARIO</a:t>
            </a:r>
            <a:endParaRPr lang="en-US" sz="1000" dirty="0"/>
          </a:p>
        </p:txBody>
      </p:sp>
      <p:sp>
        <p:nvSpPr>
          <p:cNvPr id="13" name="Text 9"/>
          <p:cNvSpPr/>
          <p:nvPr/>
        </p:nvSpPr>
        <p:spPr>
          <a:xfrm>
            <a:off x="777240" y="2286000"/>
            <a:ext cx="10698480" cy="502920"/>
          </a:xfrm>
          <a:prstGeom prst="rect">
            <a:avLst/>
          </a:prstGeom>
          <a:noFill/>
          <a:ln/>
        </p:spPr>
        <p:txBody>
          <a:bodyPr wrap="square" lIns="0" tIns="0" rIns="0" bIns="0" rtlCol="0" anchor="ctr"/>
          <a:lstStyle/>
          <a:p>
            <a:pPr marL="0" indent="0">
              <a:buNone/>
            </a:pPr>
            <a:r>
              <a:rPr lang="en-US" sz="1200" dirty="0">
                <a:solidFill>
                  <a:srgbClr val="EAF2FA"/>
                </a:solidFill>
                <a:latin typeface="Calibri" pitchFamily="34" charset="0"/>
                <a:ea typeface="Calibri" pitchFamily="34" charset="-122"/>
                <a:cs typeface="Calibri" pitchFamily="34" charset="-120"/>
              </a:rPr>
              <a:t>The CEO has asked for a one-page briefing on a 40-page consultant's report into your council's customer experience. You need it before the executive team meeting tomorrow morning.</a:t>
            </a:r>
            <a:endParaRPr lang="en-US" sz="1200" dirty="0"/>
          </a:p>
        </p:txBody>
      </p:sp>
      <p:sp>
        <p:nvSpPr>
          <p:cNvPr id="14" name="Shape 10"/>
          <p:cNvSpPr/>
          <p:nvPr/>
        </p:nvSpPr>
        <p:spPr>
          <a:xfrm>
            <a:off x="548640" y="3017520"/>
            <a:ext cx="2649474" cy="2194560"/>
          </a:xfrm>
          <a:prstGeom prst="rect">
            <a:avLst/>
          </a:prstGeom>
          <a:solidFill>
            <a:srgbClr val="0A2A44"/>
          </a:solidFill>
          <a:ln w="6350">
            <a:solidFill>
              <a:srgbClr val="1E3A5C"/>
            </a:solidFill>
            <a:prstDash val="solid"/>
          </a:ln>
        </p:spPr>
        <p:txBody>
          <a:bodyPr/>
          <a:lstStyle/>
          <a:p>
            <a:endParaRPr lang="en-US"/>
          </a:p>
        </p:txBody>
      </p:sp>
      <p:sp>
        <p:nvSpPr>
          <p:cNvPr id="15" name="Shape 11"/>
          <p:cNvSpPr/>
          <p:nvPr/>
        </p:nvSpPr>
        <p:spPr>
          <a:xfrm>
            <a:off x="548640" y="3017520"/>
            <a:ext cx="2649474" cy="64008"/>
          </a:xfrm>
          <a:prstGeom prst="rect">
            <a:avLst/>
          </a:prstGeom>
          <a:solidFill>
            <a:srgbClr val="FFB81C"/>
          </a:solidFill>
          <a:ln w="12700">
            <a:solidFill>
              <a:srgbClr val="333333"/>
            </a:solidFill>
            <a:prstDash val="solid"/>
          </a:ln>
        </p:spPr>
        <p:txBody>
          <a:bodyPr/>
          <a:lstStyle/>
          <a:p>
            <a:endParaRPr lang="en-US"/>
          </a:p>
        </p:txBody>
      </p:sp>
      <p:sp>
        <p:nvSpPr>
          <p:cNvPr id="16" name="Text 12"/>
          <p:cNvSpPr/>
          <p:nvPr/>
        </p:nvSpPr>
        <p:spPr>
          <a:xfrm>
            <a:off x="731520" y="3182112"/>
            <a:ext cx="2283714" cy="320040"/>
          </a:xfrm>
          <a:prstGeom prst="rect">
            <a:avLst/>
          </a:prstGeom>
          <a:noFill/>
          <a:ln/>
        </p:spPr>
        <p:txBody>
          <a:bodyPr wrap="square" lIns="0" tIns="0" rIns="0" bIns="0" rtlCol="0" anchor="ctr"/>
          <a:lstStyle/>
          <a:p>
            <a:pPr marL="0" indent="0">
              <a:buNone/>
            </a:pPr>
            <a:r>
              <a:rPr lang="en-US" sz="1300" b="1" dirty="0">
                <a:solidFill>
                  <a:srgbClr val="FFB81C"/>
                </a:solidFill>
                <a:latin typeface="Calibri" pitchFamily="34" charset="0"/>
                <a:ea typeface="Calibri" pitchFamily="34" charset="-122"/>
                <a:cs typeface="Calibri" pitchFamily="34" charset="-120"/>
              </a:rPr>
              <a:t>G — Goal</a:t>
            </a:r>
            <a:endParaRPr lang="en-US" sz="1300" dirty="0"/>
          </a:p>
        </p:txBody>
      </p:sp>
      <p:sp>
        <p:nvSpPr>
          <p:cNvPr id="17" name="Text 13"/>
          <p:cNvSpPr/>
          <p:nvPr/>
        </p:nvSpPr>
        <p:spPr>
          <a:xfrm>
            <a:off x="731520" y="3566160"/>
            <a:ext cx="2283714" cy="1554480"/>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Read the attached customer experience report and produce a one-page briefing note for the executive team.</a:t>
            </a:r>
            <a:endParaRPr lang="en-US" sz="1100" dirty="0"/>
          </a:p>
        </p:txBody>
      </p:sp>
      <p:sp>
        <p:nvSpPr>
          <p:cNvPr id="18" name="Shape 14"/>
          <p:cNvSpPr/>
          <p:nvPr/>
        </p:nvSpPr>
        <p:spPr>
          <a:xfrm>
            <a:off x="3362706" y="3017520"/>
            <a:ext cx="2649474" cy="2194560"/>
          </a:xfrm>
          <a:prstGeom prst="rect">
            <a:avLst/>
          </a:prstGeom>
          <a:solidFill>
            <a:srgbClr val="0A2A44"/>
          </a:solidFill>
          <a:ln w="6350">
            <a:solidFill>
              <a:srgbClr val="1E3A5C"/>
            </a:solidFill>
            <a:prstDash val="solid"/>
          </a:ln>
        </p:spPr>
        <p:txBody>
          <a:bodyPr/>
          <a:lstStyle/>
          <a:p>
            <a:endParaRPr lang="en-US"/>
          </a:p>
        </p:txBody>
      </p:sp>
      <p:sp>
        <p:nvSpPr>
          <p:cNvPr id="19" name="Shape 15"/>
          <p:cNvSpPr/>
          <p:nvPr/>
        </p:nvSpPr>
        <p:spPr>
          <a:xfrm>
            <a:off x="3362706" y="3017520"/>
            <a:ext cx="2649474" cy="64008"/>
          </a:xfrm>
          <a:prstGeom prst="rect">
            <a:avLst/>
          </a:prstGeom>
          <a:solidFill>
            <a:srgbClr val="4FC3F7"/>
          </a:solidFill>
          <a:ln w="12700">
            <a:solidFill>
              <a:srgbClr val="333333"/>
            </a:solidFill>
            <a:prstDash val="solid"/>
          </a:ln>
        </p:spPr>
        <p:txBody>
          <a:bodyPr/>
          <a:lstStyle/>
          <a:p>
            <a:endParaRPr lang="en-US"/>
          </a:p>
        </p:txBody>
      </p:sp>
      <p:sp>
        <p:nvSpPr>
          <p:cNvPr id="20" name="Text 16"/>
          <p:cNvSpPr/>
          <p:nvPr/>
        </p:nvSpPr>
        <p:spPr>
          <a:xfrm>
            <a:off x="3545586" y="3182112"/>
            <a:ext cx="2283714" cy="320040"/>
          </a:xfrm>
          <a:prstGeom prst="rect">
            <a:avLst/>
          </a:prstGeom>
          <a:noFill/>
          <a:ln/>
        </p:spPr>
        <p:txBody>
          <a:bodyPr wrap="square" lIns="0" tIns="0" rIns="0" bIns="0"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C — Context</a:t>
            </a:r>
            <a:endParaRPr lang="en-US" sz="1300" dirty="0"/>
          </a:p>
        </p:txBody>
      </p:sp>
      <p:sp>
        <p:nvSpPr>
          <p:cNvPr id="21" name="Text 17"/>
          <p:cNvSpPr/>
          <p:nvPr/>
        </p:nvSpPr>
        <p:spPr>
          <a:xfrm>
            <a:off x="3545586" y="3566160"/>
            <a:ext cx="2283714" cy="1554480"/>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Audience is the CEO and 6 Directors. They are time-poor, want recommendations they can decide on, and care about ratepayer impact, cost, and risk.</a:t>
            </a:r>
            <a:endParaRPr lang="en-US" sz="1100" dirty="0"/>
          </a:p>
        </p:txBody>
      </p:sp>
      <p:sp>
        <p:nvSpPr>
          <p:cNvPr id="22" name="Shape 18"/>
          <p:cNvSpPr/>
          <p:nvPr/>
        </p:nvSpPr>
        <p:spPr>
          <a:xfrm>
            <a:off x="6176772" y="3017520"/>
            <a:ext cx="2649474" cy="2194560"/>
          </a:xfrm>
          <a:prstGeom prst="rect">
            <a:avLst/>
          </a:prstGeom>
          <a:solidFill>
            <a:srgbClr val="0A2A44"/>
          </a:solidFill>
          <a:ln w="6350">
            <a:solidFill>
              <a:srgbClr val="1E3A5C"/>
            </a:solidFill>
            <a:prstDash val="solid"/>
          </a:ln>
        </p:spPr>
        <p:txBody>
          <a:bodyPr/>
          <a:lstStyle/>
          <a:p>
            <a:endParaRPr lang="en-US"/>
          </a:p>
        </p:txBody>
      </p:sp>
      <p:sp>
        <p:nvSpPr>
          <p:cNvPr id="23" name="Shape 19"/>
          <p:cNvSpPr/>
          <p:nvPr/>
        </p:nvSpPr>
        <p:spPr>
          <a:xfrm>
            <a:off x="6176772" y="3017520"/>
            <a:ext cx="2649474" cy="64008"/>
          </a:xfrm>
          <a:prstGeom prst="rect">
            <a:avLst/>
          </a:prstGeom>
          <a:solidFill>
            <a:srgbClr val="FFB81C"/>
          </a:solidFill>
          <a:ln w="12700">
            <a:solidFill>
              <a:srgbClr val="333333"/>
            </a:solidFill>
            <a:prstDash val="solid"/>
          </a:ln>
        </p:spPr>
        <p:txBody>
          <a:bodyPr/>
          <a:lstStyle/>
          <a:p>
            <a:endParaRPr lang="en-US"/>
          </a:p>
        </p:txBody>
      </p:sp>
      <p:sp>
        <p:nvSpPr>
          <p:cNvPr id="24" name="Text 20"/>
          <p:cNvSpPr/>
          <p:nvPr/>
        </p:nvSpPr>
        <p:spPr>
          <a:xfrm>
            <a:off x="6359652" y="3182112"/>
            <a:ext cx="2283714" cy="320040"/>
          </a:xfrm>
          <a:prstGeom prst="rect">
            <a:avLst/>
          </a:prstGeom>
          <a:noFill/>
          <a:ln/>
        </p:spPr>
        <p:txBody>
          <a:bodyPr wrap="square" lIns="0" tIns="0" rIns="0" bIns="0" rtlCol="0" anchor="ctr"/>
          <a:lstStyle/>
          <a:p>
            <a:pPr marL="0" indent="0">
              <a:buNone/>
            </a:pPr>
            <a:r>
              <a:rPr lang="en-US" sz="1300" b="1" dirty="0">
                <a:solidFill>
                  <a:srgbClr val="FFB81C"/>
                </a:solidFill>
                <a:latin typeface="Calibri" pitchFamily="34" charset="0"/>
                <a:ea typeface="Calibri" pitchFamily="34" charset="-122"/>
                <a:cs typeface="Calibri" pitchFamily="34" charset="-120"/>
              </a:rPr>
              <a:t>S — Source</a:t>
            </a:r>
            <a:endParaRPr lang="en-US" sz="1300" dirty="0"/>
          </a:p>
        </p:txBody>
      </p:sp>
      <p:sp>
        <p:nvSpPr>
          <p:cNvPr id="25" name="Text 21"/>
          <p:cNvSpPr/>
          <p:nvPr/>
        </p:nvSpPr>
        <p:spPr>
          <a:xfrm>
            <a:off x="6359652" y="3566160"/>
            <a:ext cx="2283714" cy="1554480"/>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Use only the attached report — do not invent figures. Quote page numbers for every statistic you cite.</a:t>
            </a:r>
            <a:endParaRPr lang="en-US" sz="1100" dirty="0"/>
          </a:p>
        </p:txBody>
      </p:sp>
      <p:sp>
        <p:nvSpPr>
          <p:cNvPr id="26" name="Shape 22"/>
          <p:cNvSpPr/>
          <p:nvPr/>
        </p:nvSpPr>
        <p:spPr>
          <a:xfrm>
            <a:off x="8990838" y="3017520"/>
            <a:ext cx="2649474" cy="2194560"/>
          </a:xfrm>
          <a:prstGeom prst="rect">
            <a:avLst/>
          </a:prstGeom>
          <a:solidFill>
            <a:srgbClr val="0A2A44"/>
          </a:solidFill>
          <a:ln w="6350">
            <a:solidFill>
              <a:srgbClr val="1E3A5C"/>
            </a:solidFill>
            <a:prstDash val="solid"/>
          </a:ln>
        </p:spPr>
        <p:txBody>
          <a:bodyPr/>
          <a:lstStyle/>
          <a:p>
            <a:endParaRPr lang="en-US"/>
          </a:p>
        </p:txBody>
      </p:sp>
      <p:sp>
        <p:nvSpPr>
          <p:cNvPr id="27" name="Shape 23"/>
          <p:cNvSpPr/>
          <p:nvPr/>
        </p:nvSpPr>
        <p:spPr>
          <a:xfrm>
            <a:off x="8990838" y="3017520"/>
            <a:ext cx="2649474" cy="64008"/>
          </a:xfrm>
          <a:prstGeom prst="rect">
            <a:avLst/>
          </a:prstGeom>
          <a:solidFill>
            <a:srgbClr val="4FC3F7"/>
          </a:solidFill>
          <a:ln w="12700">
            <a:solidFill>
              <a:srgbClr val="333333"/>
            </a:solidFill>
            <a:prstDash val="solid"/>
          </a:ln>
        </p:spPr>
        <p:txBody>
          <a:bodyPr/>
          <a:lstStyle/>
          <a:p>
            <a:endParaRPr lang="en-US"/>
          </a:p>
        </p:txBody>
      </p:sp>
      <p:sp>
        <p:nvSpPr>
          <p:cNvPr id="28" name="Text 24"/>
          <p:cNvSpPr/>
          <p:nvPr/>
        </p:nvSpPr>
        <p:spPr>
          <a:xfrm>
            <a:off x="9173718" y="3182112"/>
            <a:ext cx="2283714" cy="320040"/>
          </a:xfrm>
          <a:prstGeom prst="rect">
            <a:avLst/>
          </a:prstGeom>
          <a:noFill/>
          <a:ln/>
        </p:spPr>
        <p:txBody>
          <a:bodyPr wrap="square" lIns="0" tIns="0" rIns="0" bIns="0"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E — Expectation</a:t>
            </a:r>
            <a:endParaRPr lang="en-US" sz="1300" dirty="0"/>
          </a:p>
        </p:txBody>
      </p:sp>
      <p:sp>
        <p:nvSpPr>
          <p:cNvPr id="29" name="Text 25"/>
          <p:cNvSpPr/>
          <p:nvPr/>
        </p:nvSpPr>
        <p:spPr>
          <a:xfrm>
            <a:off x="9173718" y="3566160"/>
            <a:ext cx="2283714" cy="1554480"/>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One page, max 400 words. Headings: Purpose, Key Findings (3 bullets), Recommendations (3 bullets), Risks, Next Steps. Plain English. Formal but readable.</a:t>
            </a:r>
            <a:endParaRPr lang="en-US" sz="1100" dirty="0"/>
          </a:p>
        </p:txBody>
      </p:sp>
      <p:sp>
        <p:nvSpPr>
          <p:cNvPr id="30" name="Shape 26"/>
          <p:cNvSpPr/>
          <p:nvPr/>
        </p:nvSpPr>
        <p:spPr>
          <a:xfrm>
            <a:off x="548640" y="5349240"/>
            <a:ext cx="11064240" cy="1143000"/>
          </a:xfrm>
          <a:prstGeom prst="rect">
            <a:avLst/>
          </a:prstGeom>
          <a:solidFill>
            <a:srgbClr val="153A5C"/>
          </a:solidFill>
          <a:ln w="12700">
            <a:solidFill>
              <a:srgbClr val="FFB81C"/>
            </a:solidFill>
            <a:prstDash val="solid"/>
          </a:ln>
        </p:spPr>
        <p:txBody>
          <a:bodyPr/>
          <a:lstStyle/>
          <a:p>
            <a:endParaRPr lang="en-US"/>
          </a:p>
        </p:txBody>
      </p:sp>
      <p:sp>
        <p:nvSpPr>
          <p:cNvPr id="31" name="Shape 27"/>
          <p:cNvSpPr/>
          <p:nvPr/>
        </p:nvSpPr>
        <p:spPr>
          <a:xfrm>
            <a:off x="777240" y="5623560"/>
            <a:ext cx="594360" cy="594360"/>
          </a:xfrm>
          <a:prstGeom prst="ellipse">
            <a:avLst/>
          </a:prstGeom>
          <a:solidFill>
            <a:srgbClr val="FFB81C"/>
          </a:solidFill>
          <a:ln w="12700">
            <a:solidFill>
              <a:srgbClr val="333333"/>
            </a:solidFill>
            <a:prstDash val="solid"/>
          </a:ln>
        </p:spPr>
        <p:txBody>
          <a:bodyPr/>
          <a:lstStyle/>
          <a:p>
            <a:endParaRPr lang="en-US"/>
          </a:p>
        </p:txBody>
      </p:sp>
      <p:sp>
        <p:nvSpPr>
          <p:cNvPr id="32" name="Text 28"/>
          <p:cNvSpPr/>
          <p:nvPr/>
        </p:nvSpPr>
        <p:spPr>
          <a:xfrm>
            <a:off x="777240" y="5623560"/>
            <a:ext cx="594360" cy="594360"/>
          </a:xfrm>
          <a:prstGeom prst="rect">
            <a:avLst/>
          </a:prstGeom>
          <a:noFill/>
          <a:ln/>
        </p:spPr>
        <p:txBody>
          <a:bodyPr wrap="square" lIns="0" tIns="0" rIns="0" bIns="0" rtlCol="0" anchor="ctr"/>
          <a:lstStyle/>
          <a:p>
            <a:pPr marL="0" indent="0" algn="ctr">
              <a:buNone/>
            </a:pPr>
            <a:r>
              <a:rPr lang="en-US" sz="2400" b="1" dirty="0">
                <a:solidFill>
                  <a:srgbClr val="001F33"/>
                </a:solidFill>
                <a:latin typeface="Calibri" pitchFamily="34" charset="0"/>
                <a:ea typeface="Calibri" pitchFamily="34" charset="-122"/>
                <a:cs typeface="Calibri" pitchFamily="34" charset="-120"/>
              </a:rPr>
              <a:t>→</a:t>
            </a:r>
            <a:endParaRPr lang="en-US" sz="2400" dirty="0"/>
          </a:p>
        </p:txBody>
      </p:sp>
      <p:sp>
        <p:nvSpPr>
          <p:cNvPr id="33" name="Text 29"/>
          <p:cNvSpPr/>
          <p:nvPr/>
        </p:nvSpPr>
        <p:spPr>
          <a:xfrm>
            <a:off x="1554480" y="5513832"/>
            <a:ext cx="5486400" cy="274320"/>
          </a:xfrm>
          <a:prstGeom prst="rect">
            <a:avLst/>
          </a:prstGeom>
          <a:noFill/>
          <a:ln/>
        </p:spPr>
        <p:txBody>
          <a:bodyPr wrap="square" lIns="0" tIns="0" rIns="0" bIns="0" rtlCol="0" anchor="ctr"/>
          <a:lstStyle/>
          <a:p>
            <a:pPr marL="0" indent="0">
              <a:buNone/>
            </a:pPr>
            <a:r>
              <a:rPr lang="en-US" sz="1100" b="1" kern="0" spc="300" dirty="0">
                <a:solidFill>
                  <a:srgbClr val="FFB81C"/>
                </a:solidFill>
                <a:latin typeface="Calibri" pitchFamily="34" charset="0"/>
                <a:ea typeface="Calibri" pitchFamily="34" charset="-122"/>
                <a:cs typeface="Calibri" pitchFamily="34" charset="-120"/>
              </a:rPr>
              <a:t>TRY THIS NOW</a:t>
            </a:r>
            <a:endParaRPr lang="en-US" sz="1100" dirty="0"/>
          </a:p>
        </p:txBody>
      </p:sp>
      <p:sp>
        <p:nvSpPr>
          <p:cNvPr id="34" name="Text 30"/>
          <p:cNvSpPr/>
          <p:nvPr/>
        </p:nvSpPr>
        <p:spPr>
          <a:xfrm>
            <a:off x="1554480" y="5806440"/>
            <a:ext cx="10058400" cy="59436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Attach a long report to Copilot Chat using '/'. Run the GCSE prompt. Then ask: "What did you leave out and why?" — this is how you stress-test the summary.</a:t>
            </a:r>
            <a:endParaRPr lang="en-US" sz="1300" dirty="0"/>
          </a:p>
        </p:txBody>
      </p:sp>
      <p:sp>
        <p:nvSpPr>
          <p:cNvPr id="35" name="Text 31"/>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9 / 40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Shape 1"/>
          <p:cNvSpPr/>
          <p:nvPr/>
        </p:nvSpPr>
        <p:spPr>
          <a:xfrm>
            <a:off x="548640" y="502920"/>
            <a:ext cx="2194560" cy="411480"/>
          </a:xfrm>
          <a:prstGeom prst="rect">
            <a:avLst/>
          </a:prstGeom>
          <a:solidFill>
            <a:srgbClr val="FFB81C"/>
          </a:solidFill>
          <a:ln w="12700">
            <a:solidFill>
              <a:srgbClr val="333333"/>
            </a:solidFill>
            <a:prstDash val="solid"/>
          </a:ln>
        </p:spPr>
        <p:txBody>
          <a:bodyPr/>
          <a:lstStyle/>
          <a:p>
            <a:endParaRPr lang="en-US"/>
          </a:p>
        </p:txBody>
      </p:sp>
      <p:sp>
        <p:nvSpPr>
          <p:cNvPr id="6" name="Text 2"/>
          <p:cNvSpPr/>
          <p:nvPr/>
        </p:nvSpPr>
        <p:spPr>
          <a:xfrm>
            <a:off x="548640" y="502920"/>
            <a:ext cx="2194560" cy="411480"/>
          </a:xfrm>
          <a:prstGeom prst="rect">
            <a:avLst/>
          </a:prstGeom>
          <a:noFill/>
          <a:ln/>
        </p:spPr>
        <p:txBody>
          <a:bodyPr wrap="square" lIns="0" tIns="0" rIns="0" bIns="0" rtlCol="0" anchor="ctr"/>
          <a:lstStyle/>
          <a:p>
            <a:pPr marL="0" indent="0" algn="ctr">
              <a:buNone/>
            </a:pPr>
            <a:r>
              <a:rPr lang="en-US" sz="1200" b="1" kern="0" spc="300" dirty="0">
                <a:solidFill>
                  <a:srgbClr val="001F33"/>
                </a:solidFill>
                <a:latin typeface="Calibri" pitchFamily="34" charset="0"/>
                <a:ea typeface="Calibri" pitchFamily="34" charset="-122"/>
                <a:cs typeface="Calibri" pitchFamily="34" charset="-120"/>
              </a:rPr>
              <a:t>HANDS-ON 3</a:t>
            </a:r>
            <a:endParaRPr lang="en-US" sz="1200" dirty="0"/>
          </a:p>
        </p:txBody>
      </p:sp>
      <p:sp>
        <p:nvSpPr>
          <p:cNvPr id="7" name="Text 3"/>
          <p:cNvSpPr/>
          <p:nvPr/>
        </p:nvSpPr>
        <p:spPr>
          <a:xfrm>
            <a:off x="548640" y="1005840"/>
            <a:ext cx="10058400" cy="64008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Analyse community survey responses</a:t>
            </a:r>
            <a:endParaRPr lang="en-US" sz="3000" dirty="0"/>
          </a:p>
        </p:txBody>
      </p:sp>
      <p:sp>
        <p:nvSpPr>
          <p:cNvPr id="8" name="Shape 4"/>
          <p:cNvSpPr/>
          <p:nvPr/>
        </p:nvSpPr>
        <p:spPr>
          <a:xfrm>
            <a:off x="548640" y="1691640"/>
            <a:ext cx="1280160" cy="54864"/>
          </a:xfrm>
          <a:prstGeom prst="rect">
            <a:avLst/>
          </a:prstGeom>
          <a:solidFill>
            <a:srgbClr val="FFB81C"/>
          </a:solidFill>
          <a:ln w="12700">
            <a:solidFill>
              <a:srgbClr val="FFB81C"/>
            </a:solidFill>
            <a:prstDash val="solid"/>
          </a:ln>
        </p:spPr>
        <p:txBody>
          <a:bodyPr/>
          <a:lstStyle/>
          <a:p>
            <a:endParaRPr lang="en-US"/>
          </a:p>
        </p:txBody>
      </p:sp>
      <p:sp>
        <p:nvSpPr>
          <p:cNvPr id="9" name="Shape 5"/>
          <p:cNvSpPr/>
          <p:nvPr/>
        </p:nvSpPr>
        <p:spPr>
          <a:xfrm>
            <a:off x="1920240" y="1691640"/>
            <a:ext cx="640080" cy="54864"/>
          </a:xfrm>
          <a:prstGeom prst="rect">
            <a:avLst/>
          </a:prstGeom>
          <a:solidFill>
            <a:srgbClr val="4FC3F7"/>
          </a:solidFill>
          <a:ln w="12700">
            <a:solidFill>
              <a:srgbClr val="4FC3F7"/>
            </a:solidFill>
            <a:prstDash val="solid"/>
          </a:ln>
        </p:spPr>
        <p:txBody>
          <a:bodyPr/>
          <a:lstStyle/>
          <a:p>
            <a:endParaRPr lang="en-US"/>
          </a:p>
        </p:txBody>
      </p:sp>
      <p:sp>
        <p:nvSpPr>
          <p:cNvPr id="10" name="Shape 6"/>
          <p:cNvSpPr/>
          <p:nvPr/>
        </p:nvSpPr>
        <p:spPr>
          <a:xfrm>
            <a:off x="548640" y="1920240"/>
            <a:ext cx="11064240" cy="914400"/>
          </a:xfrm>
          <a:prstGeom prst="rect">
            <a:avLst/>
          </a:prstGeom>
          <a:solidFill>
            <a:srgbClr val="0A2A44"/>
          </a:solidFill>
          <a:ln w="6350">
            <a:solidFill>
              <a:srgbClr val="1E3A5C"/>
            </a:solidFill>
            <a:prstDash val="solid"/>
          </a:ln>
        </p:spPr>
        <p:txBody>
          <a:bodyPr/>
          <a:lstStyle/>
          <a:p>
            <a:endParaRPr lang="en-US"/>
          </a:p>
        </p:txBody>
      </p:sp>
      <p:sp>
        <p:nvSpPr>
          <p:cNvPr id="11" name="Shape 7"/>
          <p:cNvSpPr/>
          <p:nvPr/>
        </p:nvSpPr>
        <p:spPr>
          <a:xfrm>
            <a:off x="548640" y="1920240"/>
            <a:ext cx="91440" cy="914400"/>
          </a:xfrm>
          <a:prstGeom prst="rect">
            <a:avLst/>
          </a:prstGeom>
          <a:solidFill>
            <a:srgbClr val="4FC3F7"/>
          </a:solidFill>
          <a:ln w="12700">
            <a:solidFill>
              <a:srgbClr val="333333"/>
            </a:solidFill>
            <a:prstDash val="solid"/>
          </a:ln>
        </p:spPr>
        <p:txBody>
          <a:bodyPr/>
          <a:lstStyle/>
          <a:p>
            <a:endParaRPr lang="en-US"/>
          </a:p>
        </p:txBody>
      </p:sp>
      <p:sp>
        <p:nvSpPr>
          <p:cNvPr id="12" name="Text 8"/>
          <p:cNvSpPr/>
          <p:nvPr/>
        </p:nvSpPr>
        <p:spPr>
          <a:xfrm>
            <a:off x="777240" y="2011680"/>
            <a:ext cx="3657600" cy="274320"/>
          </a:xfrm>
          <a:prstGeom prst="rect">
            <a:avLst/>
          </a:prstGeom>
          <a:noFill/>
          <a:ln/>
        </p:spPr>
        <p:txBody>
          <a:bodyPr wrap="square" lIns="0" tIns="0" rIns="0" bIns="0" rtlCol="0" anchor="ctr"/>
          <a:lstStyle/>
          <a:p>
            <a:pPr marL="0" indent="0">
              <a:buNone/>
            </a:pPr>
            <a:r>
              <a:rPr lang="en-US" sz="1000" b="1" kern="0" spc="300" dirty="0">
                <a:solidFill>
                  <a:srgbClr val="4FC3F7"/>
                </a:solidFill>
                <a:latin typeface="Calibri" pitchFamily="34" charset="0"/>
                <a:ea typeface="Calibri" pitchFamily="34" charset="-122"/>
                <a:cs typeface="Calibri" pitchFamily="34" charset="-120"/>
              </a:rPr>
              <a:t>SCENARIO</a:t>
            </a:r>
            <a:endParaRPr lang="en-US" sz="1000" dirty="0"/>
          </a:p>
        </p:txBody>
      </p:sp>
      <p:sp>
        <p:nvSpPr>
          <p:cNvPr id="13" name="Text 9"/>
          <p:cNvSpPr/>
          <p:nvPr/>
        </p:nvSpPr>
        <p:spPr>
          <a:xfrm>
            <a:off x="777240" y="2286000"/>
            <a:ext cx="10698480" cy="502920"/>
          </a:xfrm>
          <a:prstGeom prst="rect">
            <a:avLst/>
          </a:prstGeom>
          <a:noFill/>
          <a:ln/>
        </p:spPr>
        <p:txBody>
          <a:bodyPr wrap="square" lIns="0" tIns="0" rIns="0" bIns="0" rtlCol="0" anchor="ctr"/>
          <a:lstStyle/>
          <a:p>
            <a:pPr marL="0" indent="0">
              <a:buNone/>
            </a:pPr>
            <a:r>
              <a:rPr lang="en-US" sz="1200" dirty="0">
                <a:solidFill>
                  <a:srgbClr val="EAF2FA"/>
                </a:solidFill>
                <a:latin typeface="Calibri" pitchFamily="34" charset="0"/>
                <a:ea typeface="Calibri" pitchFamily="34" charset="-122"/>
                <a:cs typeface="Calibri" pitchFamily="34" charset="-120"/>
              </a:rPr>
              <a:t>Council ran a community survey on a proposed dog park. You have 180 free-text responses in a spreadsheet. The Mayor wants the themes by Friday — and wants to know what the loudest minority is saying.</a:t>
            </a:r>
            <a:endParaRPr lang="en-US" sz="1200" dirty="0"/>
          </a:p>
        </p:txBody>
      </p:sp>
      <p:sp>
        <p:nvSpPr>
          <p:cNvPr id="14" name="Shape 10"/>
          <p:cNvSpPr/>
          <p:nvPr/>
        </p:nvSpPr>
        <p:spPr>
          <a:xfrm>
            <a:off x="548640" y="3017520"/>
            <a:ext cx="2649474" cy="2194560"/>
          </a:xfrm>
          <a:prstGeom prst="rect">
            <a:avLst/>
          </a:prstGeom>
          <a:solidFill>
            <a:srgbClr val="0A2A44"/>
          </a:solidFill>
          <a:ln w="6350">
            <a:solidFill>
              <a:srgbClr val="1E3A5C"/>
            </a:solidFill>
            <a:prstDash val="solid"/>
          </a:ln>
        </p:spPr>
        <p:txBody>
          <a:bodyPr/>
          <a:lstStyle/>
          <a:p>
            <a:endParaRPr lang="en-US"/>
          </a:p>
        </p:txBody>
      </p:sp>
      <p:sp>
        <p:nvSpPr>
          <p:cNvPr id="15" name="Shape 11"/>
          <p:cNvSpPr/>
          <p:nvPr/>
        </p:nvSpPr>
        <p:spPr>
          <a:xfrm>
            <a:off x="548640" y="3017520"/>
            <a:ext cx="2649474" cy="64008"/>
          </a:xfrm>
          <a:prstGeom prst="rect">
            <a:avLst/>
          </a:prstGeom>
          <a:solidFill>
            <a:srgbClr val="FFB81C"/>
          </a:solidFill>
          <a:ln w="12700">
            <a:solidFill>
              <a:srgbClr val="333333"/>
            </a:solidFill>
            <a:prstDash val="solid"/>
          </a:ln>
        </p:spPr>
        <p:txBody>
          <a:bodyPr/>
          <a:lstStyle/>
          <a:p>
            <a:endParaRPr lang="en-US"/>
          </a:p>
        </p:txBody>
      </p:sp>
      <p:sp>
        <p:nvSpPr>
          <p:cNvPr id="16" name="Text 12"/>
          <p:cNvSpPr/>
          <p:nvPr/>
        </p:nvSpPr>
        <p:spPr>
          <a:xfrm>
            <a:off x="731520" y="3182112"/>
            <a:ext cx="2283714" cy="320040"/>
          </a:xfrm>
          <a:prstGeom prst="rect">
            <a:avLst/>
          </a:prstGeom>
          <a:noFill/>
          <a:ln/>
        </p:spPr>
        <p:txBody>
          <a:bodyPr wrap="square" lIns="0" tIns="0" rIns="0" bIns="0" rtlCol="0" anchor="ctr"/>
          <a:lstStyle/>
          <a:p>
            <a:pPr marL="0" indent="0">
              <a:buNone/>
            </a:pPr>
            <a:r>
              <a:rPr lang="en-US" sz="1300" b="1" dirty="0">
                <a:solidFill>
                  <a:srgbClr val="FFB81C"/>
                </a:solidFill>
                <a:latin typeface="Calibri" pitchFamily="34" charset="0"/>
                <a:ea typeface="Calibri" pitchFamily="34" charset="-122"/>
                <a:cs typeface="Calibri" pitchFamily="34" charset="-120"/>
              </a:rPr>
              <a:t>G — Goal</a:t>
            </a:r>
            <a:endParaRPr lang="en-US" sz="1300" dirty="0"/>
          </a:p>
        </p:txBody>
      </p:sp>
      <p:sp>
        <p:nvSpPr>
          <p:cNvPr id="17" name="Text 13"/>
          <p:cNvSpPr/>
          <p:nvPr/>
        </p:nvSpPr>
        <p:spPr>
          <a:xfrm>
            <a:off x="731520" y="3566160"/>
            <a:ext cx="2283714" cy="1554480"/>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Analyse the open-text responses in the survey and produce a themed summary of community views on the proposed dog park.</a:t>
            </a:r>
            <a:endParaRPr lang="en-US" sz="1100" dirty="0"/>
          </a:p>
        </p:txBody>
      </p:sp>
      <p:sp>
        <p:nvSpPr>
          <p:cNvPr id="18" name="Shape 14"/>
          <p:cNvSpPr/>
          <p:nvPr/>
        </p:nvSpPr>
        <p:spPr>
          <a:xfrm>
            <a:off x="3362706" y="3017520"/>
            <a:ext cx="2649474" cy="2194560"/>
          </a:xfrm>
          <a:prstGeom prst="rect">
            <a:avLst/>
          </a:prstGeom>
          <a:solidFill>
            <a:srgbClr val="0A2A44"/>
          </a:solidFill>
          <a:ln w="6350">
            <a:solidFill>
              <a:srgbClr val="1E3A5C"/>
            </a:solidFill>
            <a:prstDash val="solid"/>
          </a:ln>
        </p:spPr>
        <p:txBody>
          <a:bodyPr/>
          <a:lstStyle/>
          <a:p>
            <a:endParaRPr lang="en-US"/>
          </a:p>
        </p:txBody>
      </p:sp>
      <p:sp>
        <p:nvSpPr>
          <p:cNvPr id="19" name="Shape 15"/>
          <p:cNvSpPr/>
          <p:nvPr/>
        </p:nvSpPr>
        <p:spPr>
          <a:xfrm>
            <a:off x="3362706" y="3017520"/>
            <a:ext cx="2649474" cy="64008"/>
          </a:xfrm>
          <a:prstGeom prst="rect">
            <a:avLst/>
          </a:prstGeom>
          <a:solidFill>
            <a:srgbClr val="4FC3F7"/>
          </a:solidFill>
          <a:ln w="12700">
            <a:solidFill>
              <a:srgbClr val="333333"/>
            </a:solidFill>
            <a:prstDash val="solid"/>
          </a:ln>
        </p:spPr>
        <p:txBody>
          <a:bodyPr/>
          <a:lstStyle/>
          <a:p>
            <a:endParaRPr lang="en-US"/>
          </a:p>
        </p:txBody>
      </p:sp>
      <p:sp>
        <p:nvSpPr>
          <p:cNvPr id="20" name="Text 16"/>
          <p:cNvSpPr/>
          <p:nvPr/>
        </p:nvSpPr>
        <p:spPr>
          <a:xfrm>
            <a:off x="3545586" y="3182112"/>
            <a:ext cx="2283714" cy="320040"/>
          </a:xfrm>
          <a:prstGeom prst="rect">
            <a:avLst/>
          </a:prstGeom>
          <a:noFill/>
          <a:ln/>
        </p:spPr>
        <p:txBody>
          <a:bodyPr wrap="square" lIns="0" tIns="0" rIns="0" bIns="0"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C — Context</a:t>
            </a:r>
            <a:endParaRPr lang="en-US" sz="1300" dirty="0"/>
          </a:p>
        </p:txBody>
      </p:sp>
      <p:sp>
        <p:nvSpPr>
          <p:cNvPr id="21" name="Text 17"/>
          <p:cNvSpPr/>
          <p:nvPr/>
        </p:nvSpPr>
        <p:spPr>
          <a:xfrm>
            <a:off x="3545586" y="3566160"/>
            <a:ext cx="2283714" cy="1554480"/>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Survey ran for 4 weeks across Greenfield LGA. Respondents weighted toward residents within 1km of the proposed site. Concerns expected around noise, parking, off-leash safety.</a:t>
            </a:r>
            <a:endParaRPr lang="en-US" sz="1100" dirty="0"/>
          </a:p>
        </p:txBody>
      </p:sp>
      <p:sp>
        <p:nvSpPr>
          <p:cNvPr id="22" name="Shape 18"/>
          <p:cNvSpPr/>
          <p:nvPr/>
        </p:nvSpPr>
        <p:spPr>
          <a:xfrm>
            <a:off x="6176772" y="3017520"/>
            <a:ext cx="2649474" cy="2194560"/>
          </a:xfrm>
          <a:prstGeom prst="rect">
            <a:avLst/>
          </a:prstGeom>
          <a:solidFill>
            <a:srgbClr val="0A2A44"/>
          </a:solidFill>
          <a:ln w="6350">
            <a:solidFill>
              <a:srgbClr val="1E3A5C"/>
            </a:solidFill>
            <a:prstDash val="solid"/>
          </a:ln>
        </p:spPr>
        <p:txBody>
          <a:bodyPr/>
          <a:lstStyle/>
          <a:p>
            <a:endParaRPr lang="en-US"/>
          </a:p>
        </p:txBody>
      </p:sp>
      <p:sp>
        <p:nvSpPr>
          <p:cNvPr id="23" name="Shape 19"/>
          <p:cNvSpPr/>
          <p:nvPr/>
        </p:nvSpPr>
        <p:spPr>
          <a:xfrm>
            <a:off x="6176772" y="3017520"/>
            <a:ext cx="2649474" cy="64008"/>
          </a:xfrm>
          <a:prstGeom prst="rect">
            <a:avLst/>
          </a:prstGeom>
          <a:solidFill>
            <a:srgbClr val="FFB81C"/>
          </a:solidFill>
          <a:ln w="12700">
            <a:solidFill>
              <a:srgbClr val="333333"/>
            </a:solidFill>
            <a:prstDash val="solid"/>
          </a:ln>
        </p:spPr>
        <p:txBody>
          <a:bodyPr/>
          <a:lstStyle/>
          <a:p>
            <a:endParaRPr lang="en-US"/>
          </a:p>
        </p:txBody>
      </p:sp>
      <p:sp>
        <p:nvSpPr>
          <p:cNvPr id="24" name="Text 20"/>
          <p:cNvSpPr/>
          <p:nvPr/>
        </p:nvSpPr>
        <p:spPr>
          <a:xfrm>
            <a:off x="6359652" y="3182112"/>
            <a:ext cx="2283714" cy="320040"/>
          </a:xfrm>
          <a:prstGeom prst="rect">
            <a:avLst/>
          </a:prstGeom>
          <a:noFill/>
          <a:ln/>
        </p:spPr>
        <p:txBody>
          <a:bodyPr wrap="square" lIns="0" tIns="0" rIns="0" bIns="0" rtlCol="0" anchor="ctr"/>
          <a:lstStyle/>
          <a:p>
            <a:pPr marL="0" indent="0">
              <a:buNone/>
            </a:pPr>
            <a:r>
              <a:rPr lang="en-US" sz="1300" b="1" dirty="0">
                <a:solidFill>
                  <a:srgbClr val="FFB81C"/>
                </a:solidFill>
                <a:latin typeface="Calibri" pitchFamily="34" charset="0"/>
                <a:ea typeface="Calibri" pitchFamily="34" charset="-122"/>
                <a:cs typeface="Calibri" pitchFamily="34" charset="-120"/>
              </a:rPr>
              <a:t>S — Source</a:t>
            </a:r>
            <a:endParaRPr lang="en-US" sz="1300" dirty="0"/>
          </a:p>
        </p:txBody>
      </p:sp>
      <p:sp>
        <p:nvSpPr>
          <p:cNvPr id="25" name="Text 21"/>
          <p:cNvSpPr/>
          <p:nvPr/>
        </p:nvSpPr>
        <p:spPr>
          <a:xfrm>
            <a:off x="6359652" y="3566160"/>
            <a:ext cx="2283714" cy="1554480"/>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Use only the attached survey CSV — do not generalise from outside data. Quote 2-3 verbatim responses for each theme.</a:t>
            </a:r>
            <a:endParaRPr lang="en-US" sz="1100" dirty="0"/>
          </a:p>
        </p:txBody>
      </p:sp>
      <p:sp>
        <p:nvSpPr>
          <p:cNvPr id="26" name="Shape 22"/>
          <p:cNvSpPr/>
          <p:nvPr/>
        </p:nvSpPr>
        <p:spPr>
          <a:xfrm>
            <a:off x="8990838" y="3017520"/>
            <a:ext cx="2649474" cy="2194560"/>
          </a:xfrm>
          <a:prstGeom prst="rect">
            <a:avLst/>
          </a:prstGeom>
          <a:solidFill>
            <a:srgbClr val="0A2A44"/>
          </a:solidFill>
          <a:ln w="6350">
            <a:solidFill>
              <a:srgbClr val="1E3A5C"/>
            </a:solidFill>
            <a:prstDash val="solid"/>
          </a:ln>
        </p:spPr>
        <p:txBody>
          <a:bodyPr/>
          <a:lstStyle/>
          <a:p>
            <a:endParaRPr lang="en-US"/>
          </a:p>
        </p:txBody>
      </p:sp>
      <p:sp>
        <p:nvSpPr>
          <p:cNvPr id="27" name="Shape 23"/>
          <p:cNvSpPr/>
          <p:nvPr/>
        </p:nvSpPr>
        <p:spPr>
          <a:xfrm>
            <a:off x="8990838" y="3017520"/>
            <a:ext cx="2649474" cy="64008"/>
          </a:xfrm>
          <a:prstGeom prst="rect">
            <a:avLst/>
          </a:prstGeom>
          <a:solidFill>
            <a:srgbClr val="4FC3F7"/>
          </a:solidFill>
          <a:ln w="12700">
            <a:solidFill>
              <a:srgbClr val="333333"/>
            </a:solidFill>
            <a:prstDash val="solid"/>
          </a:ln>
        </p:spPr>
        <p:txBody>
          <a:bodyPr/>
          <a:lstStyle/>
          <a:p>
            <a:endParaRPr lang="en-US"/>
          </a:p>
        </p:txBody>
      </p:sp>
      <p:sp>
        <p:nvSpPr>
          <p:cNvPr id="28" name="Text 24"/>
          <p:cNvSpPr/>
          <p:nvPr/>
        </p:nvSpPr>
        <p:spPr>
          <a:xfrm>
            <a:off x="9173718" y="3182112"/>
            <a:ext cx="2283714" cy="320040"/>
          </a:xfrm>
          <a:prstGeom prst="rect">
            <a:avLst/>
          </a:prstGeom>
          <a:noFill/>
          <a:ln/>
        </p:spPr>
        <p:txBody>
          <a:bodyPr wrap="square" lIns="0" tIns="0" rIns="0" bIns="0"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E — Expectation</a:t>
            </a:r>
            <a:endParaRPr lang="en-US" sz="1300" dirty="0"/>
          </a:p>
        </p:txBody>
      </p:sp>
      <p:sp>
        <p:nvSpPr>
          <p:cNvPr id="29" name="Text 25"/>
          <p:cNvSpPr/>
          <p:nvPr/>
        </p:nvSpPr>
        <p:spPr>
          <a:xfrm>
            <a:off x="9173718" y="3566160"/>
            <a:ext cx="2283714" cy="1554480"/>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Group into 5-7 themes ranked by frequency. For each: theme name, % of responses, 2 verbatim quotes, suggested council response. Add a final section: "Loudest minority view" with what's driving it.</a:t>
            </a:r>
            <a:endParaRPr lang="en-US" sz="1100" dirty="0"/>
          </a:p>
        </p:txBody>
      </p:sp>
      <p:sp>
        <p:nvSpPr>
          <p:cNvPr id="30" name="Shape 26"/>
          <p:cNvSpPr/>
          <p:nvPr/>
        </p:nvSpPr>
        <p:spPr>
          <a:xfrm>
            <a:off x="548640" y="5349240"/>
            <a:ext cx="11064240" cy="1143000"/>
          </a:xfrm>
          <a:prstGeom prst="rect">
            <a:avLst/>
          </a:prstGeom>
          <a:solidFill>
            <a:srgbClr val="153A5C"/>
          </a:solidFill>
          <a:ln w="12700">
            <a:solidFill>
              <a:srgbClr val="FFB81C"/>
            </a:solidFill>
            <a:prstDash val="solid"/>
          </a:ln>
        </p:spPr>
        <p:txBody>
          <a:bodyPr/>
          <a:lstStyle/>
          <a:p>
            <a:endParaRPr lang="en-US"/>
          </a:p>
        </p:txBody>
      </p:sp>
      <p:sp>
        <p:nvSpPr>
          <p:cNvPr id="31" name="Shape 27"/>
          <p:cNvSpPr/>
          <p:nvPr/>
        </p:nvSpPr>
        <p:spPr>
          <a:xfrm>
            <a:off x="777240" y="5623560"/>
            <a:ext cx="594360" cy="594360"/>
          </a:xfrm>
          <a:prstGeom prst="ellipse">
            <a:avLst/>
          </a:prstGeom>
          <a:solidFill>
            <a:srgbClr val="FFB81C"/>
          </a:solidFill>
          <a:ln w="12700">
            <a:solidFill>
              <a:srgbClr val="333333"/>
            </a:solidFill>
            <a:prstDash val="solid"/>
          </a:ln>
        </p:spPr>
        <p:txBody>
          <a:bodyPr/>
          <a:lstStyle/>
          <a:p>
            <a:endParaRPr lang="en-US"/>
          </a:p>
        </p:txBody>
      </p:sp>
      <p:sp>
        <p:nvSpPr>
          <p:cNvPr id="32" name="Text 28"/>
          <p:cNvSpPr/>
          <p:nvPr/>
        </p:nvSpPr>
        <p:spPr>
          <a:xfrm>
            <a:off x="777240" y="5623560"/>
            <a:ext cx="594360" cy="594360"/>
          </a:xfrm>
          <a:prstGeom prst="rect">
            <a:avLst/>
          </a:prstGeom>
          <a:noFill/>
          <a:ln/>
        </p:spPr>
        <p:txBody>
          <a:bodyPr wrap="square" lIns="0" tIns="0" rIns="0" bIns="0" rtlCol="0" anchor="ctr"/>
          <a:lstStyle/>
          <a:p>
            <a:pPr marL="0" indent="0" algn="ctr">
              <a:buNone/>
            </a:pPr>
            <a:r>
              <a:rPr lang="en-US" sz="2400" b="1" dirty="0">
                <a:solidFill>
                  <a:srgbClr val="001F33"/>
                </a:solidFill>
                <a:latin typeface="Calibri" pitchFamily="34" charset="0"/>
                <a:ea typeface="Calibri" pitchFamily="34" charset="-122"/>
                <a:cs typeface="Calibri" pitchFamily="34" charset="-120"/>
              </a:rPr>
              <a:t>→</a:t>
            </a:r>
            <a:endParaRPr lang="en-US" sz="2400" dirty="0"/>
          </a:p>
        </p:txBody>
      </p:sp>
      <p:sp>
        <p:nvSpPr>
          <p:cNvPr id="33" name="Text 29"/>
          <p:cNvSpPr/>
          <p:nvPr/>
        </p:nvSpPr>
        <p:spPr>
          <a:xfrm>
            <a:off x="1554480" y="5513832"/>
            <a:ext cx="5486400" cy="274320"/>
          </a:xfrm>
          <a:prstGeom prst="rect">
            <a:avLst/>
          </a:prstGeom>
          <a:noFill/>
          <a:ln/>
        </p:spPr>
        <p:txBody>
          <a:bodyPr wrap="square" lIns="0" tIns="0" rIns="0" bIns="0" rtlCol="0" anchor="ctr"/>
          <a:lstStyle/>
          <a:p>
            <a:pPr marL="0" indent="0">
              <a:buNone/>
            </a:pPr>
            <a:r>
              <a:rPr lang="en-US" sz="1100" b="1" kern="0" spc="300" dirty="0">
                <a:solidFill>
                  <a:srgbClr val="FFB81C"/>
                </a:solidFill>
                <a:latin typeface="Calibri" pitchFamily="34" charset="0"/>
                <a:ea typeface="Calibri" pitchFamily="34" charset="-122"/>
                <a:cs typeface="Calibri" pitchFamily="34" charset="-120"/>
              </a:rPr>
              <a:t>TRY THIS NOW</a:t>
            </a:r>
            <a:endParaRPr lang="en-US" sz="1100" dirty="0"/>
          </a:p>
        </p:txBody>
      </p:sp>
      <p:sp>
        <p:nvSpPr>
          <p:cNvPr id="34" name="Text 30"/>
          <p:cNvSpPr/>
          <p:nvPr/>
        </p:nvSpPr>
        <p:spPr>
          <a:xfrm>
            <a:off x="1554480" y="5806440"/>
            <a:ext cx="10058400" cy="594360"/>
          </a:xfrm>
          <a:prstGeom prst="rect">
            <a:avLst/>
          </a:prstGeom>
          <a:noFill/>
          <a:ln/>
        </p:spPr>
        <p:txBody>
          <a:bodyPr wrap="square" lIns="0" tIns="0" rIns="0" bIns="0" rtlCol="0" anchor="ctr"/>
          <a:lstStyle/>
          <a:p>
            <a:pPr marL="0" indent="0">
              <a:buNone/>
            </a:pPr>
            <a:r>
              <a:rPr lang="en-US" sz="1300" i="1" dirty="0">
                <a:solidFill>
                  <a:srgbClr val="FFFFFF"/>
                </a:solidFill>
                <a:latin typeface="Calibri" pitchFamily="34" charset="0"/>
                <a:ea typeface="Calibri" pitchFamily="34" charset="-122"/>
                <a:cs typeface="Calibri" pitchFamily="34" charset="-120"/>
              </a:rPr>
              <a:t>Upload your CSV (or any spreadsheet of comments) to Copilot Chat. Run the prompt. Then ask Copilot to turn the result into a Word doc — see how it carries the structure across.</a:t>
            </a:r>
            <a:endParaRPr lang="en-US" sz="1300" dirty="0"/>
          </a:p>
        </p:txBody>
      </p:sp>
      <p:sp>
        <p:nvSpPr>
          <p:cNvPr id="35" name="Text 31"/>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10 / 40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10058400" cy="64008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From prompt to agent</a:t>
            </a:r>
            <a:endParaRPr lang="en-US" sz="3600" dirty="0"/>
          </a:p>
        </p:txBody>
      </p:sp>
      <p:sp>
        <p:nvSpPr>
          <p:cNvPr id="6" name="Shape 2"/>
          <p:cNvSpPr/>
          <p:nvPr/>
        </p:nvSpPr>
        <p:spPr>
          <a:xfrm>
            <a:off x="548640" y="1143000"/>
            <a:ext cx="1280160" cy="73152"/>
          </a:xfrm>
          <a:prstGeom prst="rect">
            <a:avLst/>
          </a:prstGeom>
          <a:solidFill>
            <a:srgbClr val="FFB81C"/>
          </a:solidFill>
          <a:ln w="12700">
            <a:solidFill>
              <a:srgbClr val="FFB81C"/>
            </a:solidFill>
            <a:prstDash val="solid"/>
          </a:ln>
        </p:spPr>
        <p:txBody>
          <a:bodyPr/>
          <a:lstStyle/>
          <a:p>
            <a:endParaRPr lang="en-US"/>
          </a:p>
        </p:txBody>
      </p:sp>
      <p:sp>
        <p:nvSpPr>
          <p:cNvPr id="7" name="Shape 3"/>
          <p:cNvSpPr/>
          <p:nvPr/>
        </p:nvSpPr>
        <p:spPr>
          <a:xfrm>
            <a:off x="1920240" y="1143000"/>
            <a:ext cx="640080" cy="73152"/>
          </a:xfrm>
          <a:prstGeom prst="rect">
            <a:avLst/>
          </a:prstGeom>
          <a:solidFill>
            <a:srgbClr val="4FC3F7"/>
          </a:solidFill>
          <a:ln w="12700">
            <a:solidFill>
              <a:srgbClr val="4FC3F7"/>
            </a:solidFill>
            <a:prstDash val="solid"/>
          </a:ln>
        </p:spPr>
        <p:txBody>
          <a:bodyPr/>
          <a:lstStyle/>
          <a:p>
            <a:endParaRPr lang="en-US"/>
          </a:p>
        </p:txBody>
      </p:sp>
      <p:sp>
        <p:nvSpPr>
          <p:cNvPr id="8" name="Text 4"/>
          <p:cNvSpPr/>
          <p:nvPr/>
        </p:nvSpPr>
        <p:spPr>
          <a:xfrm>
            <a:off x="548640" y="1417320"/>
            <a:ext cx="10972800" cy="457200"/>
          </a:xfrm>
          <a:prstGeom prst="rect">
            <a:avLst/>
          </a:prstGeom>
          <a:noFill/>
          <a:ln/>
        </p:spPr>
        <p:txBody>
          <a:bodyPr wrap="square" lIns="0" tIns="0" rIns="0" bIns="0" rtlCol="0" anchor="ctr"/>
          <a:lstStyle/>
          <a:p>
            <a:pPr marL="0" indent="0">
              <a:buNone/>
            </a:pPr>
            <a:r>
              <a:rPr lang="en-US" sz="1500" i="1" dirty="0">
                <a:solidFill>
                  <a:srgbClr val="EAF2FA"/>
                </a:solidFill>
                <a:latin typeface="Calibri" pitchFamily="34" charset="0"/>
                <a:ea typeface="Calibri" pitchFamily="34" charset="-122"/>
                <a:cs typeface="Calibri" pitchFamily="34" charset="-120"/>
              </a:rPr>
              <a:t>The natural progression we see in coaching sessions, every time</a:t>
            </a:r>
            <a:endParaRPr lang="en-US" sz="1500" dirty="0"/>
          </a:p>
        </p:txBody>
      </p:sp>
      <p:sp>
        <p:nvSpPr>
          <p:cNvPr id="9" name="Shape 5"/>
          <p:cNvSpPr/>
          <p:nvPr/>
        </p:nvSpPr>
        <p:spPr>
          <a:xfrm>
            <a:off x="548640" y="2194560"/>
            <a:ext cx="2567178" cy="3931920"/>
          </a:xfrm>
          <a:prstGeom prst="rect">
            <a:avLst/>
          </a:prstGeom>
          <a:solidFill>
            <a:srgbClr val="0A2A44"/>
          </a:solidFill>
          <a:ln w="6350">
            <a:solidFill>
              <a:srgbClr val="1E3A5C"/>
            </a:solidFill>
            <a:prstDash val="solid"/>
          </a:ln>
        </p:spPr>
        <p:txBody>
          <a:bodyPr/>
          <a:lstStyle/>
          <a:p>
            <a:endParaRPr lang="en-US"/>
          </a:p>
        </p:txBody>
      </p:sp>
      <p:sp>
        <p:nvSpPr>
          <p:cNvPr id="10" name="Shape 6"/>
          <p:cNvSpPr/>
          <p:nvPr/>
        </p:nvSpPr>
        <p:spPr>
          <a:xfrm>
            <a:off x="548640" y="2194560"/>
            <a:ext cx="2567178" cy="73152"/>
          </a:xfrm>
          <a:prstGeom prst="rect">
            <a:avLst/>
          </a:prstGeom>
          <a:solidFill>
            <a:srgbClr val="FFB81C"/>
          </a:solidFill>
          <a:ln w="12700">
            <a:solidFill>
              <a:srgbClr val="333333"/>
            </a:solidFill>
            <a:prstDash val="solid"/>
          </a:ln>
        </p:spPr>
        <p:txBody>
          <a:bodyPr/>
          <a:lstStyle/>
          <a:p>
            <a:endParaRPr lang="en-US"/>
          </a:p>
        </p:txBody>
      </p:sp>
      <p:sp>
        <p:nvSpPr>
          <p:cNvPr id="11" name="Text 7"/>
          <p:cNvSpPr/>
          <p:nvPr/>
        </p:nvSpPr>
        <p:spPr>
          <a:xfrm>
            <a:off x="822960" y="2468880"/>
            <a:ext cx="2018538" cy="274320"/>
          </a:xfrm>
          <a:prstGeom prst="rect">
            <a:avLst/>
          </a:prstGeom>
          <a:noFill/>
          <a:ln/>
        </p:spPr>
        <p:txBody>
          <a:bodyPr wrap="square" lIns="0" tIns="0" rIns="0" bIns="0" rtlCol="0" anchor="ctr"/>
          <a:lstStyle/>
          <a:p>
            <a:pPr marL="0" indent="0">
              <a:buNone/>
            </a:pPr>
            <a:r>
              <a:rPr lang="en-US" sz="1100" b="1" kern="0" spc="300" dirty="0">
                <a:solidFill>
                  <a:srgbClr val="8FA8C2"/>
                </a:solidFill>
                <a:latin typeface="Calibri" pitchFamily="34" charset="0"/>
                <a:ea typeface="Calibri" pitchFamily="34" charset="-122"/>
                <a:cs typeface="Calibri" pitchFamily="34" charset="-120"/>
              </a:rPr>
              <a:t>STEP</a:t>
            </a:r>
            <a:endParaRPr lang="en-US" sz="1100" dirty="0"/>
          </a:p>
        </p:txBody>
      </p:sp>
      <p:sp>
        <p:nvSpPr>
          <p:cNvPr id="12" name="Text 8"/>
          <p:cNvSpPr/>
          <p:nvPr/>
        </p:nvSpPr>
        <p:spPr>
          <a:xfrm>
            <a:off x="822960" y="2697480"/>
            <a:ext cx="2018538" cy="1463040"/>
          </a:xfrm>
          <a:prstGeom prst="rect">
            <a:avLst/>
          </a:prstGeom>
          <a:noFill/>
          <a:ln/>
        </p:spPr>
        <p:txBody>
          <a:bodyPr wrap="square" lIns="0" tIns="0" rIns="0" bIns="0" rtlCol="0" anchor="ctr"/>
          <a:lstStyle/>
          <a:p>
            <a:pPr marL="0" indent="0" algn="l">
              <a:buNone/>
            </a:pPr>
            <a:r>
              <a:rPr lang="en-US" sz="11000" b="1" dirty="0">
                <a:solidFill>
                  <a:srgbClr val="FFB81C"/>
                </a:solidFill>
                <a:latin typeface="Calibri" pitchFamily="34" charset="0"/>
                <a:ea typeface="Calibri" pitchFamily="34" charset="-122"/>
                <a:cs typeface="Calibri" pitchFamily="34" charset="-120"/>
              </a:rPr>
              <a:t>1</a:t>
            </a:r>
            <a:endParaRPr lang="en-US" sz="11000" dirty="0"/>
          </a:p>
        </p:txBody>
      </p:sp>
      <p:sp>
        <p:nvSpPr>
          <p:cNvPr id="13" name="Text 9"/>
          <p:cNvSpPr/>
          <p:nvPr/>
        </p:nvSpPr>
        <p:spPr>
          <a:xfrm>
            <a:off x="822960" y="4297680"/>
            <a:ext cx="2018538" cy="64008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My prompt isn't great</a:t>
            </a:r>
            <a:endParaRPr lang="en-US" sz="1800" dirty="0"/>
          </a:p>
        </p:txBody>
      </p:sp>
      <p:sp>
        <p:nvSpPr>
          <p:cNvPr id="14" name="Text 10"/>
          <p:cNvSpPr/>
          <p:nvPr/>
        </p:nvSpPr>
        <p:spPr>
          <a:xfrm>
            <a:off x="822960" y="4983480"/>
            <a:ext cx="2018538" cy="1097280"/>
          </a:xfrm>
          <a:prstGeom prst="rect">
            <a:avLst/>
          </a:prstGeom>
          <a:noFill/>
          <a:ln/>
        </p:spPr>
        <p:txBody>
          <a:bodyPr wrap="square" lIns="0" tIns="0" rIns="0" bIns="0" rtlCol="0" anchor="ctr"/>
          <a:lstStyle/>
          <a:p>
            <a:pPr marL="0" indent="0">
              <a:buNone/>
            </a:pPr>
            <a:r>
              <a:rPr lang="en-US" sz="1200" dirty="0">
                <a:solidFill>
                  <a:srgbClr val="EAF2FA"/>
                </a:solidFill>
                <a:latin typeface="Calibri" pitchFamily="34" charset="0"/>
                <a:ea typeface="Calibri" pitchFamily="34" charset="-122"/>
                <a:cs typeface="Calibri" pitchFamily="34" charset="-120"/>
              </a:rPr>
              <a:t>You try a basic prompt and get a generic response. "Summarise this DA" returns something you'd never put in front of a planner.</a:t>
            </a:r>
            <a:endParaRPr lang="en-US" sz="1200" dirty="0"/>
          </a:p>
        </p:txBody>
      </p:sp>
      <p:sp>
        <p:nvSpPr>
          <p:cNvPr id="15" name="Shape 11"/>
          <p:cNvSpPr/>
          <p:nvPr/>
        </p:nvSpPr>
        <p:spPr>
          <a:xfrm>
            <a:off x="3390138" y="2194560"/>
            <a:ext cx="2567178" cy="3931920"/>
          </a:xfrm>
          <a:prstGeom prst="rect">
            <a:avLst/>
          </a:prstGeom>
          <a:solidFill>
            <a:srgbClr val="0A2A44"/>
          </a:solidFill>
          <a:ln w="6350">
            <a:solidFill>
              <a:srgbClr val="1E3A5C"/>
            </a:solidFill>
            <a:prstDash val="solid"/>
          </a:ln>
        </p:spPr>
        <p:txBody>
          <a:bodyPr/>
          <a:lstStyle/>
          <a:p>
            <a:endParaRPr lang="en-US"/>
          </a:p>
        </p:txBody>
      </p:sp>
      <p:sp>
        <p:nvSpPr>
          <p:cNvPr id="16" name="Shape 12"/>
          <p:cNvSpPr/>
          <p:nvPr/>
        </p:nvSpPr>
        <p:spPr>
          <a:xfrm>
            <a:off x="3390138" y="2194560"/>
            <a:ext cx="2567178" cy="73152"/>
          </a:xfrm>
          <a:prstGeom prst="rect">
            <a:avLst/>
          </a:prstGeom>
          <a:solidFill>
            <a:srgbClr val="4FC3F7"/>
          </a:solidFill>
          <a:ln w="12700">
            <a:solidFill>
              <a:srgbClr val="333333"/>
            </a:solidFill>
            <a:prstDash val="solid"/>
          </a:ln>
        </p:spPr>
        <p:txBody>
          <a:bodyPr/>
          <a:lstStyle/>
          <a:p>
            <a:endParaRPr lang="en-US"/>
          </a:p>
        </p:txBody>
      </p:sp>
      <p:sp>
        <p:nvSpPr>
          <p:cNvPr id="17" name="Text 13"/>
          <p:cNvSpPr/>
          <p:nvPr/>
        </p:nvSpPr>
        <p:spPr>
          <a:xfrm>
            <a:off x="3664458" y="2468880"/>
            <a:ext cx="2018538" cy="274320"/>
          </a:xfrm>
          <a:prstGeom prst="rect">
            <a:avLst/>
          </a:prstGeom>
          <a:noFill/>
          <a:ln/>
        </p:spPr>
        <p:txBody>
          <a:bodyPr wrap="square" lIns="0" tIns="0" rIns="0" bIns="0" rtlCol="0" anchor="ctr"/>
          <a:lstStyle/>
          <a:p>
            <a:pPr marL="0" indent="0">
              <a:buNone/>
            </a:pPr>
            <a:r>
              <a:rPr lang="en-US" sz="1100" b="1" kern="0" spc="300" dirty="0">
                <a:solidFill>
                  <a:srgbClr val="8FA8C2"/>
                </a:solidFill>
                <a:latin typeface="Calibri" pitchFamily="34" charset="0"/>
                <a:ea typeface="Calibri" pitchFamily="34" charset="-122"/>
                <a:cs typeface="Calibri" pitchFamily="34" charset="-120"/>
              </a:rPr>
              <a:t>STEP</a:t>
            </a:r>
            <a:endParaRPr lang="en-US" sz="1100" dirty="0"/>
          </a:p>
        </p:txBody>
      </p:sp>
      <p:sp>
        <p:nvSpPr>
          <p:cNvPr id="18" name="Text 14"/>
          <p:cNvSpPr/>
          <p:nvPr/>
        </p:nvSpPr>
        <p:spPr>
          <a:xfrm>
            <a:off x="3664458" y="2697480"/>
            <a:ext cx="2018538" cy="1463040"/>
          </a:xfrm>
          <a:prstGeom prst="rect">
            <a:avLst/>
          </a:prstGeom>
          <a:noFill/>
          <a:ln/>
        </p:spPr>
        <p:txBody>
          <a:bodyPr wrap="square" lIns="0" tIns="0" rIns="0" bIns="0" rtlCol="0" anchor="ctr"/>
          <a:lstStyle/>
          <a:p>
            <a:pPr marL="0" indent="0" algn="l">
              <a:buNone/>
            </a:pPr>
            <a:r>
              <a:rPr lang="en-US" sz="11000" b="1" dirty="0">
                <a:solidFill>
                  <a:srgbClr val="4FC3F7"/>
                </a:solidFill>
                <a:latin typeface="Calibri" pitchFamily="34" charset="0"/>
                <a:ea typeface="Calibri" pitchFamily="34" charset="-122"/>
                <a:cs typeface="Calibri" pitchFamily="34" charset="-120"/>
              </a:rPr>
              <a:t>2</a:t>
            </a:r>
            <a:endParaRPr lang="en-US" sz="11000" dirty="0"/>
          </a:p>
        </p:txBody>
      </p:sp>
      <p:sp>
        <p:nvSpPr>
          <p:cNvPr id="19" name="Text 15"/>
          <p:cNvSpPr/>
          <p:nvPr/>
        </p:nvSpPr>
        <p:spPr>
          <a:xfrm>
            <a:off x="3664458" y="4297680"/>
            <a:ext cx="2018538" cy="64008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Improve the prompt</a:t>
            </a:r>
            <a:endParaRPr lang="en-US" sz="1800" dirty="0"/>
          </a:p>
        </p:txBody>
      </p:sp>
      <p:sp>
        <p:nvSpPr>
          <p:cNvPr id="20" name="Text 16"/>
          <p:cNvSpPr/>
          <p:nvPr/>
        </p:nvSpPr>
        <p:spPr>
          <a:xfrm>
            <a:off x="3664458" y="4983480"/>
            <a:ext cx="2018538" cy="1097280"/>
          </a:xfrm>
          <a:prstGeom prst="rect">
            <a:avLst/>
          </a:prstGeom>
          <a:noFill/>
          <a:ln/>
        </p:spPr>
        <p:txBody>
          <a:bodyPr wrap="square" lIns="0" tIns="0" rIns="0" bIns="0" rtlCol="0" anchor="ctr"/>
          <a:lstStyle/>
          <a:p>
            <a:pPr marL="0" indent="0">
              <a:buNone/>
            </a:pPr>
            <a:r>
              <a:rPr lang="en-US" sz="1200" dirty="0">
                <a:solidFill>
                  <a:srgbClr val="EAF2FA"/>
                </a:solidFill>
                <a:latin typeface="Calibri" pitchFamily="34" charset="0"/>
                <a:ea typeface="Calibri" pitchFamily="34" charset="-122"/>
                <a:cs typeface="Calibri" pitchFamily="34" charset="-120"/>
              </a:rPr>
              <a:t>Apply GCSE. Add context, reference the planning scheme, set expectations on format and tone. Quality jumps immediately.</a:t>
            </a:r>
            <a:endParaRPr lang="en-US" sz="1200" dirty="0"/>
          </a:p>
        </p:txBody>
      </p:sp>
      <p:sp>
        <p:nvSpPr>
          <p:cNvPr id="21" name="Shape 17"/>
          <p:cNvSpPr/>
          <p:nvPr/>
        </p:nvSpPr>
        <p:spPr>
          <a:xfrm>
            <a:off x="6231636" y="2194560"/>
            <a:ext cx="2567178" cy="3931920"/>
          </a:xfrm>
          <a:prstGeom prst="rect">
            <a:avLst/>
          </a:prstGeom>
          <a:solidFill>
            <a:srgbClr val="0A2A44"/>
          </a:solidFill>
          <a:ln w="6350">
            <a:solidFill>
              <a:srgbClr val="1E3A5C"/>
            </a:solidFill>
            <a:prstDash val="solid"/>
          </a:ln>
        </p:spPr>
        <p:txBody>
          <a:bodyPr/>
          <a:lstStyle/>
          <a:p>
            <a:endParaRPr lang="en-US"/>
          </a:p>
        </p:txBody>
      </p:sp>
      <p:sp>
        <p:nvSpPr>
          <p:cNvPr id="22" name="Shape 18"/>
          <p:cNvSpPr/>
          <p:nvPr/>
        </p:nvSpPr>
        <p:spPr>
          <a:xfrm>
            <a:off x="6231636" y="2194560"/>
            <a:ext cx="2567178" cy="73152"/>
          </a:xfrm>
          <a:prstGeom prst="rect">
            <a:avLst/>
          </a:prstGeom>
          <a:solidFill>
            <a:srgbClr val="FFB81C"/>
          </a:solidFill>
          <a:ln w="12700">
            <a:solidFill>
              <a:srgbClr val="333333"/>
            </a:solidFill>
            <a:prstDash val="solid"/>
          </a:ln>
        </p:spPr>
        <p:txBody>
          <a:bodyPr/>
          <a:lstStyle/>
          <a:p>
            <a:endParaRPr lang="en-US"/>
          </a:p>
        </p:txBody>
      </p:sp>
      <p:sp>
        <p:nvSpPr>
          <p:cNvPr id="23" name="Text 19"/>
          <p:cNvSpPr/>
          <p:nvPr/>
        </p:nvSpPr>
        <p:spPr>
          <a:xfrm>
            <a:off x="6505956" y="2468880"/>
            <a:ext cx="2018538" cy="274320"/>
          </a:xfrm>
          <a:prstGeom prst="rect">
            <a:avLst/>
          </a:prstGeom>
          <a:noFill/>
          <a:ln/>
        </p:spPr>
        <p:txBody>
          <a:bodyPr wrap="square" lIns="0" tIns="0" rIns="0" bIns="0" rtlCol="0" anchor="ctr"/>
          <a:lstStyle/>
          <a:p>
            <a:pPr marL="0" indent="0">
              <a:buNone/>
            </a:pPr>
            <a:r>
              <a:rPr lang="en-US" sz="1100" b="1" kern="0" spc="300" dirty="0">
                <a:solidFill>
                  <a:srgbClr val="8FA8C2"/>
                </a:solidFill>
                <a:latin typeface="Calibri" pitchFamily="34" charset="0"/>
                <a:ea typeface="Calibri" pitchFamily="34" charset="-122"/>
                <a:cs typeface="Calibri" pitchFamily="34" charset="-120"/>
              </a:rPr>
              <a:t>STEP</a:t>
            </a:r>
            <a:endParaRPr lang="en-US" sz="1100" dirty="0"/>
          </a:p>
        </p:txBody>
      </p:sp>
      <p:sp>
        <p:nvSpPr>
          <p:cNvPr id="24" name="Text 20"/>
          <p:cNvSpPr/>
          <p:nvPr/>
        </p:nvSpPr>
        <p:spPr>
          <a:xfrm>
            <a:off x="6505956" y="2697480"/>
            <a:ext cx="2018538" cy="1463040"/>
          </a:xfrm>
          <a:prstGeom prst="rect">
            <a:avLst/>
          </a:prstGeom>
          <a:noFill/>
          <a:ln/>
        </p:spPr>
        <p:txBody>
          <a:bodyPr wrap="square" lIns="0" tIns="0" rIns="0" bIns="0" rtlCol="0" anchor="ctr"/>
          <a:lstStyle/>
          <a:p>
            <a:pPr marL="0" indent="0" algn="l">
              <a:buNone/>
            </a:pPr>
            <a:r>
              <a:rPr lang="en-US" sz="11000" b="1" dirty="0">
                <a:solidFill>
                  <a:srgbClr val="FFB81C"/>
                </a:solidFill>
                <a:latin typeface="Calibri" pitchFamily="34" charset="0"/>
                <a:ea typeface="Calibri" pitchFamily="34" charset="-122"/>
                <a:cs typeface="Calibri" pitchFamily="34" charset="-120"/>
              </a:rPr>
              <a:t>3</a:t>
            </a:r>
            <a:endParaRPr lang="en-US" sz="11000" dirty="0"/>
          </a:p>
        </p:txBody>
      </p:sp>
      <p:sp>
        <p:nvSpPr>
          <p:cNvPr id="25" name="Text 21"/>
          <p:cNvSpPr/>
          <p:nvPr/>
        </p:nvSpPr>
        <p:spPr>
          <a:xfrm>
            <a:off x="6505956" y="4297680"/>
            <a:ext cx="2018538" cy="64008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This is repeatable</a:t>
            </a:r>
            <a:endParaRPr lang="en-US" sz="1800" dirty="0"/>
          </a:p>
        </p:txBody>
      </p:sp>
      <p:sp>
        <p:nvSpPr>
          <p:cNvPr id="26" name="Text 22"/>
          <p:cNvSpPr/>
          <p:nvPr/>
        </p:nvSpPr>
        <p:spPr>
          <a:xfrm>
            <a:off x="6505956" y="4983480"/>
            <a:ext cx="2018538" cy="1097280"/>
          </a:xfrm>
          <a:prstGeom prst="rect">
            <a:avLst/>
          </a:prstGeom>
          <a:noFill/>
          <a:ln/>
        </p:spPr>
        <p:txBody>
          <a:bodyPr wrap="square" lIns="0" tIns="0" rIns="0" bIns="0" rtlCol="0" anchor="ctr"/>
          <a:lstStyle/>
          <a:p>
            <a:pPr marL="0" indent="0">
              <a:buNone/>
            </a:pPr>
            <a:r>
              <a:rPr lang="en-US" sz="1200" dirty="0">
                <a:solidFill>
                  <a:srgbClr val="EAF2FA"/>
                </a:solidFill>
                <a:latin typeface="Calibri" pitchFamily="34" charset="0"/>
                <a:ea typeface="Calibri" pitchFamily="34" charset="-122"/>
                <a:cs typeface="Calibri" pitchFamily="34" charset="-120"/>
              </a:rPr>
              <a:t>You realise you do this task every week — every new DA, every new infringement, every new contract. The same good prompt works every time.</a:t>
            </a:r>
            <a:endParaRPr lang="en-US" sz="1200" dirty="0"/>
          </a:p>
        </p:txBody>
      </p:sp>
      <p:sp>
        <p:nvSpPr>
          <p:cNvPr id="27" name="Shape 23"/>
          <p:cNvSpPr/>
          <p:nvPr/>
        </p:nvSpPr>
        <p:spPr>
          <a:xfrm>
            <a:off x="9073134" y="2194560"/>
            <a:ext cx="2567178" cy="3931920"/>
          </a:xfrm>
          <a:prstGeom prst="rect">
            <a:avLst/>
          </a:prstGeom>
          <a:solidFill>
            <a:srgbClr val="0A2A44"/>
          </a:solidFill>
          <a:ln w="6350">
            <a:solidFill>
              <a:srgbClr val="1E3A5C"/>
            </a:solidFill>
            <a:prstDash val="solid"/>
          </a:ln>
        </p:spPr>
        <p:txBody>
          <a:bodyPr/>
          <a:lstStyle/>
          <a:p>
            <a:endParaRPr lang="en-US"/>
          </a:p>
        </p:txBody>
      </p:sp>
      <p:sp>
        <p:nvSpPr>
          <p:cNvPr id="28" name="Shape 24"/>
          <p:cNvSpPr/>
          <p:nvPr/>
        </p:nvSpPr>
        <p:spPr>
          <a:xfrm>
            <a:off x="9073134" y="2194560"/>
            <a:ext cx="2567178" cy="73152"/>
          </a:xfrm>
          <a:prstGeom prst="rect">
            <a:avLst/>
          </a:prstGeom>
          <a:solidFill>
            <a:srgbClr val="4FC3F7"/>
          </a:solidFill>
          <a:ln w="12700">
            <a:solidFill>
              <a:srgbClr val="333333"/>
            </a:solidFill>
            <a:prstDash val="solid"/>
          </a:ln>
        </p:spPr>
        <p:txBody>
          <a:bodyPr/>
          <a:lstStyle/>
          <a:p>
            <a:endParaRPr lang="en-US"/>
          </a:p>
        </p:txBody>
      </p:sp>
      <p:sp>
        <p:nvSpPr>
          <p:cNvPr id="29" name="Text 25"/>
          <p:cNvSpPr/>
          <p:nvPr/>
        </p:nvSpPr>
        <p:spPr>
          <a:xfrm>
            <a:off x="9347454" y="2468880"/>
            <a:ext cx="2018538" cy="274320"/>
          </a:xfrm>
          <a:prstGeom prst="rect">
            <a:avLst/>
          </a:prstGeom>
          <a:noFill/>
          <a:ln/>
        </p:spPr>
        <p:txBody>
          <a:bodyPr wrap="square" lIns="0" tIns="0" rIns="0" bIns="0" rtlCol="0" anchor="ctr"/>
          <a:lstStyle/>
          <a:p>
            <a:pPr marL="0" indent="0">
              <a:buNone/>
            </a:pPr>
            <a:r>
              <a:rPr lang="en-US" sz="1100" b="1" kern="0" spc="300" dirty="0">
                <a:solidFill>
                  <a:srgbClr val="8FA8C2"/>
                </a:solidFill>
                <a:latin typeface="Calibri" pitchFamily="34" charset="0"/>
                <a:ea typeface="Calibri" pitchFamily="34" charset="-122"/>
                <a:cs typeface="Calibri" pitchFamily="34" charset="-120"/>
              </a:rPr>
              <a:t>STEP</a:t>
            </a:r>
            <a:endParaRPr lang="en-US" sz="1100" dirty="0"/>
          </a:p>
        </p:txBody>
      </p:sp>
      <p:sp>
        <p:nvSpPr>
          <p:cNvPr id="30" name="Text 26"/>
          <p:cNvSpPr/>
          <p:nvPr/>
        </p:nvSpPr>
        <p:spPr>
          <a:xfrm>
            <a:off x="9347454" y="2697480"/>
            <a:ext cx="2018538" cy="1463040"/>
          </a:xfrm>
          <a:prstGeom prst="rect">
            <a:avLst/>
          </a:prstGeom>
          <a:noFill/>
          <a:ln/>
        </p:spPr>
        <p:txBody>
          <a:bodyPr wrap="square" lIns="0" tIns="0" rIns="0" bIns="0" rtlCol="0" anchor="ctr"/>
          <a:lstStyle/>
          <a:p>
            <a:pPr marL="0" indent="0" algn="l">
              <a:buNone/>
            </a:pPr>
            <a:r>
              <a:rPr lang="en-US" sz="11000" b="1" dirty="0">
                <a:solidFill>
                  <a:srgbClr val="4FC3F7"/>
                </a:solidFill>
                <a:latin typeface="Calibri" pitchFamily="34" charset="0"/>
                <a:ea typeface="Calibri" pitchFamily="34" charset="-122"/>
                <a:cs typeface="Calibri" pitchFamily="34" charset="-120"/>
              </a:rPr>
              <a:t>4</a:t>
            </a:r>
            <a:endParaRPr lang="en-US" sz="11000" dirty="0"/>
          </a:p>
        </p:txBody>
      </p:sp>
      <p:sp>
        <p:nvSpPr>
          <p:cNvPr id="31" name="Text 27"/>
          <p:cNvSpPr/>
          <p:nvPr/>
        </p:nvSpPr>
        <p:spPr>
          <a:xfrm>
            <a:off x="9347454" y="4297680"/>
            <a:ext cx="2018538" cy="64008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Build an agent</a:t>
            </a:r>
            <a:endParaRPr lang="en-US" sz="1800" dirty="0"/>
          </a:p>
        </p:txBody>
      </p:sp>
      <p:sp>
        <p:nvSpPr>
          <p:cNvPr id="32" name="Text 28"/>
          <p:cNvSpPr/>
          <p:nvPr/>
        </p:nvSpPr>
        <p:spPr>
          <a:xfrm>
            <a:off x="9347454" y="4983480"/>
            <a:ext cx="2018538" cy="1097280"/>
          </a:xfrm>
          <a:prstGeom prst="rect">
            <a:avLst/>
          </a:prstGeom>
          <a:noFill/>
          <a:ln/>
        </p:spPr>
        <p:txBody>
          <a:bodyPr wrap="square" lIns="0" tIns="0" rIns="0" bIns="0" rtlCol="0" anchor="ctr"/>
          <a:lstStyle/>
          <a:p>
            <a:pPr marL="0" indent="0">
              <a:buNone/>
            </a:pPr>
            <a:r>
              <a:rPr lang="en-US" sz="1200" dirty="0">
                <a:solidFill>
                  <a:srgbClr val="EAF2FA"/>
                </a:solidFill>
                <a:latin typeface="Calibri" pitchFamily="34" charset="0"/>
                <a:ea typeface="Calibri" pitchFamily="34" charset="-122"/>
                <a:cs typeface="Calibri" pitchFamily="34" charset="-120"/>
              </a:rPr>
              <a:t>Capture the refined instructions in a Copilot Agent. Now your whole team gets consistent, high-quality output without writing the prompt.</a:t>
            </a:r>
            <a:endParaRPr lang="en-US" sz="1200" dirty="0"/>
          </a:p>
        </p:txBody>
      </p:sp>
      <p:sp>
        <p:nvSpPr>
          <p:cNvPr id="33" name="Text 29"/>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11 / 40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2F6FB"/>
        </a:solidFill>
        <a:effectLst/>
      </p:bgPr>
    </p:bg>
    <p:spTree>
      <p:nvGrpSpPr>
        <p:cNvPr id="1" name=""/>
        <p:cNvGrpSpPr/>
        <p:nvPr/>
      </p:nvGrpSpPr>
      <p:grpSpPr>
        <a:xfrm>
          <a:off x="0" y="0"/>
          <a:ext cx="0" cy="0"/>
          <a:chOff x="0" y="0"/>
          <a:chExt cx="0" cy="0"/>
        </a:xfrm>
      </p:grpSpPr>
      <p:sp>
        <p:nvSpPr>
          <p:cNvPr id="2" name="Shape 0"/>
          <p:cNvSpPr/>
          <p:nvPr/>
        </p:nvSpPr>
        <p:spPr>
          <a:xfrm>
            <a:off x="10085832" y="0"/>
            <a:ext cx="2103120" cy="914400"/>
          </a:xfrm>
          <a:prstGeom prst="rect">
            <a:avLst/>
          </a:prstGeom>
          <a:solidFill>
            <a:srgbClr val="001F33"/>
          </a:solidFill>
          <a:ln w="12700">
            <a:solidFill>
              <a:srgbClr val="333333"/>
            </a:solidFill>
            <a:prstDash val="solid"/>
          </a:ln>
        </p:spPr>
        <p:txBody>
          <a:bodyPr/>
          <a:lstStyle/>
          <a:p>
            <a:endParaRPr lang="en-US"/>
          </a:p>
        </p:txBody>
      </p:sp>
      <p:pic>
        <p:nvPicPr>
          <p:cNvPr id="3" name="Image 0" descr="/mnt/workspace/working/akkodis-barhead-logo-white.png"/>
          <p:cNvPicPr>
            <a:picLocks noChangeAspect="1"/>
          </p:cNvPicPr>
          <p:nvPr/>
        </p:nvPicPr>
        <p:blipFill>
          <a:blip r:embed="rId3"/>
          <a:stretch>
            <a:fillRect/>
          </a:stretch>
        </p:blipFill>
        <p:spPr>
          <a:xfrm>
            <a:off x="10268712" y="256032"/>
            <a:ext cx="1554480" cy="249491"/>
          </a:xfrm>
          <a:prstGeom prst="rect">
            <a:avLst/>
          </a:prstGeom>
        </p:spPr>
      </p:pic>
      <p:sp>
        <p:nvSpPr>
          <p:cNvPr id="4" name="Text 1"/>
          <p:cNvSpPr/>
          <p:nvPr/>
        </p:nvSpPr>
        <p:spPr>
          <a:xfrm>
            <a:off x="548640" y="457200"/>
            <a:ext cx="8229600" cy="640080"/>
          </a:xfrm>
          <a:prstGeom prst="rect">
            <a:avLst/>
          </a:prstGeom>
          <a:noFill/>
          <a:ln/>
        </p:spPr>
        <p:txBody>
          <a:bodyPr wrap="square" lIns="0" tIns="0" rIns="0" bIns="0" rtlCol="0" anchor="ctr"/>
          <a:lstStyle/>
          <a:p>
            <a:pPr marL="0" indent="0">
              <a:buNone/>
            </a:pPr>
            <a:r>
              <a:rPr lang="en-US" sz="3600" b="1" dirty="0">
                <a:solidFill>
                  <a:srgbClr val="0B1F33"/>
                </a:solidFill>
                <a:latin typeface="Calibri" pitchFamily="34" charset="0"/>
                <a:ea typeface="Calibri" pitchFamily="34" charset="-122"/>
                <a:cs typeface="Calibri" pitchFamily="34" charset="-120"/>
              </a:rPr>
              <a:t>Common pitfalls</a:t>
            </a:r>
            <a:endParaRPr lang="en-US" sz="3600" dirty="0"/>
          </a:p>
        </p:txBody>
      </p:sp>
      <p:sp>
        <p:nvSpPr>
          <p:cNvPr id="5" name="Shape 2"/>
          <p:cNvSpPr/>
          <p:nvPr/>
        </p:nvSpPr>
        <p:spPr>
          <a:xfrm>
            <a:off x="548640" y="1143000"/>
            <a:ext cx="1280160" cy="73152"/>
          </a:xfrm>
          <a:prstGeom prst="rect">
            <a:avLst/>
          </a:prstGeom>
          <a:solidFill>
            <a:srgbClr val="FFB81C"/>
          </a:solidFill>
          <a:ln w="12700">
            <a:solidFill>
              <a:srgbClr val="FFB81C"/>
            </a:solidFill>
            <a:prstDash val="solid"/>
          </a:ln>
        </p:spPr>
        <p:txBody>
          <a:bodyPr/>
          <a:lstStyle/>
          <a:p>
            <a:endParaRPr lang="en-US"/>
          </a:p>
        </p:txBody>
      </p:sp>
      <p:sp>
        <p:nvSpPr>
          <p:cNvPr id="6" name="Shape 3"/>
          <p:cNvSpPr/>
          <p:nvPr/>
        </p:nvSpPr>
        <p:spPr>
          <a:xfrm>
            <a:off x="1920240" y="1143000"/>
            <a:ext cx="640080" cy="73152"/>
          </a:xfrm>
          <a:prstGeom prst="rect">
            <a:avLst/>
          </a:prstGeom>
          <a:solidFill>
            <a:srgbClr val="4FC3F7"/>
          </a:solidFill>
          <a:ln w="12700">
            <a:solidFill>
              <a:srgbClr val="4FC3F7"/>
            </a:solidFill>
            <a:prstDash val="solid"/>
          </a:ln>
        </p:spPr>
        <p:txBody>
          <a:bodyPr/>
          <a:lstStyle/>
          <a:p>
            <a:endParaRPr lang="en-US"/>
          </a:p>
        </p:txBody>
      </p:sp>
      <p:sp>
        <p:nvSpPr>
          <p:cNvPr id="7" name="Text 4"/>
          <p:cNvSpPr/>
          <p:nvPr/>
        </p:nvSpPr>
        <p:spPr>
          <a:xfrm>
            <a:off x="548640" y="1417320"/>
            <a:ext cx="10972800" cy="457200"/>
          </a:xfrm>
          <a:prstGeom prst="rect">
            <a:avLst/>
          </a:prstGeom>
          <a:noFill/>
          <a:ln/>
        </p:spPr>
        <p:txBody>
          <a:bodyPr wrap="square" lIns="0" tIns="0" rIns="0" bIns="0" rtlCol="0" anchor="ctr"/>
          <a:lstStyle/>
          <a:p>
            <a:pPr marL="0" indent="0">
              <a:buNone/>
            </a:pPr>
            <a:r>
              <a:rPr lang="en-US" sz="1400" i="1" dirty="0">
                <a:solidFill>
                  <a:srgbClr val="3D5573"/>
                </a:solidFill>
                <a:latin typeface="Calibri" pitchFamily="34" charset="0"/>
                <a:ea typeface="Calibri" pitchFamily="34" charset="-122"/>
                <a:cs typeface="Calibri" pitchFamily="34" charset="-120"/>
              </a:rPr>
              <a:t>What we hear, and how to think about each one</a:t>
            </a:r>
            <a:endParaRPr lang="en-US" sz="1400" dirty="0"/>
          </a:p>
        </p:txBody>
      </p:sp>
      <p:sp>
        <p:nvSpPr>
          <p:cNvPr id="8" name="Shape 5"/>
          <p:cNvSpPr/>
          <p:nvPr/>
        </p:nvSpPr>
        <p:spPr>
          <a:xfrm>
            <a:off x="548640" y="2103120"/>
            <a:ext cx="5454396" cy="2148840"/>
          </a:xfrm>
          <a:prstGeom prst="rect">
            <a:avLst/>
          </a:prstGeom>
          <a:solidFill>
            <a:srgbClr val="FFFFFF"/>
          </a:solidFill>
          <a:ln w="6350">
            <a:solidFill>
              <a:srgbClr val="D7DEE8"/>
            </a:solidFill>
            <a:prstDash val="solid"/>
          </a:ln>
        </p:spPr>
        <p:txBody>
          <a:bodyPr/>
          <a:lstStyle/>
          <a:p>
            <a:endParaRPr lang="en-US"/>
          </a:p>
        </p:txBody>
      </p:sp>
      <p:sp>
        <p:nvSpPr>
          <p:cNvPr id="9" name="Shape 6"/>
          <p:cNvSpPr/>
          <p:nvPr/>
        </p:nvSpPr>
        <p:spPr>
          <a:xfrm>
            <a:off x="548640" y="2103120"/>
            <a:ext cx="91440" cy="2148840"/>
          </a:xfrm>
          <a:prstGeom prst="rect">
            <a:avLst/>
          </a:prstGeom>
          <a:solidFill>
            <a:srgbClr val="FFB81C"/>
          </a:solidFill>
          <a:ln w="12700">
            <a:solidFill>
              <a:srgbClr val="333333"/>
            </a:solidFill>
            <a:prstDash val="solid"/>
          </a:ln>
        </p:spPr>
        <p:txBody>
          <a:bodyPr/>
          <a:lstStyle/>
          <a:p>
            <a:endParaRPr lang="en-US"/>
          </a:p>
        </p:txBody>
      </p:sp>
      <p:sp>
        <p:nvSpPr>
          <p:cNvPr id="10" name="Text 7"/>
          <p:cNvSpPr/>
          <p:nvPr/>
        </p:nvSpPr>
        <p:spPr>
          <a:xfrm>
            <a:off x="914400" y="2331720"/>
            <a:ext cx="4905756" cy="548640"/>
          </a:xfrm>
          <a:prstGeom prst="rect">
            <a:avLst/>
          </a:prstGeom>
          <a:noFill/>
          <a:ln/>
        </p:spPr>
        <p:txBody>
          <a:bodyPr wrap="square" lIns="0" tIns="0" rIns="0" bIns="0" rtlCol="0" anchor="ctr"/>
          <a:lstStyle/>
          <a:p>
            <a:pPr marL="0" indent="0">
              <a:buNone/>
            </a:pPr>
            <a:r>
              <a:rPr lang="en-US" sz="1800" b="1" i="1" dirty="0">
                <a:solidFill>
                  <a:srgbClr val="0B1F33"/>
                </a:solidFill>
                <a:latin typeface="Calibri" pitchFamily="34" charset="0"/>
                <a:ea typeface="Calibri" pitchFamily="34" charset="-122"/>
                <a:cs typeface="Calibri" pitchFamily="34" charset="-120"/>
              </a:rPr>
              <a:t>"It can't access our documents"</a:t>
            </a:r>
            <a:endParaRPr lang="en-US" sz="1800" dirty="0"/>
          </a:p>
        </p:txBody>
      </p:sp>
      <p:sp>
        <p:nvSpPr>
          <p:cNvPr id="11" name="Text 8"/>
          <p:cNvSpPr/>
          <p:nvPr/>
        </p:nvSpPr>
        <p:spPr>
          <a:xfrm>
            <a:off x="914400" y="2971800"/>
            <a:ext cx="4905756" cy="1097280"/>
          </a:xfrm>
          <a:prstGeom prst="rect">
            <a:avLst/>
          </a:prstGeom>
          <a:noFill/>
          <a:ln/>
        </p:spPr>
        <p:txBody>
          <a:bodyPr wrap="square" lIns="0" tIns="0" rIns="0" bIns="0" rtlCol="0" anchor="ctr"/>
          <a:lstStyle/>
          <a:p>
            <a:pPr marL="0" indent="0">
              <a:buNone/>
            </a:pPr>
            <a:r>
              <a:rPr lang="en-US" sz="1300" dirty="0">
                <a:solidFill>
                  <a:srgbClr val="3D5573"/>
                </a:solidFill>
                <a:latin typeface="Calibri" pitchFamily="34" charset="0"/>
                <a:ea typeface="Calibri" pitchFamily="34" charset="-122"/>
                <a:cs typeface="Calibri" pitchFamily="34" charset="-120"/>
              </a:rPr>
              <a:t>Copilot works inside Microsoft 365. Reference files via OneDrive, SharePoint, or by attaching them in chat with /.</a:t>
            </a:r>
            <a:endParaRPr lang="en-US" sz="1300" dirty="0"/>
          </a:p>
        </p:txBody>
      </p:sp>
      <p:sp>
        <p:nvSpPr>
          <p:cNvPr id="12" name="Shape 9"/>
          <p:cNvSpPr/>
          <p:nvPr/>
        </p:nvSpPr>
        <p:spPr>
          <a:xfrm>
            <a:off x="6185916" y="2103120"/>
            <a:ext cx="5454396" cy="2148840"/>
          </a:xfrm>
          <a:prstGeom prst="rect">
            <a:avLst/>
          </a:prstGeom>
          <a:solidFill>
            <a:srgbClr val="FFFFFF"/>
          </a:solidFill>
          <a:ln w="6350">
            <a:solidFill>
              <a:srgbClr val="D7DEE8"/>
            </a:solidFill>
            <a:prstDash val="solid"/>
          </a:ln>
        </p:spPr>
        <p:txBody>
          <a:bodyPr/>
          <a:lstStyle/>
          <a:p>
            <a:endParaRPr lang="en-US"/>
          </a:p>
        </p:txBody>
      </p:sp>
      <p:sp>
        <p:nvSpPr>
          <p:cNvPr id="13" name="Shape 10"/>
          <p:cNvSpPr/>
          <p:nvPr/>
        </p:nvSpPr>
        <p:spPr>
          <a:xfrm>
            <a:off x="6185916" y="2103120"/>
            <a:ext cx="91440" cy="2148840"/>
          </a:xfrm>
          <a:prstGeom prst="rect">
            <a:avLst/>
          </a:prstGeom>
          <a:solidFill>
            <a:srgbClr val="4FC3F7"/>
          </a:solidFill>
          <a:ln w="12700">
            <a:solidFill>
              <a:srgbClr val="333333"/>
            </a:solidFill>
            <a:prstDash val="solid"/>
          </a:ln>
        </p:spPr>
        <p:txBody>
          <a:bodyPr/>
          <a:lstStyle/>
          <a:p>
            <a:endParaRPr lang="en-US"/>
          </a:p>
        </p:txBody>
      </p:sp>
      <p:sp>
        <p:nvSpPr>
          <p:cNvPr id="14" name="Text 11"/>
          <p:cNvSpPr/>
          <p:nvPr/>
        </p:nvSpPr>
        <p:spPr>
          <a:xfrm>
            <a:off x="6551676" y="2331720"/>
            <a:ext cx="4905756" cy="548640"/>
          </a:xfrm>
          <a:prstGeom prst="rect">
            <a:avLst/>
          </a:prstGeom>
          <a:noFill/>
          <a:ln/>
        </p:spPr>
        <p:txBody>
          <a:bodyPr wrap="square" lIns="0" tIns="0" rIns="0" bIns="0" rtlCol="0" anchor="ctr"/>
          <a:lstStyle/>
          <a:p>
            <a:pPr marL="0" indent="0">
              <a:buNone/>
            </a:pPr>
            <a:r>
              <a:rPr lang="en-US" sz="1800" b="1" i="1" dirty="0">
                <a:solidFill>
                  <a:srgbClr val="0B1F33"/>
                </a:solidFill>
                <a:latin typeface="Calibri" pitchFamily="34" charset="0"/>
                <a:ea typeface="Calibri" pitchFamily="34" charset="-122"/>
                <a:cs typeface="Calibri" pitchFamily="34" charset="-120"/>
              </a:rPr>
              <a:t>"Is it safe to use with citizen data?"</a:t>
            </a:r>
            <a:endParaRPr lang="en-US" sz="1800" dirty="0"/>
          </a:p>
        </p:txBody>
      </p:sp>
      <p:sp>
        <p:nvSpPr>
          <p:cNvPr id="15" name="Text 12"/>
          <p:cNvSpPr/>
          <p:nvPr/>
        </p:nvSpPr>
        <p:spPr>
          <a:xfrm>
            <a:off x="6551676" y="2971800"/>
            <a:ext cx="4905756" cy="1097280"/>
          </a:xfrm>
          <a:prstGeom prst="rect">
            <a:avLst/>
          </a:prstGeom>
          <a:noFill/>
          <a:ln/>
        </p:spPr>
        <p:txBody>
          <a:bodyPr wrap="square" lIns="0" tIns="0" rIns="0" bIns="0" rtlCol="0" anchor="ctr"/>
          <a:lstStyle/>
          <a:p>
            <a:pPr marL="0" indent="0">
              <a:buNone/>
            </a:pPr>
            <a:r>
              <a:rPr lang="en-US" sz="1300" dirty="0">
                <a:solidFill>
                  <a:srgbClr val="3D5573"/>
                </a:solidFill>
                <a:latin typeface="Calibri" pitchFamily="34" charset="0"/>
                <a:ea typeface="Calibri" pitchFamily="34" charset="-122"/>
                <a:cs typeface="Calibri" pitchFamily="34" charset="-120"/>
              </a:rPr>
              <a:t>Data stays in your M365 tenant. Copilot follows your existing security and privacy boundaries. Nothing is used to train models.</a:t>
            </a:r>
            <a:endParaRPr lang="en-US" sz="1300" dirty="0"/>
          </a:p>
        </p:txBody>
      </p:sp>
      <p:sp>
        <p:nvSpPr>
          <p:cNvPr id="16" name="Shape 13"/>
          <p:cNvSpPr/>
          <p:nvPr/>
        </p:nvSpPr>
        <p:spPr>
          <a:xfrm>
            <a:off x="548640" y="4434840"/>
            <a:ext cx="5454396" cy="2148840"/>
          </a:xfrm>
          <a:prstGeom prst="rect">
            <a:avLst/>
          </a:prstGeom>
          <a:solidFill>
            <a:srgbClr val="FFFFFF"/>
          </a:solidFill>
          <a:ln w="6350">
            <a:solidFill>
              <a:srgbClr val="D7DEE8"/>
            </a:solidFill>
            <a:prstDash val="solid"/>
          </a:ln>
        </p:spPr>
        <p:txBody>
          <a:bodyPr/>
          <a:lstStyle/>
          <a:p>
            <a:endParaRPr lang="en-US"/>
          </a:p>
        </p:txBody>
      </p:sp>
      <p:sp>
        <p:nvSpPr>
          <p:cNvPr id="17" name="Shape 14"/>
          <p:cNvSpPr/>
          <p:nvPr/>
        </p:nvSpPr>
        <p:spPr>
          <a:xfrm>
            <a:off x="548640" y="4434840"/>
            <a:ext cx="91440" cy="2148840"/>
          </a:xfrm>
          <a:prstGeom prst="rect">
            <a:avLst/>
          </a:prstGeom>
          <a:solidFill>
            <a:srgbClr val="FFB81C"/>
          </a:solidFill>
          <a:ln w="12700">
            <a:solidFill>
              <a:srgbClr val="333333"/>
            </a:solidFill>
            <a:prstDash val="solid"/>
          </a:ln>
        </p:spPr>
        <p:txBody>
          <a:bodyPr/>
          <a:lstStyle/>
          <a:p>
            <a:endParaRPr lang="en-US"/>
          </a:p>
        </p:txBody>
      </p:sp>
      <p:sp>
        <p:nvSpPr>
          <p:cNvPr id="18" name="Text 15"/>
          <p:cNvSpPr/>
          <p:nvPr/>
        </p:nvSpPr>
        <p:spPr>
          <a:xfrm>
            <a:off x="914400" y="4663440"/>
            <a:ext cx="4905756" cy="548640"/>
          </a:xfrm>
          <a:prstGeom prst="rect">
            <a:avLst/>
          </a:prstGeom>
          <a:noFill/>
          <a:ln/>
        </p:spPr>
        <p:txBody>
          <a:bodyPr wrap="square" lIns="0" tIns="0" rIns="0" bIns="0" rtlCol="0" anchor="ctr"/>
          <a:lstStyle/>
          <a:p>
            <a:pPr marL="0" indent="0">
              <a:buNone/>
            </a:pPr>
            <a:r>
              <a:rPr lang="en-US" sz="1800" b="1" i="1" dirty="0">
                <a:solidFill>
                  <a:srgbClr val="0B1F33"/>
                </a:solidFill>
                <a:latin typeface="Calibri" pitchFamily="34" charset="0"/>
                <a:ea typeface="Calibri" pitchFamily="34" charset="-122"/>
                <a:cs typeface="Calibri" pitchFamily="34" charset="-120"/>
              </a:rPr>
              <a:t>"It made something up"</a:t>
            </a:r>
            <a:endParaRPr lang="en-US" sz="1800" dirty="0"/>
          </a:p>
        </p:txBody>
      </p:sp>
      <p:sp>
        <p:nvSpPr>
          <p:cNvPr id="19" name="Text 16"/>
          <p:cNvSpPr/>
          <p:nvPr/>
        </p:nvSpPr>
        <p:spPr>
          <a:xfrm>
            <a:off x="914400" y="5303520"/>
            <a:ext cx="4905756" cy="1097280"/>
          </a:xfrm>
          <a:prstGeom prst="rect">
            <a:avLst/>
          </a:prstGeom>
          <a:noFill/>
          <a:ln/>
        </p:spPr>
        <p:txBody>
          <a:bodyPr wrap="square" lIns="0" tIns="0" rIns="0" bIns="0" rtlCol="0" anchor="ctr"/>
          <a:lstStyle/>
          <a:p>
            <a:pPr marL="0" indent="0">
              <a:buNone/>
            </a:pPr>
            <a:r>
              <a:rPr lang="en-US" sz="1300" dirty="0">
                <a:solidFill>
                  <a:srgbClr val="3D5573"/>
                </a:solidFill>
                <a:latin typeface="Calibri" pitchFamily="34" charset="0"/>
                <a:ea typeface="Calibri" pitchFamily="34" charset="-122"/>
                <a:cs typeface="Calibri" pitchFamily="34" charset="-120"/>
              </a:rPr>
              <a:t>Copilot can hallucinate citations and clause numbers. Ground agents in real source documents, and always verify against the source.</a:t>
            </a:r>
            <a:endParaRPr lang="en-US" sz="1300" dirty="0"/>
          </a:p>
        </p:txBody>
      </p:sp>
      <p:sp>
        <p:nvSpPr>
          <p:cNvPr id="20" name="Shape 17"/>
          <p:cNvSpPr/>
          <p:nvPr/>
        </p:nvSpPr>
        <p:spPr>
          <a:xfrm>
            <a:off x="6185916" y="4434840"/>
            <a:ext cx="5454396" cy="2148840"/>
          </a:xfrm>
          <a:prstGeom prst="rect">
            <a:avLst/>
          </a:prstGeom>
          <a:solidFill>
            <a:srgbClr val="FFFFFF"/>
          </a:solidFill>
          <a:ln w="6350">
            <a:solidFill>
              <a:srgbClr val="D7DEE8"/>
            </a:solidFill>
            <a:prstDash val="solid"/>
          </a:ln>
        </p:spPr>
        <p:txBody>
          <a:bodyPr/>
          <a:lstStyle/>
          <a:p>
            <a:endParaRPr lang="en-US"/>
          </a:p>
        </p:txBody>
      </p:sp>
      <p:sp>
        <p:nvSpPr>
          <p:cNvPr id="21" name="Shape 18"/>
          <p:cNvSpPr/>
          <p:nvPr/>
        </p:nvSpPr>
        <p:spPr>
          <a:xfrm>
            <a:off x="6185916" y="4434840"/>
            <a:ext cx="91440" cy="2148840"/>
          </a:xfrm>
          <a:prstGeom prst="rect">
            <a:avLst/>
          </a:prstGeom>
          <a:solidFill>
            <a:srgbClr val="4FC3F7"/>
          </a:solidFill>
          <a:ln w="12700">
            <a:solidFill>
              <a:srgbClr val="333333"/>
            </a:solidFill>
            <a:prstDash val="solid"/>
          </a:ln>
        </p:spPr>
        <p:txBody>
          <a:bodyPr/>
          <a:lstStyle/>
          <a:p>
            <a:endParaRPr lang="en-US"/>
          </a:p>
        </p:txBody>
      </p:sp>
      <p:sp>
        <p:nvSpPr>
          <p:cNvPr id="22" name="Text 19"/>
          <p:cNvSpPr/>
          <p:nvPr/>
        </p:nvSpPr>
        <p:spPr>
          <a:xfrm>
            <a:off x="6551676" y="4663440"/>
            <a:ext cx="4905756" cy="548640"/>
          </a:xfrm>
          <a:prstGeom prst="rect">
            <a:avLst/>
          </a:prstGeom>
          <a:noFill/>
          <a:ln/>
        </p:spPr>
        <p:txBody>
          <a:bodyPr wrap="square" lIns="0" tIns="0" rIns="0" bIns="0" rtlCol="0" anchor="ctr"/>
          <a:lstStyle/>
          <a:p>
            <a:pPr marL="0" indent="0">
              <a:buNone/>
            </a:pPr>
            <a:r>
              <a:rPr lang="en-US" sz="1800" b="1" i="1" dirty="0">
                <a:solidFill>
                  <a:srgbClr val="0B1F33"/>
                </a:solidFill>
                <a:latin typeface="Calibri" pitchFamily="34" charset="0"/>
                <a:ea typeface="Calibri" pitchFamily="34" charset="-122"/>
                <a:cs typeface="Calibri" pitchFamily="34" charset="-120"/>
              </a:rPr>
              <a:t>"I tried it and it wasn't very good"</a:t>
            </a:r>
            <a:endParaRPr lang="en-US" sz="1800" dirty="0"/>
          </a:p>
        </p:txBody>
      </p:sp>
      <p:sp>
        <p:nvSpPr>
          <p:cNvPr id="23" name="Text 20"/>
          <p:cNvSpPr/>
          <p:nvPr/>
        </p:nvSpPr>
        <p:spPr>
          <a:xfrm>
            <a:off x="6551676" y="5303520"/>
            <a:ext cx="4905756" cy="1097280"/>
          </a:xfrm>
          <a:prstGeom prst="rect">
            <a:avLst/>
          </a:prstGeom>
          <a:noFill/>
          <a:ln/>
        </p:spPr>
        <p:txBody>
          <a:bodyPr wrap="square" lIns="0" tIns="0" rIns="0" bIns="0" rtlCol="0" anchor="ctr"/>
          <a:lstStyle/>
          <a:p>
            <a:pPr marL="0" indent="0">
              <a:buNone/>
            </a:pPr>
            <a:r>
              <a:rPr lang="en-US" sz="1300" dirty="0">
                <a:solidFill>
                  <a:srgbClr val="3D5573"/>
                </a:solidFill>
                <a:latin typeface="Calibri" pitchFamily="34" charset="0"/>
                <a:ea typeface="Calibri" pitchFamily="34" charset="-122"/>
                <a:cs typeface="Calibri" pitchFamily="34" charset="-120"/>
              </a:rPr>
              <a:t>Almost always a prompting problem, not a tool problem. Apply GCSE to the same task and the result transforms.</a:t>
            </a:r>
            <a:endParaRPr lang="en-US" sz="1300" dirty="0"/>
          </a:p>
        </p:txBody>
      </p:sp>
      <p:sp>
        <p:nvSpPr>
          <p:cNvPr id="24" name="Text 21"/>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6B7C93"/>
                </a:solidFill>
                <a:latin typeface="Calibri" pitchFamily="34" charset="0"/>
                <a:ea typeface="Calibri" pitchFamily="34" charset="-122"/>
                <a:cs typeface="Calibri" pitchFamily="34" charset="-120"/>
              </a:rPr>
              <a:t>12 / 40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1463040"/>
            <a:ext cx="3657600" cy="3657600"/>
          </a:xfrm>
          <a:prstGeom prst="rect">
            <a:avLst/>
          </a:prstGeom>
          <a:noFill/>
          <a:ln/>
        </p:spPr>
        <p:txBody>
          <a:bodyPr wrap="square" lIns="0" tIns="0" rIns="0" bIns="0" rtlCol="0" anchor="t"/>
          <a:lstStyle/>
          <a:p>
            <a:pPr marL="0" indent="0">
              <a:buNone/>
            </a:pPr>
            <a:r>
              <a:rPr lang="en-US" sz="28000" b="1" dirty="0">
                <a:solidFill>
                  <a:srgbClr val="FFB81C"/>
                </a:solidFill>
                <a:latin typeface="Calibri" pitchFamily="34" charset="0"/>
                <a:ea typeface="Calibri" pitchFamily="34" charset="-122"/>
                <a:cs typeface="Calibri" pitchFamily="34" charset="-120"/>
              </a:rPr>
              <a:t>02</a:t>
            </a:r>
            <a:endParaRPr lang="en-US" sz="28000" dirty="0"/>
          </a:p>
        </p:txBody>
      </p:sp>
      <p:sp>
        <p:nvSpPr>
          <p:cNvPr id="6" name="Shape 2"/>
          <p:cNvSpPr/>
          <p:nvPr/>
        </p:nvSpPr>
        <p:spPr>
          <a:xfrm>
            <a:off x="4937760" y="2560320"/>
            <a:ext cx="36576" cy="1828800"/>
          </a:xfrm>
          <a:prstGeom prst="rect">
            <a:avLst/>
          </a:prstGeom>
          <a:solidFill>
            <a:srgbClr val="4FC3F7"/>
          </a:solidFill>
          <a:ln w="12700">
            <a:solidFill>
              <a:srgbClr val="333333"/>
            </a:solidFill>
            <a:prstDash val="solid"/>
          </a:ln>
        </p:spPr>
        <p:txBody>
          <a:bodyPr/>
          <a:lstStyle/>
          <a:p>
            <a:endParaRPr lang="en-US"/>
          </a:p>
        </p:txBody>
      </p:sp>
      <p:sp>
        <p:nvSpPr>
          <p:cNvPr id="7" name="Text 3"/>
          <p:cNvSpPr/>
          <p:nvPr/>
        </p:nvSpPr>
        <p:spPr>
          <a:xfrm>
            <a:off x="5212080" y="2606040"/>
            <a:ext cx="6400800" cy="365760"/>
          </a:xfrm>
          <a:prstGeom prst="rect">
            <a:avLst/>
          </a:prstGeom>
          <a:noFill/>
          <a:ln/>
        </p:spPr>
        <p:txBody>
          <a:bodyPr wrap="square" lIns="0" tIns="0" rIns="0" bIns="0" rtlCol="0" anchor="ctr"/>
          <a:lstStyle/>
          <a:p>
            <a:pPr marL="0" indent="0">
              <a:buNone/>
            </a:pPr>
            <a:r>
              <a:rPr lang="en-US" sz="1600" b="1" kern="0" spc="400" dirty="0">
                <a:solidFill>
                  <a:srgbClr val="4FC3F7"/>
                </a:solidFill>
                <a:latin typeface="Calibri" pitchFamily="34" charset="0"/>
                <a:ea typeface="Calibri" pitchFamily="34" charset="-122"/>
                <a:cs typeface="Calibri" pitchFamily="34" charset="-120"/>
              </a:rPr>
              <a:t>SECTION 02</a:t>
            </a:r>
            <a:endParaRPr lang="en-US" sz="1600" dirty="0"/>
          </a:p>
        </p:txBody>
      </p:sp>
      <p:sp>
        <p:nvSpPr>
          <p:cNvPr id="8" name="Text 4"/>
          <p:cNvSpPr/>
          <p:nvPr/>
        </p:nvSpPr>
        <p:spPr>
          <a:xfrm>
            <a:off x="5212080" y="3017520"/>
            <a:ext cx="5486400" cy="91440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Copilot Capabilities</a:t>
            </a:r>
            <a:endParaRPr lang="en-US" sz="4400" dirty="0"/>
          </a:p>
        </p:txBody>
      </p:sp>
      <p:sp>
        <p:nvSpPr>
          <p:cNvPr id="9" name="Text 5"/>
          <p:cNvSpPr/>
          <p:nvPr/>
        </p:nvSpPr>
        <p:spPr>
          <a:xfrm>
            <a:off x="5212080" y="4023360"/>
            <a:ext cx="5486400" cy="731520"/>
          </a:xfrm>
          <a:prstGeom prst="rect">
            <a:avLst/>
          </a:prstGeom>
          <a:noFill/>
          <a:ln/>
        </p:spPr>
        <p:txBody>
          <a:bodyPr wrap="square" lIns="0" tIns="0" rIns="0" bIns="0" rtlCol="0" anchor="ctr"/>
          <a:lstStyle/>
          <a:p>
            <a:pPr marL="0" indent="0">
              <a:buNone/>
            </a:pPr>
            <a:r>
              <a:rPr lang="en-US" sz="1700" i="1" dirty="0">
                <a:solidFill>
                  <a:srgbClr val="EAF2FA"/>
                </a:solidFill>
                <a:latin typeface="Calibri" pitchFamily="34" charset="0"/>
                <a:ea typeface="Calibri" pitchFamily="34" charset="-122"/>
                <a:cs typeface="Calibri" pitchFamily="34" charset="-120"/>
              </a:rPr>
              <a:t>What Microsoft 365 Copilot can do across your day-to-day work</a:t>
            </a:r>
            <a:endParaRPr lang="en-US" sz="1700" dirty="0"/>
          </a:p>
        </p:txBody>
      </p:sp>
      <p:sp>
        <p:nvSpPr>
          <p:cNvPr id="10" name="Text 6"/>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13 / 40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Copilot + Agents</a:t>
            </a:r>
            <a:endParaRPr lang="en-US" sz="3200" dirty="0"/>
          </a:p>
        </p:txBody>
      </p:sp>
      <p:sp>
        <p:nvSpPr>
          <p:cNvPr id="6" name="Shape 2"/>
          <p:cNvSpPr/>
          <p:nvPr/>
        </p:nvSpPr>
        <p:spPr>
          <a:xfrm>
            <a:off x="548640" y="1097280"/>
            <a:ext cx="1280160" cy="64008"/>
          </a:xfrm>
          <a:prstGeom prst="rect">
            <a:avLst/>
          </a:prstGeom>
          <a:solidFill>
            <a:srgbClr val="FFB81C"/>
          </a:solidFill>
          <a:ln w="12700">
            <a:solidFill>
              <a:srgbClr val="FFB81C"/>
            </a:solidFill>
            <a:prstDash val="solid"/>
          </a:ln>
        </p:spPr>
        <p:txBody>
          <a:bodyPr/>
          <a:lstStyle/>
          <a:p>
            <a:endParaRPr lang="en-US"/>
          </a:p>
        </p:txBody>
      </p:sp>
      <p:sp>
        <p:nvSpPr>
          <p:cNvPr id="7" name="Shape 3"/>
          <p:cNvSpPr/>
          <p:nvPr/>
        </p:nvSpPr>
        <p:spPr>
          <a:xfrm>
            <a:off x="1920240" y="1097280"/>
            <a:ext cx="640080" cy="64008"/>
          </a:xfrm>
          <a:prstGeom prst="rect">
            <a:avLst/>
          </a:prstGeom>
          <a:solidFill>
            <a:srgbClr val="4FC3F7"/>
          </a:solidFill>
          <a:ln w="12700">
            <a:solidFill>
              <a:srgbClr val="4FC3F7"/>
            </a:solidFill>
            <a:prstDash val="solid"/>
          </a:ln>
        </p:spPr>
        <p:txBody>
          <a:bodyPr/>
          <a:lstStyle/>
          <a:p>
            <a:endParaRPr lang="en-US"/>
          </a:p>
        </p:txBody>
      </p:sp>
      <p:sp>
        <p:nvSpPr>
          <p:cNvPr id="8" name="Text 4"/>
          <p:cNvSpPr/>
          <p:nvPr/>
        </p:nvSpPr>
        <p:spPr>
          <a:xfrm>
            <a:off x="548640" y="1325880"/>
            <a:ext cx="10972800" cy="411480"/>
          </a:xfrm>
          <a:prstGeom prst="rect">
            <a:avLst/>
          </a:prstGeom>
          <a:noFill/>
          <a:ln/>
        </p:spPr>
        <p:txBody>
          <a:bodyPr wrap="square" lIns="0" tIns="0" rIns="0" bIns="0" rtlCol="0" anchor="ctr"/>
          <a:lstStyle/>
          <a:p>
            <a:pPr marL="0" indent="0">
              <a:buNone/>
            </a:pPr>
            <a:r>
              <a:rPr lang="en-US" sz="1400" i="1" dirty="0">
                <a:solidFill>
                  <a:srgbClr val="EAF2FA"/>
                </a:solidFill>
                <a:latin typeface="Calibri" pitchFamily="34" charset="0"/>
                <a:ea typeface="Calibri" pitchFamily="34" charset="-122"/>
                <a:cs typeface="Calibri" pitchFamily="34" charset="-120"/>
              </a:rPr>
              <a:t>Two halves of the same story</a:t>
            </a:r>
            <a:endParaRPr lang="en-US" sz="1400" dirty="0"/>
          </a:p>
        </p:txBody>
      </p:sp>
      <p:sp>
        <p:nvSpPr>
          <p:cNvPr id="9" name="Text 5"/>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14 / 40</a:t>
            </a:r>
            <a:endParaRPr lang="en-US" sz="900" dirty="0"/>
          </a:p>
        </p:txBody>
      </p:sp>
      <p:sp>
        <p:nvSpPr>
          <p:cNvPr id="10" name="Shape 6"/>
          <p:cNvSpPr/>
          <p:nvPr/>
        </p:nvSpPr>
        <p:spPr>
          <a:xfrm>
            <a:off x="548640" y="1920240"/>
            <a:ext cx="5362956" cy="4297680"/>
          </a:xfrm>
          <a:prstGeom prst="rect">
            <a:avLst/>
          </a:prstGeom>
          <a:solidFill>
            <a:srgbClr val="0A2A44"/>
          </a:solidFill>
          <a:ln w="6350">
            <a:solidFill>
              <a:srgbClr val="1E3A5C"/>
            </a:solidFill>
            <a:prstDash val="solid"/>
          </a:ln>
        </p:spPr>
        <p:txBody>
          <a:bodyPr/>
          <a:lstStyle/>
          <a:p>
            <a:endParaRPr lang="en-US"/>
          </a:p>
        </p:txBody>
      </p:sp>
      <p:sp>
        <p:nvSpPr>
          <p:cNvPr id="11" name="Shape 7"/>
          <p:cNvSpPr/>
          <p:nvPr/>
        </p:nvSpPr>
        <p:spPr>
          <a:xfrm>
            <a:off x="548640" y="1920240"/>
            <a:ext cx="5362956" cy="91440"/>
          </a:xfrm>
          <a:prstGeom prst="rect">
            <a:avLst/>
          </a:prstGeom>
          <a:solidFill>
            <a:srgbClr val="FFB81C"/>
          </a:solidFill>
          <a:ln w="12700">
            <a:solidFill>
              <a:srgbClr val="333333"/>
            </a:solidFill>
            <a:prstDash val="solid"/>
          </a:ln>
        </p:spPr>
        <p:txBody>
          <a:bodyPr/>
          <a:lstStyle/>
          <a:p>
            <a:endParaRPr lang="en-US"/>
          </a:p>
        </p:txBody>
      </p:sp>
      <p:sp>
        <p:nvSpPr>
          <p:cNvPr id="12" name="Text 8"/>
          <p:cNvSpPr/>
          <p:nvPr/>
        </p:nvSpPr>
        <p:spPr>
          <a:xfrm>
            <a:off x="868680" y="2286000"/>
            <a:ext cx="4905756" cy="548640"/>
          </a:xfrm>
          <a:prstGeom prst="rect">
            <a:avLst/>
          </a:prstGeom>
          <a:noFill/>
          <a:ln/>
        </p:spPr>
        <p:txBody>
          <a:bodyPr wrap="square" lIns="0" tIns="0" rIns="0" bIns="0" rtlCol="0" anchor="ctr"/>
          <a:lstStyle/>
          <a:p>
            <a:pPr marL="0" indent="0">
              <a:buNone/>
            </a:pPr>
            <a:r>
              <a:rPr lang="en-US" sz="2800" b="1" dirty="0">
                <a:solidFill>
                  <a:srgbClr val="FFB81C"/>
                </a:solidFill>
                <a:latin typeface="Calibri" pitchFamily="34" charset="0"/>
                <a:ea typeface="Calibri" pitchFamily="34" charset="-122"/>
                <a:cs typeface="Calibri" pitchFamily="34" charset="-120"/>
              </a:rPr>
              <a:t>Copilot</a:t>
            </a:r>
            <a:endParaRPr lang="en-US" sz="2800" dirty="0"/>
          </a:p>
        </p:txBody>
      </p:sp>
      <p:sp>
        <p:nvSpPr>
          <p:cNvPr id="13" name="Text 9"/>
          <p:cNvSpPr/>
          <p:nvPr/>
        </p:nvSpPr>
        <p:spPr>
          <a:xfrm>
            <a:off x="868680" y="2834640"/>
            <a:ext cx="4905756" cy="365760"/>
          </a:xfrm>
          <a:prstGeom prst="rect">
            <a:avLst/>
          </a:prstGeom>
          <a:noFill/>
          <a:ln/>
        </p:spPr>
        <p:txBody>
          <a:bodyPr wrap="square" lIns="0" tIns="0" rIns="0" bIns="0" rtlCol="0" anchor="ctr"/>
          <a:lstStyle/>
          <a:p>
            <a:pPr marL="0" indent="0">
              <a:buNone/>
            </a:pPr>
            <a:r>
              <a:rPr lang="en-US" sz="1500" i="1" dirty="0">
                <a:solidFill>
                  <a:srgbClr val="EAF2FA"/>
                </a:solidFill>
                <a:latin typeface="Calibri" pitchFamily="34" charset="0"/>
                <a:ea typeface="Calibri" pitchFamily="34" charset="-122"/>
                <a:cs typeface="Calibri" pitchFamily="34" charset="-120"/>
              </a:rPr>
              <a:t>Every employee will have one</a:t>
            </a:r>
            <a:endParaRPr lang="en-US" sz="1500" dirty="0"/>
          </a:p>
        </p:txBody>
      </p:sp>
      <p:sp>
        <p:nvSpPr>
          <p:cNvPr id="14" name="Text 10"/>
          <p:cNvSpPr/>
          <p:nvPr/>
        </p:nvSpPr>
        <p:spPr>
          <a:xfrm>
            <a:off x="868680" y="3474720"/>
            <a:ext cx="4905756" cy="256032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EAF2FA"/>
                </a:solidFill>
                <a:latin typeface="Calibri" pitchFamily="34" charset="0"/>
                <a:ea typeface="Calibri" pitchFamily="34" charset="-122"/>
                <a:cs typeface="Calibri" pitchFamily="34" charset="-120"/>
              </a:rPr>
              <a:t>Works as your personal assistant</a:t>
            </a:r>
            <a:endParaRPr lang="en-US" sz="1400" dirty="0"/>
          </a:p>
          <a:p>
            <a:pPr marL="342900" indent="-342900">
              <a:spcAft>
                <a:spcPts val="800"/>
              </a:spcAft>
              <a:buSzPct val="100000"/>
              <a:buChar char="•"/>
            </a:pPr>
            <a:r>
              <a:rPr lang="en-US" sz="1400" dirty="0">
                <a:solidFill>
                  <a:srgbClr val="EAF2FA"/>
                </a:solidFill>
                <a:latin typeface="Calibri" pitchFamily="34" charset="0"/>
                <a:ea typeface="Calibri" pitchFamily="34" charset="-122"/>
                <a:cs typeface="Calibri" pitchFamily="34" charset="-120"/>
              </a:rPr>
              <a:t>The UI for AI</a:t>
            </a:r>
            <a:endParaRPr lang="en-US" sz="1400" dirty="0"/>
          </a:p>
          <a:p>
            <a:pPr marL="342900" indent="-342900">
              <a:spcAft>
                <a:spcPts val="800"/>
              </a:spcAft>
              <a:buSzPct val="100000"/>
              <a:buChar char="•"/>
            </a:pPr>
            <a:r>
              <a:rPr lang="en-US" sz="1400" dirty="0">
                <a:solidFill>
                  <a:srgbClr val="EAF2FA"/>
                </a:solidFill>
                <a:latin typeface="Calibri" pitchFamily="34" charset="0"/>
                <a:ea typeface="Calibri" pitchFamily="34" charset="-122"/>
                <a:cs typeface="Calibri" pitchFamily="34" charset="-120"/>
              </a:rPr>
              <a:t>Grounded in your work content — email, meetings, documents</a:t>
            </a:r>
            <a:endParaRPr lang="en-US" sz="1400" dirty="0"/>
          </a:p>
          <a:p>
            <a:pPr marL="342900" indent="-342900">
              <a:spcAft>
                <a:spcPts val="800"/>
              </a:spcAft>
              <a:buSzPct val="100000"/>
              <a:buChar char="•"/>
            </a:pPr>
            <a:r>
              <a:rPr lang="en-US" sz="1400" dirty="0">
                <a:solidFill>
                  <a:srgbClr val="EAF2FA"/>
                </a:solidFill>
                <a:latin typeface="Calibri" pitchFamily="34" charset="0"/>
                <a:ea typeface="Calibri" pitchFamily="34" charset="-122"/>
                <a:cs typeface="Calibri" pitchFamily="34" charset="-120"/>
              </a:rPr>
              <a:t>Available across Teams, Outlook, Word, Excel, PowerPoint and the web</a:t>
            </a:r>
            <a:endParaRPr lang="en-US" sz="1400" dirty="0"/>
          </a:p>
        </p:txBody>
      </p:sp>
      <p:sp>
        <p:nvSpPr>
          <p:cNvPr id="15" name="Shape 11"/>
          <p:cNvSpPr/>
          <p:nvPr/>
        </p:nvSpPr>
        <p:spPr>
          <a:xfrm>
            <a:off x="6277356" y="1920240"/>
            <a:ext cx="5362956" cy="4297680"/>
          </a:xfrm>
          <a:prstGeom prst="rect">
            <a:avLst/>
          </a:prstGeom>
          <a:solidFill>
            <a:srgbClr val="0A2A44"/>
          </a:solidFill>
          <a:ln w="6350">
            <a:solidFill>
              <a:srgbClr val="1E3A5C"/>
            </a:solidFill>
            <a:prstDash val="solid"/>
          </a:ln>
        </p:spPr>
        <p:txBody>
          <a:bodyPr/>
          <a:lstStyle/>
          <a:p>
            <a:endParaRPr lang="en-US"/>
          </a:p>
        </p:txBody>
      </p:sp>
      <p:sp>
        <p:nvSpPr>
          <p:cNvPr id="16" name="Shape 12"/>
          <p:cNvSpPr/>
          <p:nvPr/>
        </p:nvSpPr>
        <p:spPr>
          <a:xfrm>
            <a:off x="6277356" y="1920240"/>
            <a:ext cx="5362956" cy="91440"/>
          </a:xfrm>
          <a:prstGeom prst="rect">
            <a:avLst/>
          </a:prstGeom>
          <a:solidFill>
            <a:srgbClr val="4FC3F7"/>
          </a:solidFill>
          <a:ln w="12700">
            <a:solidFill>
              <a:srgbClr val="333333"/>
            </a:solidFill>
            <a:prstDash val="solid"/>
          </a:ln>
        </p:spPr>
        <p:txBody>
          <a:bodyPr/>
          <a:lstStyle/>
          <a:p>
            <a:endParaRPr lang="en-US"/>
          </a:p>
        </p:txBody>
      </p:sp>
      <p:sp>
        <p:nvSpPr>
          <p:cNvPr id="17" name="Text 13"/>
          <p:cNvSpPr/>
          <p:nvPr/>
        </p:nvSpPr>
        <p:spPr>
          <a:xfrm>
            <a:off x="6597396" y="2286000"/>
            <a:ext cx="4905756" cy="548640"/>
          </a:xfrm>
          <a:prstGeom prst="rect">
            <a:avLst/>
          </a:prstGeom>
          <a:noFill/>
          <a:ln/>
        </p:spPr>
        <p:txBody>
          <a:bodyPr wrap="square" lIns="0" tIns="0" rIns="0" bIns="0" rtlCol="0" anchor="ctr"/>
          <a:lstStyle/>
          <a:p>
            <a:pPr marL="0" indent="0">
              <a:buNone/>
            </a:pPr>
            <a:r>
              <a:rPr lang="en-US" sz="2800" b="1" dirty="0">
                <a:solidFill>
                  <a:srgbClr val="4FC3F7"/>
                </a:solidFill>
                <a:latin typeface="Calibri" pitchFamily="34" charset="0"/>
                <a:ea typeface="Calibri" pitchFamily="34" charset="-122"/>
                <a:cs typeface="Calibri" pitchFamily="34" charset="-120"/>
              </a:rPr>
              <a:t>Agents</a:t>
            </a:r>
            <a:endParaRPr lang="en-US" sz="2800" dirty="0"/>
          </a:p>
        </p:txBody>
      </p:sp>
      <p:sp>
        <p:nvSpPr>
          <p:cNvPr id="18" name="Text 14"/>
          <p:cNvSpPr/>
          <p:nvPr/>
        </p:nvSpPr>
        <p:spPr>
          <a:xfrm>
            <a:off x="6597396" y="2834640"/>
            <a:ext cx="4905756" cy="365760"/>
          </a:xfrm>
          <a:prstGeom prst="rect">
            <a:avLst/>
          </a:prstGeom>
          <a:noFill/>
          <a:ln/>
        </p:spPr>
        <p:txBody>
          <a:bodyPr wrap="square" lIns="0" tIns="0" rIns="0" bIns="0" rtlCol="0" anchor="ctr"/>
          <a:lstStyle/>
          <a:p>
            <a:pPr marL="0" indent="0">
              <a:buNone/>
            </a:pPr>
            <a:r>
              <a:rPr lang="en-US" sz="1500" i="1" dirty="0">
                <a:solidFill>
                  <a:srgbClr val="EAF2FA"/>
                </a:solidFill>
                <a:latin typeface="Calibri" pitchFamily="34" charset="0"/>
                <a:ea typeface="Calibri" pitchFamily="34" charset="-122"/>
                <a:cs typeface="Calibri" pitchFamily="34" charset="-120"/>
              </a:rPr>
              <a:t>Every business process will have one</a:t>
            </a:r>
            <a:endParaRPr lang="en-US" sz="1500" dirty="0"/>
          </a:p>
        </p:txBody>
      </p:sp>
      <p:sp>
        <p:nvSpPr>
          <p:cNvPr id="19" name="Text 15"/>
          <p:cNvSpPr/>
          <p:nvPr/>
        </p:nvSpPr>
        <p:spPr>
          <a:xfrm>
            <a:off x="6597396" y="3474720"/>
            <a:ext cx="4905756" cy="256032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EAF2FA"/>
                </a:solidFill>
                <a:latin typeface="Calibri" pitchFamily="34" charset="0"/>
                <a:ea typeface="Calibri" pitchFamily="34" charset="-122"/>
                <a:cs typeface="Calibri" pitchFamily="34" charset="-120"/>
              </a:rPr>
              <a:t>AI systems with actions, triggers and knowledge</a:t>
            </a:r>
            <a:endParaRPr lang="en-US" sz="1400" dirty="0"/>
          </a:p>
          <a:p>
            <a:pPr marL="342900" indent="-342900">
              <a:spcAft>
                <a:spcPts val="800"/>
              </a:spcAft>
              <a:buSzPct val="100000"/>
              <a:buChar char="•"/>
            </a:pPr>
            <a:r>
              <a:rPr lang="en-US" sz="1400" dirty="0">
                <a:solidFill>
                  <a:srgbClr val="EAF2FA"/>
                </a:solidFill>
                <a:latin typeface="Calibri" pitchFamily="34" charset="0"/>
                <a:ea typeface="Calibri" pitchFamily="34" charset="-122"/>
                <a:cs typeface="Calibri" pitchFamily="34" charset="-120"/>
              </a:rPr>
              <a:t>Work on behalf of employees, teams or whole functions</a:t>
            </a:r>
            <a:endParaRPr lang="en-US" sz="1400" dirty="0"/>
          </a:p>
          <a:p>
            <a:pPr marL="342900" indent="-342900">
              <a:spcAft>
                <a:spcPts val="800"/>
              </a:spcAft>
              <a:buSzPct val="100000"/>
              <a:buChar char="•"/>
            </a:pPr>
            <a:r>
              <a:rPr lang="en-US" sz="1400" dirty="0">
                <a:solidFill>
                  <a:srgbClr val="EAF2FA"/>
                </a:solidFill>
                <a:latin typeface="Calibri" pitchFamily="34" charset="0"/>
                <a:ea typeface="Calibri" pitchFamily="34" charset="-122"/>
                <a:cs typeface="Calibri" pitchFamily="34" charset="-120"/>
              </a:rPr>
              <a:t>Connected to Copilot or running autonomously</a:t>
            </a:r>
            <a:endParaRPr lang="en-US" sz="1400" dirty="0"/>
          </a:p>
          <a:p>
            <a:pPr marL="342900" indent="-342900">
              <a:spcAft>
                <a:spcPts val="800"/>
              </a:spcAft>
              <a:buSzPct val="100000"/>
              <a:buChar char="•"/>
            </a:pPr>
            <a:r>
              <a:rPr lang="en-US" sz="1400" dirty="0">
                <a:solidFill>
                  <a:srgbClr val="EAF2FA"/>
                </a:solidFill>
                <a:latin typeface="Calibri" pitchFamily="34" charset="0"/>
                <a:ea typeface="Calibri" pitchFamily="34" charset="-122"/>
                <a:cs typeface="Calibri" pitchFamily="34" charset="-120"/>
              </a:rPr>
              <a:t>Built by IT or by everyday users in Copilot Studio</a:t>
            </a:r>
            <a:endParaRPr lang="en-US" sz="1400" dirty="0"/>
          </a:p>
        </p:txBody>
      </p:sp>
      <p:pic>
        <p:nvPicPr>
          <p:cNvPr id="21" name="Picture 20">
            <a:extLst>
              <a:ext uri="{FF2B5EF4-FFF2-40B4-BE49-F238E27FC236}">
                <a16:creationId xmlns:a16="http://schemas.microsoft.com/office/drawing/2014/main" id="{0B61DBA8-8061-B74A-B006-A7C649BC7F54}"/>
              </a:ext>
            </a:extLst>
          </p:cNvPr>
          <p:cNvPicPr>
            <a:picLocks noChangeAspect="1"/>
          </p:cNvPicPr>
          <p:nvPr/>
        </p:nvPicPr>
        <p:blipFill>
          <a:blip r:embed="rId5"/>
          <a:stretch>
            <a:fillRect/>
          </a:stretch>
        </p:blipFill>
        <p:spPr>
          <a:xfrm>
            <a:off x="4357116" y="2103120"/>
            <a:ext cx="1371600" cy="1371600"/>
          </a:xfrm>
          <a:prstGeom prst="rect">
            <a:avLst/>
          </a:prstGeom>
        </p:spPr>
      </p:pic>
      <p:pic>
        <p:nvPicPr>
          <p:cNvPr id="22" name="Picture 21">
            <a:extLst>
              <a:ext uri="{FF2B5EF4-FFF2-40B4-BE49-F238E27FC236}">
                <a16:creationId xmlns:a16="http://schemas.microsoft.com/office/drawing/2014/main" id="{DCCB538C-F5E8-0546-0785-B79D2EA7D6DB}"/>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149840" y="2103120"/>
            <a:ext cx="1371600" cy="13716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Know your Copilot experiences</a:t>
            </a:r>
            <a:endParaRPr lang="en-US" sz="3200" dirty="0"/>
          </a:p>
        </p:txBody>
      </p:sp>
      <p:sp>
        <p:nvSpPr>
          <p:cNvPr id="6" name="Shape 2"/>
          <p:cNvSpPr/>
          <p:nvPr/>
        </p:nvSpPr>
        <p:spPr>
          <a:xfrm>
            <a:off x="548640" y="1097280"/>
            <a:ext cx="1280160" cy="64008"/>
          </a:xfrm>
          <a:prstGeom prst="rect">
            <a:avLst/>
          </a:prstGeom>
          <a:solidFill>
            <a:srgbClr val="FFB81C"/>
          </a:solidFill>
          <a:ln w="12700">
            <a:solidFill>
              <a:srgbClr val="FFB81C"/>
            </a:solidFill>
            <a:prstDash val="solid"/>
          </a:ln>
        </p:spPr>
        <p:txBody>
          <a:bodyPr/>
          <a:lstStyle/>
          <a:p>
            <a:endParaRPr lang="en-US"/>
          </a:p>
        </p:txBody>
      </p:sp>
      <p:sp>
        <p:nvSpPr>
          <p:cNvPr id="7" name="Shape 3"/>
          <p:cNvSpPr/>
          <p:nvPr/>
        </p:nvSpPr>
        <p:spPr>
          <a:xfrm>
            <a:off x="1920240" y="1097280"/>
            <a:ext cx="640080" cy="64008"/>
          </a:xfrm>
          <a:prstGeom prst="rect">
            <a:avLst/>
          </a:prstGeom>
          <a:solidFill>
            <a:srgbClr val="4FC3F7"/>
          </a:solidFill>
          <a:ln w="12700">
            <a:solidFill>
              <a:srgbClr val="4FC3F7"/>
            </a:solidFill>
            <a:prstDash val="solid"/>
          </a:ln>
        </p:spPr>
        <p:txBody>
          <a:bodyPr/>
          <a:lstStyle/>
          <a:p>
            <a:endParaRPr lang="en-US"/>
          </a:p>
        </p:txBody>
      </p:sp>
      <p:sp>
        <p:nvSpPr>
          <p:cNvPr id="8" name="Text 4"/>
          <p:cNvSpPr/>
          <p:nvPr/>
        </p:nvSpPr>
        <p:spPr>
          <a:xfrm>
            <a:off x="548640" y="1325880"/>
            <a:ext cx="10972800" cy="411480"/>
          </a:xfrm>
          <a:prstGeom prst="rect">
            <a:avLst/>
          </a:prstGeom>
          <a:noFill/>
          <a:ln/>
        </p:spPr>
        <p:txBody>
          <a:bodyPr wrap="square" lIns="0" tIns="0" rIns="0" bIns="0" rtlCol="0" anchor="ctr"/>
          <a:lstStyle/>
          <a:p>
            <a:pPr marL="0" indent="0">
              <a:buNone/>
            </a:pPr>
            <a:r>
              <a:rPr lang="en-US" sz="1400" i="1" dirty="0">
                <a:solidFill>
                  <a:srgbClr val="EAF2FA"/>
                </a:solidFill>
                <a:latin typeface="Calibri" pitchFamily="34" charset="0"/>
                <a:ea typeface="Calibri" pitchFamily="34" charset="-122"/>
                <a:cs typeface="Calibri" pitchFamily="34" charset="-120"/>
              </a:rPr>
              <a:t>What's the difference between Copilot Chat and Microsoft 365 Copilot?</a:t>
            </a:r>
            <a:endParaRPr lang="en-US" sz="1400" dirty="0"/>
          </a:p>
        </p:txBody>
      </p:sp>
      <p:sp>
        <p:nvSpPr>
          <p:cNvPr id="9" name="Text 5"/>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15 / 40</a:t>
            </a:r>
            <a:endParaRPr lang="en-US" sz="900" dirty="0"/>
          </a:p>
        </p:txBody>
      </p:sp>
      <p:sp>
        <p:nvSpPr>
          <p:cNvPr id="10" name="Shape 6"/>
          <p:cNvSpPr/>
          <p:nvPr/>
        </p:nvSpPr>
        <p:spPr>
          <a:xfrm>
            <a:off x="548640" y="1920240"/>
            <a:ext cx="5362956" cy="4297680"/>
          </a:xfrm>
          <a:prstGeom prst="rect">
            <a:avLst/>
          </a:prstGeom>
          <a:solidFill>
            <a:srgbClr val="0A2A44"/>
          </a:solidFill>
          <a:ln w="6350">
            <a:solidFill>
              <a:srgbClr val="1E3A5C"/>
            </a:solidFill>
            <a:prstDash val="solid"/>
          </a:ln>
        </p:spPr>
        <p:txBody>
          <a:bodyPr/>
          <a:lstStyle/>
          <a:p>
            <a:endParaRPr lang="en-US"/>
          </a:p>
        </p:txBody>
      </p:sp>
      <p:sp>
        <p:nvSpPr>
          <p:cNvPr id="11" name="Shape 7"/>
          <p:cNvSpPr/>
          <p:nvPr/>
        </p:nvSpPr>
        <p:spPr>
          <a:xfrm>
            <a:off x="548640" y="1920240"/>
            <a:ext cx="5362956" cy="91440"/>
          </a:xfrm>
          <a:prstGeom prst="rect">
            <a:avLst/>
          </a:prstGeom>
          <a:solidFill>
            <a:srgbClr val="4FC3F7"/>
          </a:solidFill>
          <a:ln w="12700">
            <a:solidFill>
              <a:srgbClr val="333333"/>
            </a:solidFill>
            <a:prstDash val="solid"/>
          </a:ln>
        </p:spPr>
        <p:txBody>
          <a:bodyPr/>
          <a:lstStyle/>
          <a:p>
            <a:endParaRPr lang="en-US"/>
          </a:p>
        </p:txBody>
      </p:sp>
      <p:sp>
        <p:nvSpPr>
          <p:cNvPr id="12" name="Text 8"/>
          <p:cNvSpPr/>
          <p:nvPr/>
        </p:nvSpPr>
        <p:spPr>
          <a:xfrm>
            <a:off x="868680" y="2240280"/>
            <a:ext cx="4905756"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Copilot Chat</a:t>
            </a:r>
            <a:endParaRPr lang="en-US" sz="2600" dirty="0"/>
          </a:p>
        </p:txBody>
      </p:sp>
      <p:sp>
        <p:nvSpPr>
          <p:cNvPr id="13" name="Text 9"/>
          <p:cNvSpPr/>
          <p:nvPr/>
        </p:nvSpPr>
        <p:spPr>
          <a:xfrm>
            <a:off x="868680" y="2788920"/>
            <a:ext cx="4905756" cy="365760"/>
          </a:xfrm>
          <a:prstGeom prst="rect">
            <a:avLst/>
          </a:prstGeom>
          <a:noFill/>
          <a:ln/>
        </p:spPr>
        <p:txBody>
          <a:bodyPr wrap="square" lIns="0" tIns="0" rIns="0" bIns="0" rtlCol="0" anchor="ctr"/>
          <a:lstStyle/>
          <a:p>
            <a:pPr marL="0" indent="0">
              <a:buNone/>
            </a:pPr>
            <a:r>
              <a:rPr lang="en-US" sz="1300" i="1" dirty="0">
                <a:solidFill>
                  <a:srgbClr val="4FC3F7"/>
                </a:solidFill>
                <a:latin typeface="Calibri" pitchFamily="34" charset="0"/>
                <a:ea typeface="Calibri" pitchFamily="34" charset="-122"/>
                <a:cs typeface="Calibri" pitchFamily="34" charset="-120"/>
              </a:rPr>
              <a:t>Free for everyone with a Microsoft 365 account</a:t>
            </a:r>
            <a:endParaRPr lang="en-US" sz="1300" dirty="0"/>
          </a:p>
        </p:txBody>
      </p:sp>
      <p:sp>
        <p:nvSpPr>
          <p:cNvPr id="14" name="Text 10"/>
          <p:cNvSpPr/>
          <p:nvPr/>
        </p:nvSpPr>
        <p:spPr>
          <a:xfrm>
            <a:off x="868680" y="3383280"/>
            <a:ext cx="4905756" cy="26517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EAF2FA"/>
                </a:solidFill>
                <a:latin typeface="Calibri" pitchFamily="34" charset="0"/>
                <a:ea typeface="Calibri" pitchFamily="34" charset="-122"/>
                <a:cs typeface="Calibri" pitchFamily="34" charset="-120"/>
              </a:rPr>
              <a:t>Grounded in web data by default</a:t>
            </a:r>
            <a:endParaRPr lang="en-US" sz="1400" dirty="0"/>
          </a:p>
          <a:p>
            <a:pPr marL="342900" indent="-342900">
              <a:spcAft>
                <a:spcPts val="800"/>
              </a:spcAft>
              <a:buSzPct val="100000"/>
              <a:buChar char="•"/>
            </a:pPr>
            <a:r>
              <a:rPr lang="en-US" sz="1400" dirty="0">
                <a:solidFill>
                  <a:srgbClr val="EAF2FA"/>
                </a:solidFill>
                <a:latin typeface="Calibri" pitchFamily="34" charset="0"/>
                <a:ea typeface="Calibri" pitchFamily="34" charset="-122"/>
                <a:cs typeface="Calibri" pitchFamily="34" charset="-120"/>
              </a:rPr>
              <a:t>Reason over uploaded files or files referenced via /</a:t>
            </a:r>
            <a:endParaRPr lang="en-US" sz="1400" dirty="0"/>
          </a:p>
          <a:p>
            <a:pPr marL="342900" indent="-342900">
              <a:spcAft>
                <a:spcPts val="800"/>
              </a:spcAft>
              <a:buSzPct val="100000"/>
              <a:buChar char="•"/>
            </a:pPr>
            <a:r>
              <a:rPr lang="en-US" sz="1400" dirty="0">
                <a:solidFill>
                  <a:srgbClr val="EAF2FA"/>
                </a:solidFill>
                <a:latin typeface="Calibri" pitchFamily="34" charset="0"/>
                <a:ea typeface="Calibri" pitchFamily="34" charset="-122"/>
                <a:cs typeface="Calibri" pitchFamily="34" charset="-120"/>
              </a:rPr>
              <a:t>Suggested prompts personalised to your work</a:t>
            </a:r>
            <a:endParaRPr lang="en-US" sz="1400" dirty="0"/>
          </a:p>
          <a:p>
            <a:pPr marL="342900" indent="-342900">
              <a:spcAft>
                <a:spcPts val="800"/>
              </a:spcAft>
              <a:buSzPct val="100000"/>
              <a:buChar char="•"/>
            </a:pPr>
            <a:r>
              <a:rPr lang="en-US" sz="1400" dirty="0">
                <a:solidFill>
                  <a:srgbClr val="EAF2FA"/>
                </a:solidFill>
                <a:latin typeface="Calibri" pitchFamily="34" charset="0"/>
                <a:ea typeface="Calibri" pitchFamily="34" charset="-122"/>
                <a:cs typeface="Calibri" pitchFamily="34" charset="-120"/>
              </a:rPr>
              <a:t>Enterprise data protection on every prompt</a:t>
            </a:r>
            <a:endParaRPr lang="en-US" sz="1400" dirty="0"/>
          </a:p>
        </p:txBody>
      </p:sp>
      <p:sp>
        <p:nvSpPr>
          <p:cNvPr id="15" name="Shape 11"/>
          <p:cNvSpPr/>
          <p:nvPr/>
        </p:nvSpPr>
        <p:spPr>
          <a:xfrm>
            <a:off x="6277356" y="1920240"/>
            <a:ext cx="5362956" cy="4297680"/>
          </a:xfrm>
          <a:prstGeom prst="rect">
            <a:avLst/>
          </a:prstGeom>
          <a:solidFill>
            <a:srgbClr val="153A5C"/>
          </a:solidFill>
          <a:ln w="15240">
            <a:solidFill>
              <a:srgbClr val="FFB81C"/>
            </a:solidFill>
            <a:prstDash val="solid"/>
          </a:ln>
        </p:spPr>
        <p:txBody>
          <a:bodyPr/>
          <a:lstStyle/>
          <a:p>
            <a:endParaRPr lang="en-US"/>
          </a:p>
        </p:txBody>
      </p:sp>
      <p:sp>
        <p:nvSpPr>
          <p:cNvPr id="16" name="Shape 12"/>
          <p:cNvSpPr/>
          <p:nvPr/>
        </p:nvSpPr>
        <p:spPr>
          <a:xfrm>
            <a:off x="6277356" y="1920240"/>
            <a:ext cx="5362956" cy="91440"/>
          </a:xfrm>
          <a:prstGeom prst="rect">
            <a:avLst/>
          </a:prstGeom>
          <a:solidFill>
            <a:srgbClr val="FFB81C"/>
          </a:solidFill>
          <a:ln w="12700">
            <a:solidFill>
              <a:srgbClr val="333333"/>
            </a:solidFill>
            <a:prstDash val="solid"/>
          </a:ln>
        </p:spPr>
        <p:txBody>
          <a:bodyPr/>
          <a:lstStyle/>
          <a:p>
            <a:endParaRPr lang="en-US"/>
          </a:p>
        </p:txBody>
      </p:sp>
      <p:sp>
        <p:nvSpPr>
          <p:cNvPr id="17" name="Text 13"/>
          <p:cNvSpPr/>
          <p:nvPr/>
        </p:nvSpPr>
        <p:spPr>
          <a:xfrm>
            <a:off x="6597396" y="2240280"/>
            <a:ext cx="4905756" cy="5029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Microsoft 365 Copilot</a:t>
            </a:r>
            <a:endParaRPr lang="en-US" sz="2600" dirty="0"/>
          </a:p>
        </p:txBody>
      </p:sp>
      <p:sp>
        <p:nvSpPr>
          <p:cNvPr id="18" name="Text 14"/>
          <p:cNvSpPr/>
          <p:nvPr/>
        </p:nvSpPr>
        <p:spPr>
          <a:xfrm>
            <a:off x="6597396" y="2788920"/>
            <a:ext cx="4905756" cy="365760"/>
          </a:xfrm>
          <a:prstGeom prst="rect">
            <a:avLst/>
          </a:prstGeom>
          <a:noFill/>
          <a:ln/>
        </p:spPr>
        <p:txBody>
          <a:bodyPr wrap="square" lIns="0" tIns="0" rIns="0" bIns="0" rtlCol="0" anchor="ctr"/>
          <a:lstStyle/>
          <a:p>
            <a:pPr marL="0" indent="0">
              <a:buNone/>
            </a:pPr>
            <a:r>
              <a:rPr lang="en-US" sz="1300" i="1" dirty="0">
                <a:solidFill>
                  <a:srgbClr val="FFB81C"/>
                </a:solidFill>
                <a:latin typeface="Calibri" pitchFamily="34" charset="0"/>
                <a:ea typeface="Calibri" pitchFamily="34" charset="-122"/>
                <a:cs typeface="Calibri" pitchFamily="34" charset="-120"/>
              </a:rPr>
              <a:t>Licensed experience with full access to your work data</a:t>
            </a:r>
            <a:endParaRPr lang="en-US" sz="1300" dirty="0"/>
          </a:p>
        </p:txBody>
      </p:sp>
      <p:sp>
        <p:nvSpPr>
          <p:cNvPr id="19" name="Text 15"/>
          <p:cNvSpPr/>
          <p:nvPr/>
        </p:nvSpPr>
        <p:spPr>
          <a:xfrm>
            <a:off x="6597396" y="3383280"/>
            <a:ext cx="4905756" cy="265176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EAF2FA"/>
                </a:solidFill>
                <a:latin typeface="Calibri" pitchFamily="34" charset="0"/>
                <a:ea typeface="Calibri" pitchFamily="34" charset="-122"/>
                <a:cs typeface="Calibri" pitchFamily="34" charset="-120"/>
              </a:rPr>
              <a:t>Access to your organisation's SharePoint, OneDrive, email, meetings, chats</a:t>
            </a:r>
            <a:endParaRPr lang="en-US" sz="1400" dirty="0"/>
          </a:p>
          <a:p>
            <a:pPr marL="342900" indent="-342900">
              <a:spcAft>
                <a:spcPts val="800"/>
              </a:spcAft>
              <a:buSzPct val="100000"/>
              <a:buChar char="•"/>
            </a:pPr>
            <a:r>
              <a:rPr lang="en-US" sz="1400" dirty="0">
                <a:solidFill>
                  <a:srgbClr val="EAF2FA"/>
                </a:solidFill>
                <a:latin typeface="Calibri" pitchFamily="34" charset="0"/>
                <a:ea typeface="Calibri" pitchFamily="34" charset="-122"/>
                <a:cs typeface="Calibri" pitchFamily="34" charset="-120"/>
              </a:rPr>
              <a:t>Powered by Work IQ — understands your context, workflows and relationships</a:t>
            </a:r>
            <a:endParaRPr lang="en-US" sz="1400" dirty="0"/>
          </a:p>
          <a:p>
            <a:pPr marL="342900" indent="-342900">
              <a:spcAft>
                <a:spcPts val="800"/>
              </a:spcAft>
              <a:buSzPct val="100000"/>
              <a:buChar char="•"/>
            </a:pPr>
            <a:r>
              <a:rPr lang="en-US" sz="1400" dirty="0">
                <a:solidFill>
                  <a:srgbClr val="EAF2FA"/>
                </a:solidFill>
                <a:latin typeface="Calibri" pitchFamily="34" charset="0"/>
                <a:ea typeface="Calibri" pitchFamily="34" charset="-122"/>
                <a:cs typeface="Calibri" pitchFamily="34" charset="-120"/>
              </a:rPr>
              <a:t>Embedded in Outlook, Teams, Word, Excel, PowerPoint</a:t>
            </a:r>
            <a:endParaRPr lang="en-US" sz="1400" dirty="0"/>
          </a:p>
          <a:p>
            <a:pPr marL="342900" indent="-342900">
              <a:spcAft>
                <a:spcPts val="800"/>
              </a:spcAft>
              <a:buSzPct val="100000"/>
              <a:buChar char="•"/>
            </a:pPr>
            <a:r>
              <a:rPr lang="en-US" sz="1400" dirty="0">
                <a:solidFill>
                  <a:srgbClr val="EAF2FA"/>
                </a:solidFill>
                <a:latin typeface="Calibri" pitchFamily="34" charset="0"/>
                <a:ea typeface="Calibri" pitchFamily="34" charset="-122"/>
                <a:cs typeface="Calibri" pitchFamily="34" charset="-120"/>
              </a:rPr>
              <a:t>Memory and personalisation tuned to how you work</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What's in Microsoft 365 Copilot</a:t>
            </a:r>
            <a:endParaRPr lang="en-US" sz="3200" dirty="0"/>
          </a:p>
        </p:txBody>
      </p:sp>
      <p:sp>
        <p:nvSpPr>
          <p:cNvPr id="6" name="Shape 2"/>
          <p:cNvSpPr/>
          <p:nvPr/>
        </p:nvSpPr>
        <p:spPr>
          <a:xfrm>
            <a:off x="548640" y="1097280"/>
            <a:ext cx="1280160" cy="64008"/>
          </a:xfrm>
          <a:prstGeom prst="rect">
            <a:avLst/>
          </a:prstGeom>
          <a:solidFill>
            <a:srgbClr val="FFB81C"/>
          </a:solidFill>
          <a:ln w="12700">
            <a:solidFill>
              <a:srgbClr val="FFB81C"/>
            </a:solidFill>
            <a:prstDash val="solid"/>
          </a:ln>
        </p:spPr>
        <p:txBody>
          <a:bodyPr/>
          <a:lstStyle/>
          <a:p>
            <a:endParaRPr lang="en-US"/>
          </a:p>
        </p:txBody>
      </p:sp>
      <p:sp>
        <p:nvSpPr>
          <p:cNvPr id="7" name="Shape 3"/>
          <p:cNvSpPr/>
          <p:nvPr/>
        </p:nvSpPr>
        <p:spPr>
          <a:xfrm>
            <a:off x="1920240" y="1097280"/>
            <a:ext cx="640080" cy="64008"/>
          </a:xfrm>
          <a:prstGeom prst="rect">
            <a:avLst/>
          </a:prstGeom>
          <a:solidFill>
            <a:srgbClr val="4FC3F7"/>
          </a:solidFill>
          <a:ln w="12700">
            <a:solidFill>
              <a:srgbClr val="4FC3F7"/>
            </a:solidFill>
            <a:prstDash val="solid"/>
          </a:ln>
        </p:spPr>
        <p:txBody>
          <a:bodyPr/>
          <a:lstStyle/>
          <a:p>
            <a:endParaRPr lang="en-US"/>
          </a:p>
        </p:txBody>
      </p:sp>
      <p:sp>
        <p:nvSpPr>
          <p:cNvPr id="8" name="Text 4"/>
          <p:cNvSpPr/>
          <p:nvPr/>
        </p:nvSpPr>
        <p:spPr>
          <a:xfrm>
            <a:off x="548640" y="1325880"/>
            <a:ext cx="10972800" cy="411480"/>
          </a:xfrm>
          <a:prstGeom prst="rect">
            <a:avLst/>
          </a:prstGeom>
          <a:noFill/>
          <a:ln/>
        </p:spPr>
        <p:txBody>
          <a:bodyPr wrap="square" lIns="0" tIns="0" rIns="0" bIns="0" rtlCol="0" anchor="ctr"/>
          <a:lstStyle/>
          <a:p>
            <a:pPr marL="0" indent="0">
              <a:buNone/>
            </a:pPr>
            <a:r>
              <a:rPr lang="en-US" sz="1400" i="1" dirty="0">
                <a:solidFill>
                  <a:srgbClr val="EAF2FA"/>
                </a:solidFill>
                <a:latin typeface="Calibri" pitchFamily="34" charset="0"/>
                <a:ea typeface="Calibri" pitchFamily="34" charset="-122"/>
                <a:cs typeface="Calibri" pitchFamily="34" charset="-120"/>
              </a:rPr>
              <a:t>A connected suite of capabilities, all in one app</a:t>
            </a:r>
            <a:endParaRPr lang="en-US" sz="1400" dirty="0"/>
          </a:p>
        </p:txBody>
      </p:sp>
      <p:sp>
        <p:nvSpPr>
          <p:cNvPr id="9" name="Text 5"/>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16 / 40</a:t>
            </a:r>
            <a:endParaRPr lang="en-US" sz="900" dirty="0"/>
          </a:p>
        </p:txBody>
      </p:sp>
      <p:sp>
        <p:nvSpPr>
          <p:cNvPr id="10" name="Shape 6"/>
          <p:cNvSpPr/>
          <p:nvPr/>
        </p:nvSpPr>
        <p:spPr>
          <a:xfrm>
            <a:off x="548640" y="1920240"/>
            <a:ext cx="3544824" cy="2034540"/>
          </a:xfrm>
          <a:prstGeom prst="rect">
            <a:avLst/>
          </a:prstGeom>
          <a:solidFill>
            <a:srgbClr val="0A2A44"/>
          </a:solidFill>
          <a:ln w="6350">
            <a:solidFill>
              <a:srgbClr val="1E3A5C"/>
            </a:solidFill>
            <a:prstDash val="solid"/>
          </a:ln>
        </p:spPr>
        <p:txBody>
          <a:bodyPr/>
          <a:lstStyle/>
          <a:p>
            <a:endParaRPr lang="en-US"/>
          </a:p>
        </p:txBody>
      </p:sp>
      <p:sp>
        <p:nvSpPr>
          <p:cNvPr id="11" name="Shape 7"/>
          <p:cNvSpPr/>
          <p:nvPr/>
        </p:nvSpPr>
        <p:spPr>
          <a:xfrm>
            <a:off x="868680" y="2240280"/>
            <a:ext cx="502920" cy="502920"/>
          </a:xfrm>
          <a:prstGeom prst="ellipse">
            <a:avLst/>
          </a:prstGeom>
          <a:solidFill>
            <a:srgbClr val="FFB81C"/>
          </a:solidFill>
          <a:ln w="12700">
            <a:solidFill>
              <a:srgbClr val="333333"/>
            </a:solidFill>
            <a:prstDash val="solid"/>
          </a:ln>
        </p:spPr>
        <p:txBody>
          <a:bodyPr/>
          <a:lstStyle/>
          <a:p>
            <a:endParaRPr lang="en-US"/>
          </a:p>
        </p:txBody>
      </p:sp>
      <p:sp>
        <p:nvSpPr>
          <p:cNvPr id="12" name="Text 8"/>
          <p:cNvSpPr/>
          <p:nvPr/>
        </p:nvSpPr>
        <p:spPr>
          <a:xfrm>
            <a:off x="868680" y="2240280"/>
            <a:ext cx="502920" cy="502920"/>
          </a:xfrm>
          <a:prstGeom prst="rect">
            <a:avLst/>
          </a:prstGeom>
          <a:noFill/>
          <a:ln/>
        </p:spPr>
        <p:txBody>
          <a:bodyPr wrap="square" lIns="0" tIns="0" rIns="0" bIns="0" rtlCol="0" anchor="ctr"/>
          <a:lstStyle/>
          <a:p>
            <a:pPr marL="0" indent="0" algn="ctr">
              <a:buNone/>
            </a:pPr>
            <a:r>
              <a:rPr lang="en-US" sz="1800" b="1" dirty="0">
                <a:solidFill>
                  <a:srgbClr val="001F33"/>
                </a:solidFill>
                <a:latin typeface="Calibri" pitchFamily="34" charset="0"/>
                <a:ea typeface="Calibri" pitchFamily="34" charset="-122"/>
                <a:cs typeface="Calibri" pitchFamily="34" charset="-120"/>
              </a:rPr>
              <a:t>1</a:t>
            </a:r>
            <a:endParaRPr lang="en-US" sz="1800" dirty="0"/>
          </a:p>
        </p:txBody>
      </p:sp>
      <p:sp>
        <p:nvSpPr>
          <p:cNvPr id="13" name="Text 9"/>
          <p:cNvSpPr/>
          <p:nvPr/>
        </p:nvSpPr>
        <p:spPr>
          <a:xfrm>
            <a:off x="1508760" y="2240280"/>
            <a:ext cx="2356104"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Chat</a:t>
            </a:r>
            <a:endParaRPr lang="en-US" sz="2200" dirty="0"/>
          </a:p>
        </p:txBody>
      </p:sp>
      <p:sp>
        <p:nvSpPr>
          <p:cNvPr id="14" name="Text 10"/>
          <p:cNvSpPr/>
          <p:nvPr/>
        </p:nvSpPr>
        <p:spPr>
          <a:xfrm>
            <a:off x="868680" y="2926080"/>
            <a:ext cx="2904744" cy="845820"/>
          </a:xfrm>
          <a:prstGeom prst="rect">
            <a:avLst/>
          </a:prstGeom>
          <a:noFill/>
          <a:ln/>
        </p:spPr>
        <p:txBody>
          <a:bodyPr wrap="square" lIns="0" tIns="0" rIns="0" bIns="0" rtlCol="0" anchor="ctr"/>
          <a:lstStyle/>
          <a:p>
            <a:pPr marL="0" indent="0">
              <a:buNone/>
            </a:pPr>
            <a:r>
              <a:rPr lang="en-US" sz="1300" dirty="0">
                <a:solidFill>
                  <a:srgbClr val="EAF2FA"/>
                </a:solidFill>
                <a:latin typeface="Calibri" pitchFamily="34" charset="0"/>
                <a:ea typeface="Calibri" pitchFamily="34" charset="-122"/>
                <a:cs typeface="Calibri" pitchFamily="34" charset="-120"/>
              </a:rPr>
              <a:t>Secure AI chat with the latest models and Work IQ as the intelligence layer.</a:t>
            </a:r>
            <a:endParaRPr lang="en-US" sz="1300" dirty="0"/>
          </a:p>
        </p:txBody>
      </p:sp>
      <p:sp>
        <p:nvSpPr>
          <p:cNvPr id="15" name="Shape 11"/>
          <p:cNvSpPr/>
          <p:nvPr/>
        </p:nvSpPr>
        <p:spPr>
          <a:xfrm>
            <a:off x="4322064" y="1920240"/>
            <a:ext cx="3544824" cy="2034540"/>
          </a:xfrm>
          <a:prstGeom prst="rect">
            <a:avLst/>
          </a:prstGeom>
          <a:solidFill>
            <a:srgbClr val="0A2A44"/>
          </a:solidFill>
          <a:ln w="6350">
            <a:solidFill>
              <a:srgbClr val="1E3A5C"/>
            </a:solidFill>
            <a:prstDash val="solid"/>
          </a:ln>
        </p:spPr>
        <p:txBody>
          <a:bodyPr/>
          <a:lstStyle/>
          <a:p>
            <a:endParaRPr lang="en-US"/>
          </a:p>
        </p:txBody>
      </p:sp>
      <p:sp>
        <p:nvSpPr>
          <p:cNvPr id="16" name="Shape 12"/>
          <p:cNvSpPr/>
          <p:nvPr/>
        </p:nvSpPr>
        <p:spPr>
          <a:xfrm>
            <a:off x="4642104" y="2240280"/>
            <a:ext cx="502920" cy="502920"/>
          </a:xfrm>
          <a:prstGeom prst="ellipse">
            <a:avLst/>
          </a:prstGeom>
          <a:solidFill>
            <a:srgbClr val="4FC3F7"/>
          </a:solidFill>
          <a:ln w="12700">
            <a:solidFill>
              <a:srgbClr val="333333"/>
            </a:solidFill>
            <a:prstDash val="solid"/>
          </a:ln>
        </p:spPr>
        <p:txBody>
          <a:bodyPr/>
          <a:lstStyle/>
          <a:p>
            <a:endParaRPr lang="en-US"/>
          </a:p>
        </p:txBody>
      </p:sp>
      <p:sp>
        <p:nvSpPr>
          <p:cNvPr id="17" name="Text 13"/>
          <p:cNvSpPr/>
          <p:nvPr/>
        </p:nvSpPr>
        <p:spPr>
          <a:xfrm>
            <a:off x="4642104" y="2240280"/>
            <a:ext cx="502920" cy="502920"/>
          </a:xfrm>
          <a:prstGeom prst="rect">
            <a:avLst/>
          </a:prstGeom>
          <a:noFill/>
          <a:ln/>
        </p:spPr>
        <p:txBody>
          <a:bodyPr wrap="square" lIns="0" tIns="0" rIns="0" bIns="0" rtlCol="0" anchor="ctr"/>
          <a:lstStyle/>
          <a:p>
            <a:pPr marL="0" indent="0" algn="ctr">
              <a:buNone/>
            </a:pPr>
            <a:r>
              <a:rPr lang="en-US" sz="1800" b="1" dirty="0">
                <a:solidFill>
                  <a:srgbClr val="001F33"/>
                </a:solidFill>
                <a:latin typeface="Calibri" pitchFamily="34" charset="0"/>
                <a:ea typeface="Calibri" pitchFamily="34" charset="-122"/>
                <a:cs typeface="Calibri" pitchFamily="34" charset="-120"/>
              </a:rPr>
              <a:t>2</a:t>
            </a:r>
            <a:endParaRPr lang="en-US" sz="1800" dirty="0"/>
          </a:p>
        </p:txBody>
      </p:sp>
      <p:sp>
        <p:nvSpPr>
          <p:cNvPr id="18" name="Text 14"/>
          <p:cNvSpPr/>
          <p:nvPr/>
        </p:nvSpPr>
        <p:spPr>
          <a:xfrm>
            <a:off x="5282184" y="2240280"/>
            <a:ext cx="2356104"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Search</a:t>
            </a:r>
            <a:endParaRPr lang="en-US" sz="2200" dirty="0"/>
          </a:p>
        </p:txBody>
      </p:sp>
      <p:sp>
        <p:nvSpPr>
          <p:cNvPr id="19" name="Text 15"/>
          <p:cNvSpPr/>
          <p:nvPr/>
        </p:nvSpPr>
        <p:spPr>
          <a:xfrm>
            <a:off x="4642104" y="2926080"/>
            <a:ext cx="2904744" cy="845820"/>
          </a:xfrm>
          <a:prstGeom prst="rect">
            <a:avLst/>
          </a:prstGeom>
          <a:noFill/>
          <a:ln/>
        </p:spPr>
        <p:txBody>
          <a:bodyPr wrap="square" lIns="0" tIns="0" rIns="0" bIns="0" rtlCol="0" anchor="ctr"/>
          <a:lstStyle/>
          <a:p>
            <a:pPr marL="0" indent="0">
              <a:buNone/>
            </a:pPr>
            <a:r>
              <a:rPr lang="en-US" sz="1300" dirty="0">
                <a:solidFill>
                  <a:srgbClr val="EAF2FA"/>
                </a:solidFill>
                <a:latin typeface="Calibri" pitchFamily="34" charset="0"/>
                <a:ea typeface="Calibri" pitchFamily="34" charset="-122"/>
                <a:cs typeface="Calibri" pitchFamily="34" charset="-120"/>
              </a:rPr>
              <a:t>AI search across M365, on-prem and 100+ third-party connectors.</a:t>
            </a:r>
            <a:endParaRPr lang="en-US" sz="1300" dirty="0"/>
          </a:p>
        </p:txBody>
      </p:sp>
      <p:sp>
        <p:nvSpPr>
          <p:cNvPr id="20" name="Shape 16"/>
          <p:cNvSpPr/>
          <p:nvPr/>
        </p:nvSpPr>
        <p:spPr>
          <a:xfrm>
            <a:off x="8095488" y="1920240"/>
            <a:ext cx="3544824" cy="2034540"/>
          </a:xfrm>
          <a:prstGeom prst="rect">
            <a:avLst/>
          </a:prstGeom>
          <a:solidFill>
            <a:srgbClr val="0A2A44"/>
          </a:solidFill>
          <a:ln w="6350">
            <a:solidFill>
              <a:srgbClr val="1E3A5C"/>
            </a:solidFill>
            <a:prstDash val="solid"/>
          </a:ln>
        </p:spPr>
        <p:txBody>
          <a:bodyPr/>
          <a:lstStyle/>
          <a:p>
            <a:endParaRPr lang="en-US"/>
          </a:p>
        </p:txBody>
      </p:sp>
      <p:sp>
        <p:nvSpPr>
          <p:cNvPr id="21" name="Shape 17"/>
          <p:cNvSpPr/>
          <p:nvPr/>
        </p:nvSpPr>
        <p:spPr>
          <a:xfrm>
            <a:off x="8415528" y="2240280"/>
            <a:ext cx="502920" cy="502920"/>
          </a:xfrm>
          <a:prstGeom prst="ellipse">
            <a:avLst/>
          </a:prstGeom>
          <a:solidFill>
            <a:srgbClr val="FFB81C"/>
          </a:solidFill>
          <a:ln w="12700">
            <a:solidFill>
              <a:srgbClr val="333333"/>
            </a:solidFill>
            <a:prstDash val="solid"/>
          </a:ln>
        </p:spPr>
        <p:txBody>
          <a:bodyPr/>
          <a:lstStyle/>
          <a:p>
            <a:endParaRPr lang="en-US"/>
          </a:p>
        </p:txBody>
      </p:sp>
      <p:sp>
        <p:nvSpPr>
          <p:cNvPr id="22" name="Text 18"/>
          <p:cNvSpPr/>
          <p:nvPr/>
        </p:nvSpPr>
        <p:spPr>
          <a:xfrm>
            <a:off x="8415528" y="2240280"/>
            <a:ext cx="502920" cy="502920"/>
          </a:xfrm>
          <a:prstGeom prst="rect">
            <a:avLst/>
          </a:prstGeom>
          <a:noFill/>
          <a:ln/>
        </p:spPr>
        <p:txBody>
          <a:bodyPr wrap="square" lIns="0" tIns="0" rIns="0" bIns="0" rtlCol="0" anchor="ctr"/>
          <a:lstStyle/>
          <a:p>
            <a:pPr marL="0" indent="0" algn="ctr">
              <a:buNone/>
            </a:pPr>
            <a:r>
              <a:rPr lang="en-US" sz="1800" b="1" dirty="0">
                <a:solidFill>
                  <a:srgbClr val="001F33"/>
                </a:solidFill>
                <a:latin typeface="Calibri" pitchFamily="34" charset="0"/>
                <a:ea typeface="Calibri" pitchFamily="34" charset="-122"/>
                <a:cs typeface="Calibri" pitchFamily="34" charset="-120"/>
              </a:rPr>
              <a:t>3</a:t>
            </a:r>
            <a:endParaRPr lang="en-US" sz="1800" dirty="0"/>
          </a:p>
        </p:txBody>
      </p:sp>
      <p:sp>
        <p:nvSpPr>
          <p:cNvPr id="23" name="Text 19"/>
          <p:cNvSpPr/>
          <p:nvPr/>
        </p:nvSpPr>
        <p:spPr>
          <a:xfrm>
            <a:off x="9055608" y="2240280"/>
            <a:ext cx="2356104"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Agents</a:t>
            </a:r>
            <a:endParaRPr lang="en-US" sz="2200" dirty="0"/>
          </a:p>
        </p:txBody>
      </p:sp>
      <p:sp>
        <p:nvSpPr>
          <p:cNvPr id="24" name="Text 20"/>
          <p:cNvSpPr/>
          <p:nvPr/>
        </p:nvSpPr>
        <p:spPr>
          <a:xfrm>
            <a:off x="8415528" y="2926080"/>
            <a:ext cx="2904744" cy="845820"/>
          </a:xfrm>
          <a:prstGeom prst="rect">
            <a:avLst/>
          </a:prstGeom>
          <a:noFill/>
          <a:ln/>
        </p:spPr>
        <p:txBody>
          <a:bodyPr wrap="square" lIns="0" tIns="0" rIns="0" bIns="0" rtlCol="0" anchor="ctr"/>
          <a:lstStyle/>
          <a:p>
            <a:pPr marL="0" indent="0">
              <a:buNone/>
            </a:pPr>
            <a:r>
              <a:rPr lang="en-US" sz="1300" dirty="0">
                <a:solidFill>
                  <a:srgbClr val="EAF2FA"/>
                </a:solidFill>
                <a:latin typeface="Calibri" pitchFamily="34" charset="0"/>
                <a:ea typeface="Calibri" pitchFamily="34" charset="-122"/>
                <a:cs typeface="Calibri" pitchFamily="34" charset="-120"/>
              </a:rPr>
              <a:t>Pre-built agents in the Agent Store, plus build your own with Agent Builder.</a:t>
            </a:r>
            <a:endParaRPr lang="en-US" sz="1300" dirty="0"/>
          </a:p>
        </p:txBody>
      </p:sp>
      <p:sp>
        <p:nvSpPr>
          <p:cNvPr id="25" name="Shape 21"/>
          <p:cNvSpPr/>
          <p:nvPr/>
        </p:nvSpPr>
        <p:spPr>
          <a:xfrm>
            <a:off x="548640" y="4183380"/>
            <a:ext cx="3544824" cy="2034540"/>
          </a:xfrm>
          <a:prstGeom prst="rect">
            <a:avLst/>
          </a:prstGeom>
          <a:solidFill>
            <a:srgbClr val="0A2A44"/>
          </a:solidFill>
          <a:ln w="6350">
            <a:solidFill>
              <a:srgbClr val="1E3A5C"/>
            </a:solidFill>
            <a:prstDash val="solid"/>
          </a:ln>
        </p:spPr>
        <p:txBody>
          <a:bodyPr/>
          <a:lstStyle/>
          <a:p>
            <a:endParaRPr lang="en-US"/>
          </a:p>
        </p:txBody>
      </p:sp>
      <p:sp>
        <p:nvSpPr>
          <p:cNvPr id="26" name="Shape 22"/>
          <p:cNvSpPr/>
          <p:nvPr/>
        </p:nvSpPr>
        <p:spPr>
          <a:xfrm>
            <a:off x="868680" y="4503420"/>
            <a:ext cx="502920" cy="502920"/>
          </a:xfrm>
          <a:prstGeom prst="ellipse">
            <a:avLst/>
          </a:prstGeom>
          <a:solidFill>
            <a:srgbClr val="4FC3F7"/>
          </a:solidFill>
          <a:ln w="12700">
            <a:solidFill>
              <a:srgbClr val="333333"/>
            </a:solidFill>
            <a:prstDash val="solid"/>
          </a:ln>
        </p:spPr>
        <p:txBody>
          <a:bodyPr/>
          <a:lstStyle/>
          <a:p>
            <a:endParaRPr lang="en-US"/>
          </a:p>
        </p:txBody>
      </p:sp>
      <p:sp>
        <p:nvSpPr>
          <p:cNvPr id="27" name="Text 23"/>
          <p:cNvSpPr/>
          <p:nvPr/>
        </p:nvSpPr>
        <p:spPr>
          <a:xfrm>
            <a:off x="868680" y="4503420"/>
            <a:ext cx="502920" cy="502920"/>
          </a:xfrm>
          <a:prstGeom prst="rect">
            <a:avLst/>
          </a:prstGeom>
          <a:noFill/>
          <a:ln/>
        </p:spPr>
        <p:txBody>
          <a:bodyPr wrap="square" lIns="0" tIns="0" rIns="0" bIns="0" rtlCol="0" anchor="ctr"/>
          <a:lstStyle/>
          <a:p>
            <a:pPr marL="0" indent="0" algn="ctr">
              <a:buNone/>
            </a:pPr>
            <a:r>
              <a:rPr lang="en-US" sz="1800" b="1" dirty="0">
                <a:solidFill>
                  <a:srgbClr val="001F33"/>
                </a:solidFill>
                <a:latin typeface="Calibri" pitchFamily="34" charset="0"/>
                <a:ea typeface="Calibri" pitchFamily="34" charset="-122"/>
                <a:cs typeface="Calibri" pitchFamily="34" charset="-120"/>
              </a:rPr>
              <a:t>4</a:t>
            </a:r>
            <a:endParaRPr lang="en-US" sz="1800" dirty="0"/>
          </a:p>
        </p:txBody>
      </p:sp>
      <p:sp>
        <p:nvSpPr>
          <p:cNvPr id="28" name="Text 24"/>
          <p:cNvSpPr/>
          <p:nvPr/>
        </p:nvSpPr>
        <p:spPr>
          <a:xfrm>
            <a:off x="1508760" y="4503420"/>
            <a:ext cx="2356104"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Create</a:t>
            </a:r>
            <a:endParaRPr lang="en-US" sz="2200" dirty="0"/>
          </a:p>
        </p:txBody>
      </p:sp>
      <p:sp>
        <p:nvSpPr>
          <p:cNvPr id="29" name="Text 25"/>
          <p:cNvSpPr/>
          <p:nvPr/>
        </p:nvSpPr>
        <p:spPr>
          <a:xfrm>
            <a:off x="868680" y="5189220"/>
            <a:ext cx="2904744" cy="845820"/>
          </a:xfrm>
          <a:prstGeom prst="rect">
            <a:avLst/>
          </a:prstGeom>
          <a:noFill/>
          <a:ln/>
        </p:spPr>
        <p:txBody>
          <a:bodyPr wrap="square" lIns="0" tIns="0" rIns="0" bIns="0" rtlCol="0" anchor="ctr"/>
          <a:lstStyle/>
          <a:p>
            <a:pPr marL="0" indent="0">
              <a:buNone/>
            </a:pPr>
            <a:r>
              <a:rPr lang="en-US" sz="1300" dirty="0">
                <a:solidFill>
                  <a:srgbClr val="EAF2FA"/>
                </a:solidFill>
                <a:latin typeface="Calibri" pitchFamily="34" charset="0"/>
                <a:ea typeface="Calibri" pitchFamily="34" charset="-122"/>
                <a:cs typeface="Calibri" pitchFamily="34" charset="-120"/>
              </a:rPr>
              <a:t>AI-generated images, documents, spreadsheets and more.</a:t>
            </a:r>
            <a:endParaRPr lang="en-US" sz="1300" dirty="0"/>
          </a:p>
        </p:txBody>
      </p:sp>
      <p:sp>
        <p:nvSpPr>
          <p:cNvPr id="30" name="Shape 26"/>
          <p:cNvSpPr/>
          <p:nvPr/>
        </p:nvSpPr>
        <p:spPr>
          <a:xfrm>
            <a:off x="4322064" y="4183380"/>
            <a:ext cx="3544824" cy="2034540"/>
          </a:xfrm>
          <a:prstGeom prst="rect">
            <a:avLst/>
          </a:prstGeom>
          <a:solidFill>
            <a:srgbClr val="0A2A44"/>
          </a:solidFill>
          <a:ln w="6350">
            <a:solidFill>
              <a:srgbClr val="1E3A5C"/>
            </a:solidFill>
            <a:prstDash val="solid"/>
          </a:ln>
        </p:spPr>
        <p:txBody>
          <a:bodyPr/>
          <a:lstStyle/>
          <a:p>
            <a:endParaRPr lang="en-US"/>
          </a:p>
        </p:txBody>
      </p:sp>
      <p:sp>
        <p:nvSpPr>
          <p:cNvPr id="31" name="Shape 27"/>
          <p:cNvSpPr/>
          <p:nvPr/>
        </p:nvSpPr>
        <p:spPr>
          <a:xfrm>
            <a:off x="4642104" y="4503420"/>
            <a:ext cx="502920" cy="502920"/>
          </a:xfrm>
          <a:prstGeom prst="ellipse">
            <a:avLst/>
          </a:prstGeom>
          <a:solidFill>
            <a:srgbClr val="FFB81C"/>
          </a:solidFill>
          <a:ln w="12700">
            <a:solidFill>
              <a:srgbClr val="333333"/>
            </a:solidFill>
            <a:prstDash val="solid"/>
          </a:ln>
        </p:spPr>
        <p:txBody>
          <a:bodyPr/>
          <a:lstStyle/>
          <a:p>
            <a:endParaRPr lang="en-US"/>
          </a:p>
        </p:txBody>
      </p:sp>
      <p:sp>
        <p:nvSpPr>
          <p:cNvPr id="32" name="Text 28"/>
          <p:cNvSpPr/>
          <p:nvPr/>
        </p:nvSpPr>
        <p:spPr>
          <a:xfrm>
            <a:off x="4642104" y="4503420"/>
            <a:ext cx="502920" cy="502920"/>
          </a:xfrm>
          <a:prstGeom prst="rect">
            <a:avLst/>
          </a:prstGeom>
          <a:noFill/>
          <a:ln/>
        </p:spPr>
        <p:txBody>
          <a:bodyPr wrap="square" lIns="0" tIns="0" rIns="0" bIns="0" rtlCol="0" anchor="ctr"/>
          <a:lstStyle/>
          <a:p>
            <a:pPr marL="0" indent="0" algn="ctr">
              <a:buNone/>
            </a:pPr>
            <a:r>
              <a:rPr lang="en-US" sz="1800" b="1" dirty="0">
                <a:solidFill>
                  <a:srgbClr val="001F33"/>
                </a:solidFill>
                <a:latin typeface="Calibri" pitchFamily="34" charset="0"/>
                <a:ea typeface="Calibri" pitchFamily="34" charset="-122"/>
                <a:cs typeface="Calibri" pitchFamily="34" charset="-120"/>
              </a:rPr>
              <a:t>5</a:t>
            </a:r>
            <a:endParaRPr lang="en-US" sz="1800" dirty="0"/>
          </a:p>
        </p:txBody>
      </p:sp>
      <p:sp>
        <p:nvSpPr>
          <p:cNvPr id="33" name="Text 29"/>
          <p:cNvSpPr/>
          <p:nvPr/>
        </p:nvSpPr>
        <p:spPr>
          <a:xfrm>
            <a:off x="5282184" y="4503420"/>
            <a:ext cx="2356104"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Notebooks</a:t>
            </a:r>
            <a:endParaRPr lang="en-US" sz="2200" dirty="0"/>
          </a:p>
        </p:txBody>
      </p:sp>
      <p:sp>
        <p:nvSpPr>
          <p:cNvPr id="34" name="Text 30"/>
          <p:cNvSpPr/>
          <p:nvPr/>
        </p:nvSpPr>
        <p:spPr>
          <a:xfrm>
            <a:off x="4642104" y="5189220"/>
            <a:ext cx="2904744" cy="845820"/>
          </a:xfrm>
          <a:prstGeom prst="rect">
            <a:avLst/>
          </a:prstGeom>
          <a:noFill/>
          <a:ln/>
        </p:spPr>
        <p:txBody>
          <a:bodyPr wrap="square" lIns="0" tIns="0" rIns="0" bIns="0" rtlCol="0" anchor="ctr"/>
          <a:lstStyle/>
          <a:p>
            <a:pPr marL="0" indent="0">
              <a:buNone/>
            </a:pPr>
            <a:r>
              <a:rPr lang="en-US" sz="1300" dirty="0">
                <a:solidFill>
                  <a:srgbClr val="EAF2FA"/>
                </a:solidFill>
                <a:latin typeface="Calibri" pitchFamily="34" charset="0"/>
                <a:ea typeface="Calibri" pitchFamily="34" charset="-122"/>
                <a:cs typeface="Calibri" pitchFamily="34" charset="-120"/>
              </a:rPr>
              <a:t>Multi-source workspaces grounded in mixed content for richer responses.</a:t>
            </a:r>
            <a:endParaRPr lang="en-US" sz="1300" dirty="0"/>
          </a:p>
        </p:txBody>
      </p:sp>
      <p:sp>
        <p:nvSpPr>
          <p:cNvPr id="35" name="Shape 31"/>
          <p:cNvSpPr/>
          <p:nvPr/>
        </p:nvSpPr>
        <p:spPr>
          <a:xfrm>
            <a:off x="8095488" y="4183380"/>
            <a:ext cx="3544824" cy="2034540"/>
          </a:xfrm>
          <a:prstGeom prst="rect">
            <a:avLst/>
          </a:prstGeom>
          <a:solidFill>
            <a:srgbClr val="0A2A44"/>
          </a:solidFill>
          <a:ln w="6350">
            <a:solidFill>
              <a:srgbClr val="1E3A5C"/>
            </a:solidFill>
            <a:prstDash val="solid"/>
          </a:ln>
        </p:spPr>
        <p:txBody>
          <a:bodyPr/>
          <a:lstStyle/>
          <a:p>
            <a:endParaRPr lang="en-US"/>
          </a:p>
        </p:txBody>
      </p:sp>
      <p:sp>
        <p:nvSpPr>
          <p:cNvPr id="36" name="Shape 32"/>
          <p:cNvSpPr/>
          <p:nvPr/>
        </p:nvSpPr>
        <p:spPr>
          <a:xfrm>
            <a:off x="8415528" y="4503420"/>
            <a:ext cx="502920" cy="502920"/>
          </a:xfrm>
          <a:prstGeom prst="ellipse">
            <a:avLst/>
          </a:prstGeom>
          <a:solidFill>
            <a:srgbClr val="4FC3F7"/>
          </a:solidFill>
          <a:ln w="12700">
            <a:solidFill>
              <a:srgbClr val="333333"/>
            </a:solidFill>
            <a:prstDash val="solid"/>
          </a:ln>
        </p:spPr>
        <p:txBody>
          <a:bodyPr/>
          <a:lstStyle/>
          <a:p>
            <a:endParaRPr lang="en-US"/>
          </a:p>
        </p:txBody>
      </p:sp>
      <p:sp>
        <p:nvSpPr>
          <p:cNvPr id="37" name="Text 33"/>
          <p:cNvSpPr/>
          <p:nvPr/>
        </p:nvSpPr>
        <p:spPr>
          <a:xfrm>
            <a:off x="8415528" y="4503420"/>
            <a:ext cx="502920" cy="502920"/>
          </a:xfrm>
          <a:prstGeom prst="rect">
            <a:avLst/>
          </a:prstGeom>
          <a:noFill/>
          <a:ln/>
        </p:spPr>
        <p:txBody>
          <a:bodyPr wrap="square" lIns="0" tIns="0" rIns="0" bIns="0" rtlCol="0" anchor="ctr"/>
          <a:lstStyle/>
          <a:p>
            <a:pPr marL="0" indent="0" algn="ctr">
              <a:buNone/>
            </a:pPr>
            <a:r>
              <a:rPr lang="en-US" sz="1800" b="1" dirty="0">
                <a:solidFill>
                  <a:srgbClr val="001F33"/>
                </a:solidFill>
                <a:latin typeface="Calibri" pitchFamily="34" charset="0"/>
                <a:ea typeface="Calibri" pitchFamily="34" charset="-122"/>
                <a:cs typeface="Calibri" pitchFamily="34" charset="-120"/>
              </a:rPr>
              <a:t>6</a:t>
            </a:r>
            <a:endParaRPr lang="en-US" sz="1800" dirty="0"/>
          </a:p>
        </p:txBody>
      </p:sp>
      <p:sp>
        <p:nvSpPr>
          <p:cNvPr id="38" name="Text 34"/>
          <p:cNvSpPr/>
          <p:nvPr/>
        </p:nvSpPr>
        <p:spPr>
          <a:xfrm>
            <a:off x="9055608" y="4503420"/>
            <a:ext cx="2356104" cy="50292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Pages</a:t>
            </a:r>
            <a:endParaRPr lang="en-US" sz="2200" dirty="0"/>
          </a:p>
        </p:txBody>
      </p:sp>
      <p:sp>
        <p:nvSpPr>
          <p:cNvPr id="39" name="Text 35"/>
          <p:cNvSpPr/>
          <p:nvPr/>
        </p:nvSpPr>
        <p:spPr>
          <a:xfrm>
            <a:off x="8415528" y="5189220"/>
            <a:ext cx="2904744" cy="845820"/>
          </a:xfrm>
          <a:prstGeom prst="rect">
            <a:avLst/>
          </a:prstGeom>
          <a:noFill/>
          <a:ln/>
        </p:spPr>
        <p:txBody>
          <a:bodyPr wrap="square" lIns="0" tIns="0" rIns="0" bIns="0" rtlCol="0" anchor="ctr"/>
          <a:lstStyle/>
          <a:p>
            <a:pPr marL="0" indent="0">
              <a:buNone/>
            </a:pPr>
            <a:r>
              <a:rPr lang="en-US" sz="1300" dirty="0">
                <a:solidFill>
                  <a:srgbClr val="EAF2FA"/>
                </a:solidFill>
                <a:latin typeface="Calibri" pitchFamily="34" charset="0"/>
                <a:ea typeface="Calibri" pitchFamily="34" charset="-122"/>
                <a:cs typeface="Calibri" pitchFamily="34" charset="-120"/>
              </a:rPr>
              <a:t>Live, shared canvases for ideas - refine with Copilot and your colleagues together.</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Copilot use cases</a:t>
            </a:r>
            <a:endParaRPr lang="en-US" sz="3200" dirty="0"/>
          </a:p>
        </p:txBody>
      </p:sp>
      <p:sp>
        <p:nvSpPr>
          <p:cNvPr id="6" name="Shape 2"/>
          <p:cNvSpPr/>
          <p:nvPr/>
        </p:nvSpPr>
        <p:spPr>
          <a:xfrm>
            <a:off x="548640" y="1097280"/>
            <a:ext cx="1280160" cy="64008"/>
          </a:xfrm>
          <a:prstGeom prst="rect">
            <a:avLst/>
          </a:prstGeom>
          <a:solidFill>
            <a:srgbClr val="FFB81C"/>
          </a:solidFill>
          <a:ln w="12700">
            <a:solidFill>
              <a:srgbClr val="FFB81C"/>
            </a:solidFill>
            <a:prstDash val="solid"/>
          </a:ln>
        </p:spPr>
        <p:txBody>
          <a:bodyPr/>
          <a:lstStyle/>
          <a:p>
            <a:endParaRPr lang="en-US"/>
          </a:p>
        </p:txBody>
      </p:sp>
      <p:sp>
        <p:nvSpPr>
          <p:cNvPr id="7" name="Shape 3"/>
          <p:cNvSpPr/>
          <p:nvPr/>
        </p:nvSpPr>
        <p:spPr>
          <a:xfrm>
            <a:off x="1920240" y="1097280"/>
            <a:ext cx="640080" cy="64008"/>
          </a:xfrm>
          <a:prstGeom prst="rect">
            <a:avLst/>
          </a:prstGeom>
          <a:solidFill>
            <a:srgbClr val="4FC3F7"/>
          </a:solidFill>
          <a:ln w="12700">
            <a:solidFill>
              <a:srgbClr val="4FC3F7"/>
            </a:solidFill>
            <a:prstDash val="solid"/>
          </a:ln>
        </p:spPr>
        <p:txBody>
          <a:bodyPr/>
          <a:lstStyle/>
          <a:p>
            <a:endParaRPr lang="en-US"/>
          </a:p>
        </p:txBody>
      </p:sp>
      <p:sp>
        <p:nvSpPr>
          <p:cNvPr id="8" name="Text 4"/>
          <p:cNvSpPr/>
          <p:nvPr/>
        </p:nvSpPr>
        <p:spPr>
          <a:xfrm>
            <a:off x="548640" y="1325880"/>
            <a:ext cx="10972800" cy="411480"/>
          </a:xfrm>
          <a:prstGeom prst="rect">
            <a:avLst/>
          </a:prstGeom>
          <a:noFill/>
          <a:ln/>
        </p:spPr>
        <p:txBody>
          <a:bodyPr wrap="square" lIns="0" tIns="0" rIns="0" bIns="0" rtlCol="0" anchor="ctr"/>
          <a:lstStyle/>
          <a:p>
            <a:pPr marL="0" indent="0">
              <a:buNone/>
            </a:pPr>
            <a:r>
              <a:rPr lang="en-US" sz="1400" i="1" dirty="0">
                <a:solidFill>
                  <a:srgbClr val="EAF2FA"/>
                </a:solidFill>
                <a:latin typeface="Calibri" pitchFamily="34" charset="0"/>
                <a:ea typeface="Calibri" pitchFamily="34" charset="-122"/>
                <a:cs typeface="Calibri" pitchFamily="34" charset="-120"/>
              </a:rPr>
              <a:t>Real moments where Copilot already shines for council teams</a:t>
            </a:r>
            <a:endParaRPr lang="en-US" sz="1400" dirty="0"/>
          </a:p>
        </p:txBody>
      </p:sp>
      <p:sp>
        <p:nvSpPr>
          <p:cNvPr id="9" name="Text 5"/>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17 / 40</a:t>
            </a:r>
            <a:endParaRPr lang="en-US" sz="900" dirty="0"/>
          </a:p>
        </p:txBody>
      </p:sp>
      <p:sp>
        <p:nvSpPr>
          <p:cNvPr id="10" name="Shape 6"/>
          <p:cNvSpPr/>
          <p:nvPr/>
        </p:nvSpPr>
        <p:spPr>
          <a:xfrm>
            <a:off x="548640" y="1920240"/>
            <a:ext cx="2635758" cy="2057400"/>
          </a:xfrm>
          <a:prstGeom prst="rect">
            <a:avLst/>
          </a:prstGeom>
          <a:solidFill>
            <a:srgbClr val="0A2A44"/>
          </a:solidFill>
          <a:ln w="6350">
            <a:solidFill>
              <a:srgbClr val="1E3A5C"/>
            </a:solidFill>
            <a:prstDash val="solid"/>
          </a:ln>
        </p:spPr>
        <p:txBody>
          <a:bodyPr/>
          <a:lstStyle/>
          <a:p>
            <a:endParaRPr lang="en-US"/>
          </a:p>
        </p:txBody>
      </p:sp>
      <p:sp>
        <p:nvSpPr>
          <p:cNvPr id="11" name="Shape 7"/>
          <p:cNvSpPr/>
          <p:nvPr/>
        </p:nvSpPr>
        <p:spPr>
          <a:xfrm>
            <a:off x="548640" y="1920240"/>
            <a:ext cx="2635758" cy="54864"/>
          </a:xfrm>
          <a:prstGeom prst="rect">
            <a:avLst/>
          </a:prstGeom>
          <a:solidFill>
            <a:srgbClr val="FFB81C"/>
          </a:solidFill>
          <a:ln w="12700">
            <a:solidFill>
              <a:srgbClr val="333333"/>
            </a:solidFill>
            <a:prstDash val="solid"/>
          </a:ln>
        </p:spPr>
        <p:txBody>
          <a:bodyPr/>
          <a:lstStyle/>
          <a:p>
            <a:endParaRPr lang="en-US"/>
          </a:p>
        </p:txBody>
      </p:sp>
      <p:sp>
        <p:nvSpPr>
          <p:cNvPr id="12" name="Text 8"/>
          <p:cNvSpPr/>
          <p:nvPr/>
        </p:nvSpPr>
        <p:spPr>
          <a:xfrm>
            <a:off x="777240" y="2286000"/>
            <a:ext cx="2178558" cy="12801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Prepare for a resident meeting</a:t>
            </a:r>
            <a:endParaRPr lang="en-US" sz="1500" dirty="0"/>
          </a:p>
        </p:txBody>
      </p:sp>
      <p:sp>
        <p:nvSpPr>
          <p:cNvPr id="13" name="Text 9"/>
          <p:cNvSpPr/>
          <p:nvPr/>
        </p:nvSpPr>
        <p:spPr>
          <a:xfrm>
            <a:off x="777240" y="3474720"/>
            <a:ext cx="2178558" cy="365760"/>
          </a:xfrm>
          <a:prstGeom prst="rect">
            <a:avLst/>
          </a:prstGeom>
          <a:noFill/>
          <a:ln/>
        </p:spPr>
        <p:txBody>
          <a:bodyPr wrap="square" lIns="0" tIns="0" rIns="0" bIns="0" rtlCol="0" anchor="ctr"/>
          <a:lstStyle/>
          <a:p>
            <a:pPr marL="0" indent="0">
              <a:buNone/>
            </a:pPr>
            <a:r>
              <a:rPr lang="en-US" sz="1200" i="1" dirty="0">
                <a:solidFill>
                  <a:srgbClr val="FFB81C"/>
                </a:solidFill>
                <a:latin typeface="Calibri" pitchFamily="34" charset="0"/>
                <a:ea typeface="Calibri" pitchFamily="34" charset="-122"/>
                <a:cs typeface="Calibri" pitchFamily="34" charset="-120"/>
              </a:rPr>
              <a:t>Researcher</a:t>
            </a:r>
            <a:endParaRPr lang="en-US" sz="1200" dirty="0"/>
          </a:p>
        </p:txBody>
      </p:sp>
      <p:sp>
        <p:nvSpPr>
          <p:cNvPr id="14" name="Shape 10"/>
          <p:cNvSpPr/>
          <p:nvPr/>
        </p:nvSpPr>
        <p:spPr>
          <a:xfrm>
            <a:off x="3367278" y="1920240"/>
            <a:ext cx="2635758" cy="2057400"/>
          </a:xfrm>
          <a:prstGeom prst="rect">
            <a:avLst/>
          </a:prstGeom>
          <a:solidFill>
            <a:srgbClr val="0A2A44"/>
          </a:solidFill>
          <a:ln w="6350">
            <a:solidFill>
              <a:srgbClr val="1E3A5C"/>
            </a:solidFill>
            <a:prstDash val="solid"/>
          </a:ln>
        </p:spPr>
        <p:txBody>
          <a:bodyPr/>
          <a:lstStyle/>
          <a:p>
            <a:endParaRPr lang="en-US"/>
          </a:p>
        </p:txBody>
      </p:sp>
      <p:sp>
        <p:nvSpPr>
          <p:cNvPr id="15" name="Shape 11"/>
          <p:cNvSpPr/>
          <p:nvPr/>
        </p:nvSpPr>
        <p:spPr>
          <a:xfrm>
            <a:off x="3367278" y="1920240"/>
            <a:ext cx="2635758" cy="54864"/>
          </a:xfrm>
          <a:prstGeom prst="rect">
            <a:avLst/>
          </a:prstGeom>
          <a:solidFill>
            <a:srgbClr val="4FC3F7"/>
          </a:solidFill>
          <a:ln w="12700">
            <a:solidFill>
              <a:srgbClr val="333333"/>
            </a:solidFill>
            <a:prstDash val="solid"/>
          </a:ln>
        </p:spPr>
        <p:txBody>
          <a:bodyPr/>
          <a:lstStyle/>
          <a:p>
            <a:endParaRPr lang="en-US"/>
          </a:p>
        </p:txBody>
      </p:sp>
      <p:sp>
        <p:nvSpPr>
          <p:cNvPr id="16" name="Text 12"/>
          <p:cNvSpPr/>
          <p:nvPr/>
        </p:nvSpPr>
        <p:spPr>
          <a:xfrm>
            <a:off x="3595878" y="2286000"/>
            <a:ext cx="2178558" cy="12801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Get proactive overviews of your day</a:t>
            </a:r>
            <a:endParaRPr lang="en-US" sz="1500" dirty="0"/>
          </a:p>
        </p:txBody>
      </p:sp>
      <p:sp>
        <p:nvSpPr>
          <p:cNvPr id="17" name="Text 13"/>
          <p:cNvSpPr/>
          <p:nvPr/>
        </p:nvSpPr>
        <p:spPr>
          <a:xfrm>
            <a:off x="3595878" y="3474720"/>
            <a:ext cx="2178558" cy="365760"/>
          </a:xfrm>
          <a:prstGeom prst="rect">
            <a:avLst/>
          </a:prstGeom>
          <a:noFill/>
          <a:ln/>
        </p:spPr>
        <p:txBody>
          <a:bodyPr wrap="square" lIns="0" tIns="0" rIns="0" bIns="0" rtlCol="0" anchor="ctr"/>
          <a:lstStyle/>
          <a:p>
            <a:pPr marL="0" indent="0">
              <a:buNone/>
            </a:pPr>
            <a:r>
              <a:rPr lang="en-US" sz="1200" i="1" dirty="0">
                <a:solidFill>
                  <a:srgbClr val="4FC3F7"/>
                </a:solidFill>
                <a:latin typeface="Calibri" pitchFamily="34" charset="0"/>
                <a:ea typeface="Calibri" pitchFamily="34" charset="-122"/>
                <a:cs typeface="Calibri" pitchFamily="34" charset="-120"/>
              </a:rPr>
              <a:t>Copilot Chat</a:t>
            </a:r>
            <a:endParaRPr lang="en-US" sz="1200" dirty="0"/>
          </a:p>
        </p:txBody>
      </p:sp>
      <p:sp>
        <p:nvSpPr>
          <p:cNvPr id="18" name="Shape 14"/>
          <p:cNvSpPr/>
          <p:nvPr/>
        </p:nvSpPr>
        <p:spPr>
          <a:xfrm>
            <a:off x="6185916" y="1920240"/>
            <a:ext cx="2635758" cy="2057400"/>
          </a:xfrm>
          <a:prstGeom prst="rect">
            <a:avLst/>
          </a:prstGeom>
          <a:solidFill>
            <a:srgbClr val="0A2A44"/>
          </a:solidFill>
          <a:ln w="6350">
            <a:solidFill>
              <a:srgbClr val="1E3A5C"/>
            </a:solidFill>
            <a:prstDash val="solid"/>
          </a:ln>
        </p:spPr>
        <p:txBody>
          <a:bodyPr/>
          <a:lstStyle/>
          <a:p>
            <a:endParaRPr lang="en-US"/>
          </a:p>
        </p:txBody>
      </p:sp>
      <p:sp>
        <p:nvSpPr>
          <p:cNvPr id="19" name="Shape 15"/>
          <p:cNvSpPr/>
          <p:nvPr/>
        </p:nvSpPr>
        <p:spPr>
          <a:xfrm>
            <a:off x="6185916" y="1920240"/>
            <a:ext cx="2635758" cy="54864"/>
          </a:xfrm>
          <a:prstGeom prst="rect">
            <a:avLst/>
          </a:prstGeom>
          <a:solidFill>
            <a:srgbClr val="FFB81C"/>
          </a:solidFill>
          <a:ln w="12700">
            <a:solidFill>
              <a:srgbClr val="333333"/>
            </a:solidFill>
            <a:prstDash val="solid"/>
          </a:ln>
        </p:spPr>
        <p:txBody>
          <a:bodyPr/>
          <a:lstStyle/>
          <a:p>
            <a:endParaRPr lang="en-US"/>
          </a:p>
        </p:txBody>
      </p:sp>
      <p:sp>
        <p:nvSpPr>
          <p:cNvPr id="20" name="Text 16"/>
          <p:cNvSpPr/>
          <p:nvPr/>
        </p:nvSpPr>
        <p:spPr>
          <a:xfrm>
            <a:off x="6414516" y="2286000"/>
            <a:ext cx="2178558" cy="12801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Never take meeting notes again</a:t>
            </a:r>
            <a:endParaRPr lang="en-US" sz="1500" dirty="0"/>
          </a:p>
        </p:txBody>
      </p:sp>
      <p:sp>
        <p:nvSpPr>
          <p:cNvPr id="21" name="Text 17"/>
          <p:cNvSpPr/>
          <p:nvPr/>
        </p:nvSpPr>
        <p:spPr>
          <a:xfrm>
            <a:off x="6414516" y="3474720"/>
            <a:ext cx="2178558" cy="365760"/>
          </a:xfrm>
          <a:prstGeom prst="rect">
            <a:avLst/>
          </a:prstGeom>
          <a:noFill/>
          <a:ln/>
        </p:spPr>
        <p:txBody>
          <a:bodyPr wrap="square" lIns="0" tIns="0" rIns="0" bIns="0" rtlCol="0" anchor="ctr"/>
          <a:lstStyle/>
          <a:p>
            <a:pPr marL="0" indent="0">
              <a:buNone/>
            </a:pPr>
            <a:r>
              <a:rPr lang="en-US" sz="1200" i="1" dirty="0">
                <a:solidFill>
                  <a:srgbClr val="FFB81C"/>
                </a:solidFill>
                <a:latin typeface="Calibri" pitchFamily="34" charset="0"/>
                <a:ea typeface="Calibri" pitchFamily="34" charset="-122"/>
                <a:cs typeface="Calibri" pitchFamily="34" charset="-120"/>
              </a:rPr>
              <a:t>Facilitator</a:t>
            </a:r>
            <a:endParaRPr lang="en-US" sz="1200" dirty="0"/>
          </a:p>
        </p:txBody>
      </p:sp>
      <p:sp>
        <p:nvSpPr>
          <p:cNvPr id="22" name="Shape 18"/>
          <p:cNvSpPr/>
          <p:nvPr/>
        </p:nvSpPr>
        <p:spPr>
          <a:xfrm>
            <a:off x="9004554" y="1920240"/>
            <a:ext cx="2635758" cy="2057400"/>
          </a:xfrm>
          <a:prstGeom prst="rect">
            <a:avLst/>
          </a:prstGeom>
          <a:solidFill>
            <a:srgbClr val="0A2A44"/>
          </a:solidFill>
          <a:ln w="6350">
            <a:solidFill>
              <a:srgbClr val="1E3A5C"/>
            </a:solidFill>
            <a:prstDash val="solid"/>
          </a:ln>
        </p:spPr>
        <p:txBody>
          <a:bodyPr/>
          <a:lstStyle/>
          <a:p>
            <a:endParaRPr lang="en-US"/>
          </a:p>
        </p:txBody>
      </p:sp>
      <p:sp>
        <p:nvSpPr>
          <p:cNvPr id="23" name="Shape 19"/>
          <p:cNvSpPr/>
          <p:nvPr/>
        </p:nvSpPr>
        <p:spPr>
          <a:xfrm>
            <a:off x="9004554" y="1920240"/>
            <a:ext cx="2635758" cy="54864"/>
          </a:xfrm>
          <a:prstGeom prst="rect">
            <a:avLst/>
          </a:prstGeom>
          <a:solidFill>
            <a:srgbClr val="4FC3F7"/>
          </a:solidFill>
          <a:ln w="12700">
            <a:solidFill>
              <a:srgbClr val="333333"/>
            </a:solidFill>
            <a:prstDash val="solid"/>
          </a:ln>
        </p:spPr>
        <p:txBody>
          <a:bodyPr/>
          <a:lstStyle/>
          <a:p>
            <a:endParaRPr lang="en-US"/>
          </a:p>
        </p:txBody>
      </p:sp>
      <p:sp>
        <p:nvSpPr>
          <p:cNvPr id="24" name="Text 20"/>
          <p:cNvSpPr/>
          <p:nvPr/>
        </p:nvSpPr>
        <p:spPr>
          <a:xfrm>
            <a:off x="9233154" y="2286000"/>
            <a:ext cx="2178558" cy="12801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Interpret multilingual conversations live</a:t>
            </a:r>
            <a:endParaRPr lang="en-US" sz="1500" dirty="0"/>
          </a:p>
        </p:txBody>
      </p:sp>
      <p:sp>
        <p:nvSpPr>
          <p:cNvPr id="25" name="Text 21"/>
          <p:cNvSpPr/>
          <p:nvPr/>
        </p:nvSpPr>
        <p:spPr>
          <a:xfrm>
            <a:off x="9233154" y="3474720"/>
            <a:ext cx="2178558" cy="365760"/>
          </a:xfrm>
          <a:prstGeom prst="rect">
            <a:avLst/>
          </a:prstGeom>
          <a:noFill/>
          <a:ln/>
        </p:spPr>
        <p:txBody>
          <a:bodyPr wrap="square" lIns="0" tIns="0" rIns="0" bIns="0" rtlCol="0" anchor="ctr"/>
          <a:lstStyle/>
          <a:p>
            <a:pPr marL="0" indent="0">
              <a:buNone/>
            </a:pPr>
            <a:r>
              <a:rPr lang="en-US" sz="1200" i="1" dirty="0">
                <a:solidFill>
                  <a:srgbClr val="4FC3F7"/>
                </a:solidFill>
                <a:latin typeface="Calibri" pitchFamily="34" charset="0"/>
                <a:ea typeface="Calibri" pitchFamily="34" charset="-122"/>
                <a:cs typeface="Calibri" pitchFamily="34" charset="-120"/>
              </a:rPr>
              <a:t>Interpreter</a:t>
            </a:r>
            <a:endParaRPr lang="en-US" sz="1200" dirty="0"/>
          </a:p>
        </p:txBody>
      </p:sp>
      <p:sp>
        <p:nvSpPr>
          <p:cNvPr id="26" name="Shape 22"/>
          <p:cNvSpPr/>
          <p:nvPr/>
        </p:nvSpPr>
        <p:spPr>
          <a:xfrm>
            <a:off x="548640" y="4160520"/>
            <a:ext cx="2635758" cy="2057400"/>
          </a:xfrm>
          <a:prstGeom prst="rect">
            <a:avLst/>
          </a:prstGeom>
          <a:solidFill>
            <a:srgbClr val="0A2A44"/>
          </a:solidFill>
          <a:ln w="6350">
            <a:solidFill>
              <a:srgbClr val="1E3A5C"/>
            </a:solidFill>
            <a:prstDash val="solid"/>
          </a:ln>
        </p:spPr>
        <p:txBody>
          <a:bodyPr/>
          <a:lstStyle/>
          <a:p>
            <a:endParaRPr lang="en-US"/>
          </a:p>
        </p:txBody>
      </p:sp>
      <p:sp>
        <p:nvSpPr>
          <p:cNvPr id="27" name="Shape 23"/>
          <p:cNvSpPr/>
          <p:nvPr/>
        </p:nvSpPr>
        <p:spPr>
          <a:xfrm>
            <a:off x="548640" y="4160520"/>
            <a:ext cx="2635758" cy="54864"/>
          </a:xfrm>
          <a:prstGeom prst="rect">
            <a:avLst/>
          </a:prstGeom>
          <a:solidFill>
            <a:srgbClr val="FFB81C"/>
          </a:solidFill>
          <a:ln w="12700">
            <a:solidFill>
              <a:srgbClr val="333333"/>
            </a:solidFill>
            <a:prstDash val="solid"/>
          </a:ln>
        </p:spPr>
        <p:txBody>
          <a:bodyPr/>
          <a:lstStyle/>
          <a:p>
            <a:endParaRPr lang="en-US"/>
          </a:p>
        </p:txBody>
      </p:sp>
      <p:sp>
        <p:nvSpPr>
          <p:cNvPr id="28" name="Text 24"/>
          <p:cNvSpPr/>
          <p:nvPr/>
        </p:nvSpPr>
        <p:spPr>
          <a:xfrm>
            <a:off x="777240" y="4526280"/>
            <a:ext cx="2178558" cy="12801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Automate reminders and tasks</a:t>
            </a:r>
            <a:endParaRPr lang="en-US" sz="1500" dirty="0"/>
          </a:p>
        </p:txBody>
      </p:sp>
      <p:sp>
        <p:nvSpPr>
          <p:cNvPr id="29" name="Text 25"/>
          <p:cNvSpPr/>
          <p:nvPr/>
        </p:nvSpPr>
        <p:spPr>
          <a:xfrm>
            <a:off x="777240" y="5715000"/>
            <a:ext cx="2178558" cy="365760"/>
          </a:xfrm>
          <a:prstGeom prst="rect">
            <a:avLst/>
          </a:prstGeom>
          <a:noFill/>
          <a:ln/>
        </p:spPr>
        <p:txBody>
          <a:bodyPr wrap="square" lIns="0" tIns="0" rIns="0" bIns="0" rtlCol="0" anchor="ctr"/>
          <a:lstStyle/>
          <a:p>
            <a:pPr marL="0" indent="0">
              <a:buNone/>
            </a:pPr>
            <a:r>
              <a:rPr lang="en-US" sz="1200" i="1" dirty="0">
                <a:solidFill>
                  <a:srgbClr val="FFB81C"/>
                </a:solidFill>
                <a:latin typeface="Calibri" pitchFamily="34" charset="0"/>
                <a:ea typeface="Calibri" pitchFamily="34" charset="-122"/>
                <a:cs typeface="Calibri" pitchFamily="34" charset="-120"/>
              </a:rPr>
              <a:t>Workflows</a:t>
            </a:r>
            <a:endParaRPr lang="en-US" sz="1200" dirty="0"/>
          </a:p>
        </p:txBody>
      </p:sp>
      <p:sp>
        <p:nvSpPr>
          <p:cNvPr id="30" name="Shape 26"/>
          <p:cNvSpPr/>
          <p:nvPr/>
        </p:nvSpPr>
        <p:spPr>
          <a:xfrm>
            <a:off x="3367278" y="4160520"/>
            <a:ext cx="2635758" cy="2057400"/>
          </a:xfrm>
          <a:prstGeom prst="rect">
            <a:avLst/>
          </a:prstGeom>
          <a:solidFill>
            <a:srgbClr val="0A2A44"/>
          </a:solidFill>
          <a:ln w="6350">
            <a:solidFill>
              <a:srgbClr val="1E3A5C"/>
            </a:solidFill>
            <a:prstDash val="solid"/>
          </a:ln>
        </p:spPr>
        <p:txBody>
          <a:bodyPr/>
          <a:lstStyle/>
          <a:p>
            <a:endParaRPr lang="en-US"/>
          </a:p>
        </p:txBody>
      </p:sp>
      <p:sp>
        <p:nvSpPr>
          <p:cNvPr id="31" name="Shape 27"/>
          <p:cNvSpPr/>
          <p:nvPr/>
        </p:nvSpPr>
        <p:spPr>
          <a:xfrm>
            <a:off x="3367278" y="4160520"/>
            <a:ext cx="2635758" cy="54864"/>
          </a:xfrm>
          <a:prstGeom prst="rect">
            <a:avLst/>
          </a:prstGeom>
          <a:solidFill>
            <a:srgbClr val="4FC3F7"/>
          </a:solidFill>
          <a:ln w="12700">
            <a:solidFill>
              <a:srgbClr val="333333"/>
            </a:solidFill>
            <a:prstDash val="solid"/>
          </a:ln>
        </p:spPr>
        <p:txBody>
          <a:bodyPr/>
          <a:lstStyle/>
          <a:p>
            <a:endParaRPr lang="en-US"/>
          </a:p>
        </p:txBody>
      </p:sp>
      <p:sp>
        <p:nvSpPr>
          <p:cNvPr id="32" name="Text 28"/>
          <p:cNvSpPr/>
          <p:nvPr/>
        </p:nvSpPr>
        <p:spPr>
          <a:xfrm>
            <a:off x="3595878" y="4526280"/>
            <a:ext cx="2178558" cy="12801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Quickly find content</a:t>
            </a:r>
            <a:endParaRPr lang="en-US" sz="1500" dirty="0"/>
          </a:p>
        </p:txBody>
      </p:sp>
      <p:sp>
        <p:nvSpPr>
          <p:cNvPr id="33" name="Text 29"/>
          <p:cNvSpPr/>
          <p:nvPr/>
        </p:nvSpPr>
        <p:spPr>
          <a:xfrm>
            <a:off x="3595878" y="5715000"/>
            <a:ext cx="2178558" cy="365760"/>
          </a:xfrm>
          <a:prstGeom prst="rect">
            <a:avLst/>
          </a:prstGeom>
          <a:noFill/>
          <a:ln/>
        </p:spPr>
        <p:txBody>
          <a:bodyPr wrap="square" lIns="0" tIns="0" rIns="0" bIns="0" rtlCol="0" anchor="ctr"/>
          <a:lstStyle/>
          <a:p>
            <a:pPr marL="0" indent="0">
              <a:buNone/>
            </a:pPr>
            <a:r>
              <a:rPr lang="en-US" sz="1200" i="1" dirty="0">
                <a:solidFill>
                  <a:srgbClr val="4FC3F7"/>
                </a:solidFill>
                <a:latin typeface="Calibri" pitchFamily="34" charset="0"/>
                <a:ea typeface="Calibri" pitchFamily="34" charset="-122"/>
                <a:cs typeface="Calibri" pitchFamily="34" charset="-120"/>
              </a:rPr>
              <a:t>Copilot Search</a:t>
            </a:r>
            <a:endParaRPr lang="en-US" sz="1200" dirty="0"/>
          </a:p>
        </p:txBody>
      </p:sp>
      <p:sp>
        <p:nvSpPr>
          <p:cNvPr id="34" name="Shape 30"/>
          <p:cNvSpPr/>
          <p:nvPr/>
        </p:nvSpPr>
        <p:spPr>
          <a:xfrm>
            <a:off x="6185916" y="4160520"/>
            <a:ext cx="2635758" cy="2057400"/>
          </a:xfrm>
          <a:prstGeom prst="rect">
            <a:avLst/>
          </a:prstGeom>
          <a:solidFill>
            <a:srgbClr val="0A2A44"/>
          </a:solidFill>
          <a:ln w="6350">
            <a:solidFill>
              <a:srgbClr val="1E3A5C"/>
            </a:solidFill>
            <a:prstDash val="solid"/>
          </a:ln>
        </p:spPr>
        <p:txBody>
          <a:bodyPr/>
          <a:lstStyle/>
          <a:p>
            <a:endParaRPr lang="en-US"/>
          </a:p>
        </p:txBody>
      </p:sp>
      <p:sp>
        <p:nvSpPr>
          <p:cNvPr id="35" name="Shape 31"/>
          <p:cNvSpPr/>
          <p:nvPr/>
        </p:nvSpPr>
        <p:spPr>
          <a:xfrm>
            <a:off x="6185916" y="4160520"/>
            <a:ext cx="2635758" cy="54864"/>
          </a:xfrm>
          <a:prstGeom prst="rect">
            <a:avLst/>
          </a:prstGeom>
          <a:solidFill>
            <a:srgbClr val="FFB81C"/>
          </a:solidFill>
          <a:ln w="12700">
            <a:solidFill>
              <a:srgbClr val="333333"/>
            </a:solidFill>
            <a:prstDash val="solid"/>
          </a:ln>
        </p:spPr>
        <p:txBody>
          <a:bodyPr/>
          <a:lstStyle/>
          <a:p>
            <a:endParaRPr lang="en-US"/>
          </a:p>
        </p:txBody>
      </p:sp>
      <p:sp>
        <p:nvSpPr>
          <p:cNvPr id="36" name="Text 32"/>
          <p:cNvSpPr/>
          <p:nvPr/>
        </p:nvSpPr>
        <p:spPr>
          <a:xfrm>
            <a:off x="6414516" y="4526280"/>
            <a:ext cx="2178558" cy="12801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Jumpstart document drafting</a:t>
            </a:r>
            <a:endParaRPr lang="en-US" sz="1500" dirty="0"/>
          </a:p>
        </p:txBody>
      </p:sp>
      <p:sp>
        <p:nvSpPr>
          <p:cNvPr id="37" name="Text 33"/>
          <p:cNvSpPr/>
          <p:nvPr/>
        </p:nvSpPr>
        <p:spPr>
          <a:xfrm>
            <a:off x="6414516" y="5715000"/>
            <a:ext cx="2178558" cy="365760"/>
          </a:xfrm>
          <a:prstGeom prst="rect">
            <a:avLst/>
          </a:prstGeom>
          <a:noFill/>
          <a:ln/>
        </p:spPr>
        <p:txBody>
          <a:bodyPr wrap="square" lIns="0" tIns="0" rIns="0" bIns="0" rtlCol="0" anchor="ctr"/>
          <a:lstStyle/>
          <a:p>
            <a:pPr marL="0" indent="0">
              <a:buNone/>
            </a:pPr>
            <a:r>
              <a:rPr lang="en-US" sz="1200" i="1" dirty="0">
                <a:solidFill>
                  <a:srgbClr val="FFB81C"/>
                </a:solidFill>
                <a:latin typeface="Calibri" pitchFamily="34" charset="0"/>
                <a:ea typeface="Calibri" pitchFamily="34" charset="-122"/>
                <a:cs typeface="Calibri" pitchFamily="34" charset="-120"/>
              </a:rPr>
              <a:t>Agent Mode in Word</a:t>
            </a:r>
            <a:endParaRPr lang="en-US" sz="1200" dirty="0"/>
          </a:p>
        </p:txBody>
      </p:sp>
      <p:sp>
        <p:nvSpPr>
          <p:cNvPr id="38" name="Shape 34"/>
          <p:cNvSpPr/>
          <p:nvPr/>
        </p:nvSpPr>
        <p:spPr>
          <a:xfrm>
            <a:off x="9004554" y="4160520"/>
            <a:ext cx="2635758" cy="2057400"/>
          </a:xfrm>
          <a:prstGeom prst="rect">
            <a:avLst/>
          </a:prstGeom>
          <a:solidFill>
            <a:srgbClr val="0A2A44"/>
          </a:solidFill>
          <a:ln w="6350">
            <a:solidFill>
              <a:srgbClr val="1E3A5C"/>
            </a:solidFill>
            <a:prstDash val="solid"/>
          </a:ln>
        </p:spPr>
        <p:txBody>
          <a:bodyPr/>
          <a:lstStyle/>
          <a:p>
            <a:endParaRPr lang="en-US"/>
          </a:p>
        </p:txBody>
      </p:sp>
      <p:sp>
        <p:nvSpPr>
          <p:cNvPr id="39" name="Shape 35"/>
          <p:cNvSpPr/>
          <p:nvPr/>
        </p:nvSpPr>
        <p:spPr>
          <a:xfrm>
            <a:off x="9004554" y="4160520"/>
            <a:ext cx="2635758" cy="54864"/>
          </a:xfrm>
          <a:prstGeom prst="rect">
            <a:avLst/>
          </a:prstGeom>
          <a:solidFill>
            <a:srgbClr val="4FC3F7"/>
          </a:solidFill>
          <a:ln w="12700">
            <a:solidFill>
              <a:srgbClr val="333333"/>
            </a:solidFill>
            <a:prstDash val="solid"/>
          </a:ln>
        </p:spPr>
        <p:txBody>
          <a:bodyPr/>
          <a:lstStyle/>
          <a:p>
            <a:endParaRPr lang="en-US"/>
          </a:p>
        </p:txBody>
      </p:sp>
      <p:sp>
        <p:nvSpPr>
          <p:cNvPr id="40" name="Text 36"/>
          <p:cNvSpPr/>
          <p:nvPr/>
        </p:nvSpPr>
        <p:spPr>
          <a:xfrm>
            <a:off x="9233154" y="4526280"/>
            <a:ext cx="2178558" cy="12801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Onboard quickly to new roles or projects</a:t>
            </a:r>
            <a:endParaRPr lang="en-US" sz="1500" dirty="0"/>
          </a:p>
        </p:txBody>
      </p:sp>
      <p:sp>
        <p:nvSpPr>
          <p:cNvPr id="41" name="Text 37"/>
          <p:cNvSpPr/>
          <p:nvPr/>
        </p:nvSpPr>
        <p:spPr>
          <a:xfrm>
            <a:off x="9233154" y="5715000"/>
            <a:ext cx="2178558" cy="365760"/>
          </a:xfrm>
          <a:prstGeom prst="rect">
            <a:avLst/>
          </a:prstGeom>
          <a:noFill/>
          <a:ln/>
        </p:spPr>
        <p:txBody>
          <a:bodyPr wrap="square" lIns="0" tIns="0" rIns="0" bIns="0" rtlCol="0" anchor="ctr"/>
          <a:lstStyle/>
          <a:p>
            <a:pPr marL="0" indent="0">
              <a:buNone/>
            </a:pPr>
            <a:r>
              <a:rPr lang="en-US" sz="1200" i="1" dirty="0">
                <a:solidFill>
                  <a:srgbClr val="4FC3F7"/>
                </a:solidFill>
                <a:latin typeface="Calibri" pitchFamily="34" charset="0"/>
                <a:ea typeface="Calibri" pitchFamily="34" charset="-122"/>
                <a:cs typeface="Calibri" pitchFamily="34" charset="-120"/>
              </a:rPr>
              <a:t>Notebooks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10058400" cy="640080"/>
          </a:xfrm>
          <a:prstGeom prst="rect">
            <a:avLst/>
          </a:prstGeom>
          <a:noFill/>
          <a:ln/>
        </p:spPr>
        <p:txBody>
          <a:bodyPr wrap="square" lIns="0" tIns="0" rIns="0" bIns="0" rtlCol="0" anchor="ctr"/>
          <a:lstStyle/>
          <a:p>
            <a:pPr marL="0" indent="0">
              <a:buNone/>
            </a:pPr>
            <a:r>
              <a:rPr lang="en-US" sz="3200" b="1">
                <a:solidFill>
                  <a:srgbClr val="FFFFFF"/>
                </a:solidFill>
                <a:latin typeface="Calibri" pitchFamily="34" charset="0"/>
                <a:ea typeface="Calibri" pitchFamily="34" charset="-122"/>
                <a:cs typeface="Calibri" pitchFamily="34" charset="-120"/>
              </a:rPr>
              <a:t>Multi-model </a:t>
            </a:r>
            <a:r>
              <a:rPr lang="en-US" sz="3200" b="1" dirty="0">
                <a:solidFill>
                  <a:srgbClr val="FFFFFF"/>
                </a:solidFill>
                <a:latin typeface="Calibri" pitchFamily="34" charset="0"/>
                <a:ea typeface="Calibri" pitchFamily="34" charset="-122"/>
                <a:cs typeface="Calibri" pitchFamily="34" charset="-120"/>
              </a:rPr>
              <a:t>Copilot</a:t>
            </a:r>
            <a:endParaRPr lang="en-US" sz="3200" dirty="0"/>
          </a:p>
        </p:txBody>
      </p:sp>
      <p:sp>
        <p:nvSpPr>
          <p:cNvPr id="6" name="Shape 2"/>
          <p:cNvSpPr/>
          <p:nvPr/>
        </p:nvSpPr>
        <p:spPr>
          <a:xfrm>
            <a:off x="548640" y="1097280"/>
            <a:ext cx="1280160" cy="64008"/>
          </a:xfrm>
          <a:prstGeom prst="rect">
            <a:avLst/>
          </a:prstGeom>
          <a:solidFill>
            <a:srgbClr val="FFB81C"/>
          </a:solidFill>
          <a:ln w="12700">
            <a:solidFill>
              <a:srgbClr val="FFB81C"/>
            </a:solidFill>
            <a:prstDash val="solid"/>
          </a:ln>
        </p:spPr>
        <p:txBody>
          <a:bodyPr/>
          <a:lstStyle/>
          <a:p>
            <a:endParaRPr lang="en-US"/>
          </a:p>
        </p:txBody>
      </p:sp>
      <p:sp>
        <p:nvSpPr>
          <p:cNvPr id="7" name="Shape 3"/>
          <p:cNvSpPr/>
          <p:nvPr/>
        </p:nvSpPr>
        <p:spPr>
          <a:xfrm>
            <a:off x="1920240" y="1097280"/>
            <a:ext cx="640080" cy="64008"/>
          </a:xfrm>
          <a:prstGeom prst="rect">
            <a:avLst/>
          </a:prstGeom>
          <a:solidFill>
            <a:srgbClr val="4FC3F7"/>
          </a:solidFill>
          <a:ln w="12700">
            <a:solidFill>
              <a:srgbClr val="4FC3F7"/>
            </a:solidFill>
            <a:prstDash val="solid"/>
          </a:ln>
        </p:spPr>
        <p:txBody>
          <a:bodyPr/>
          <a:lstStyle/>
          <a:p>
            <a:endParaRPr lang="en-US"/>
          </a:p>
        </p:txBody>
      </p:sp>
      <p:sp>
        <p:nvSpPr>
          <p:cNvPr id="8" name="Text 4"/>
          <p:cNvSpPr/>
          <p:nvPr/>
        </p:nvSpPr>
        <p:spPr>
          <a:xfrm>
            <a:off x="548640" y="1325880"/>
            <a:ext cx="10972800" cy="411480"/>
          </a:xfrm>
          <a:prstGeom prst="rect">
            <a:avLst/>
          </a:prstGeom>
          <a:noFill/>
          <a:ln/>
        </p:spPr>
        <p:txBody>
          <a:bodyPr wrap="square" lIns="0" tIns="0" rIns="0" bIns="0" rtlCol="0" anchor="ctr"/>
          <a:lstStyle/>
          <a:p>
            <a:pPr marL="0" indent="0">
              <a:buNone/>
            </a:pPr>
            <a:r>
              <a:rPr lang="en-US" sz="1400" i="1">
                <a:solidFill>
                  <a:srgbClr val="EAF2FA"/>
                </a:solidFill>
                <a:latin typeface="Calibri" pitchFamily="34" charset="0"/>
                <a:ea typeface="Calibri" pitchFamily="34" charset="-122"/>
                <a:cs typeface="Calibri" pitchFamily="34" charset="-120"/>
              </a:rPr>
              <a:t>Choose the right model for the job — GPT, Claude </a:t>
            </a:r>
            <a:r>
              <a:rPr lang="en-US" sz="1400" i="1" dirty="0">
                <a:solidFill>
                  <a:srgbClr val="EAF2FA"/>
                </a:solidFill>
                <a:latin typeface="Calibri" pitchFamily="34" charset="0"/>
                <a:ea typeface="Calibri" pitchFamily="34" charset="-122"/>
                <a:cs typeface="Calibri" pitchFamily="34" charset="-120"/>
              </a:rPr>
              <a:t>and more</a:t>
            </a:r>
            <a:r>
              <a:rPr lang="en-US" sz="1400" i="1">
                <a:solidFill>
                  <a:srgbClr val="EAF2FA"/>
                </a:solidFill>
                <a:latin typeface="Calibri" pitchFamily="34" charset="0"/>
                <a:ea typeface="Calibri" pitchFamily="34" charset="-122"/>
                <a:cs typeface="Calibri" pitchFamily="34" charset="-120"/>
              </a:rPr>
              <a:t>, all inside Copilot</a:t>
            </a:r>
            <a:endParaRPr lang="en-US" sz="1400" dirty="0"/>
          </a:p>
        </p:txBody>
      </p:sp>
      <p:sp>
        <p:nvSpPr>
          <p:cNvPr id="9" name="Text 5"/>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18 / 40</a:t>
            </a:r>
            <a:endParaRPr lang="en-US" sz="900" dirty="0"/>
          </a:p>
        </p:txBody>
      </p:sp>
      <p:sp>
        <p:nvSpPr>
          <p:cNvPr id="10" name="Shape 6"/>
          <p:cNvSpPr/>
          <p:nvPr/>
        </p:nvSpPr>
        <p:spPr>
          <a:xfrm>
            <a:off x="548640" y="1920240"/>
            <a:ext cx="5486400" cy="4297680"/>
          </a:xfrm>
          <a:prstGeom prst="rect">
            <a:avLst/>
          </a:prstGeom>
          <a:solidFill>
            <a:srgbClr val="0A2A44"/>
          </a:solidFill>
          <a:ln w="6350">
            <a:solidFill>
              <a:srgbClr val="1E3A5C"/>
            </a:solidFill>
            <a:prstDash val="solid"/>
          </a:ln>
        </p:spPr>
        <p:txBody>
          <a:bodyPr/>
          <a:lstStyle/>
          <a:p>
            <a:endParaRPr lang="en-US"/>
          </a:p>
        </p:txBody>
      </p:sp>
      <p:sp>
        <p:nvSpPr>
          <p:cNvPr id="11" name="Text 7"/>
          <p:cNvSpPr/>
          <p:nvPr/>
        </p:nvSpPr>
        <p:spPr>
          <a:xfrm>
            <a:off x="868680" y="2194560"/>
            <a:ext cx="5029200" cy="822960"/>
          </a:xfrm>
          <a:prstGeom prst="rect">
            <a:avLst/>
          </a:prstGeom>
          <a:noFill/>
          <a:ln/>
        </p:spPr>
        <p:txBody>
          <a:bodyPr wrap="square" lIns="0" tIns="0" rIns="0" bIns="0" rtlCol="0" anchor="ctr"/>
          <a:lstStyle/>
          <a:p>
            <a:pPr marL="0" indent="0">
              <a:buNone/>
            </a:pPr>
            <a:r>
              <a:rPr lang="en-US" sz="5600" b="1">
                <a:solidFill>
                  <a:srgbClr val="FFB81C"/>
                </a:solidFill>
                <a:latin typeface="Calibri" pitchFamily="34" charset="0"/>
                <a:ea typeface="Calibri" pitchFamily="34" charset="-122"/>
                <a:cs typeface="Calibri" pitchFamily="34" charset="-120"/>
              </a:rPr>
              <a:t>Model choice</a:t>
            </a:r>
            <a:endParaRPr lang="en-US" sz="5600" dirty="0"/>
          </a:p>
        </p:txBody>
      </p:sp>
      <p:sp>
        <p:nvSpPr>
          <p:cNvPr id="12" name="Text 8"/>
          <p:cNvSpPr/>
          <p:nvPr/>
        </p:nvSpPr>
        <p:spPr>
          <a:xfrm>
            <a:off x="868680" y="3154680"/>
            <a:ext cx="5029200" cy="457200"/>
          </a:xfrm>
          <a:prstGeom prst="rect">
            <a:avLst/>
          </a:prstGeom>
          <a:noFill/>
          <a:ln/>
        </p:spPr>
        <p:txBody>
          <a:bodyPr wrap="square" lIns="0" tIns="0" rIns="0" bIns="0" rtlCol="0" anchor="ctr"/>
          <a:lstStyle/>
          <a:p>
            <a:pPr marL="0" indent="0">
              <a:buNone/>
            </a:pPr>
            <a:r>
              <a:rPr lang="en-US" sz="1600" i="1">
                <a:solidFill>
                  <a:srgbClr val="EAF2FA"/>
                </a:solidFill>
                <a:latin typeface="Calibri" pitchFamily="34" charset="0"/>
                <a:ea typeface="Calibri" pitchFamily="34" charset="-122"/>
                <a:cs typeface="Calibri" pitchFamily="34" charset="-120"/>
              </a:rPr>
              <a:t>in </a:t>
            </a:r>
            <a:r>
              <a:rPr lang="en-US" sz="1600" i="1" dirty="0">
                <a:solidFill>
                  <a:srgbClr val="EAF2FA"/>
                </a:solidFill>
                <a:latin typeface="Calibri" pitchFamily="34" charset="0"/>
                <a:ea typeface="Calibri" pitchFamily="34" charset="-122"/>
                <a:cs typeface="Calibri" pitchFamily="34" charset="-120"/>
              </a:rPr>
              <a:t>Copilot Chat</a:t>
            </a:r>
            <a:r>
              <a:rPr lang="en-US" sz="1600" i="1">
                <a:solidFill>
                  <a:srgbClr val="EAF2FA"/>
                </a:solidFill>
                <a:latin typeface="Calibri" pitchFamily="34" charset="0"/>
                <a:ea typeface="Calibri" pitchFamily="34" charset="-122"/>
                <a:cs typeface="Calibri" pitchFamily="34" charset="-120"/>
              </a:rPr>
              <a:t>, Researcher</a:t>
            </a:r>
            <a:r>
              <a:rPr lang="en-US" sz="1600" i="1" dirty="0">
                <a:solidFill>
                  <a:srgbClr val="EAF2FA"/>
                </a:solidFill>
                <a:latin typeface="Calibri" pitchFamily="34" charset="0"/>
                <a:ea typeface="Calibri" pitchFamily="34" charset="-122"/>
                <a:cs typeface="Calibri" pitchFamily="34" charset="-120"/>
              </a:rPr>
              <a:t> and Studio</a:t>
            </a:r>
            <a:endParaRPr lang="en-US" sz="1600" dirty="0"/>
          </a:p>
        </p:txBody>
      </p:sp>
      <p:sp>
        <p:nvSpPr>
          <p:cNvPr id="13" name="Text 9"/>
          <p:cNvSpPr/>
          <p:nvPr/>
        </p:nvSpPr>
        <p:spPr>
          <a:xfrm>
            <a:off x="868680" y="3749040"/>
            <a:ext cx="4937760" cy="2194560"/>
          </a:xfrm>
          <a:prstGeom prst="rect">
            <a:avLst/>
          </a:prstGeom>
          <a:noFill/>
          <a:ln/>
        </p:spPr>
        <p:txBody>
          <a:bodyPr wrap="square" lIns="0" tIns="0" rIns="0" bIns="0" rtlCol="0" anchor="ctr"/>
          <a:lstStyle/>
          <a:p>
            <a:pPr marL="342900" indent="-342900">
              <a:spcAft>
                <a:spcPts val="800"/>
              </a:spcAft>
              <a:buSzPct val="100000"/>
              <a:buChar char="•"/>
            </a:pPr>
            <a:r>
              <a:rPr lang="en-US" sz="1400">
                <a:solidFill>
                  <a:srgbClr val="EAF2FA"/>
                </a:solidFill>
                <a:latin typeface="Calibri" pitchFamily="34" charset="0"/>
                <a:ea typeface="Calibri" pitchFamily="34" charset="-122"/>
                <a:cs typeface="Calibri" pitchFamily="34" charset="-120"/>
              </a:rPr>
              <a:t>GPT-5.2 </a:t>
            </a:r>
            <a:r>
              <a:rPr lang="en-US" sz="1400" dirty="0">
                <a:solidFill>
                  <a:srgbClr val="EAF2FA"/>
                </a:solidFill>
                <a:latin typeface="Calibri" pitchFamily="34" charset="0"/>
                <a:ea typeface="Calibri" pitchFamily="34" charset="-122"/>
                <a:cs typeface="Calibri" pitchFamily="34" charset="-120"/>
              </a:rPr>
              <a:t>— </a:t>
            </a:r>
            <a:r>
              <a:rPr lang="en-US" sz="1400">
                <a:solidFill>
                  <a:srgbClr val="EAF2FA"/>
                </a:solidFill>
                <a:latin typeface="Calibri" pitchFamily="34" charset="0"/>
                <a:ea typeface="Calibri" pitchFamily="34" charset="-122"/>
                <a:cs typeface="Calibri" pitchFamily="34" charset="-120"/>
              </a:rPr>
              <a:t>fast, general-purpose reasoning across </a:t>
            </a:r>
            <a:r>
              <a:rPr lang="en-US" sz="1400" dirty="0">
                <a:solidFill>
                  <a:srgbClr val="EAF2FA"/>
                </a:solidFill>
                <a:latin typeface="Calibri" pitchFamily="34" charset="0"/>
                <a:ea typeface="Calibri" pitchFamily="34" charset="-122"/>
                <a:cs typeface="Calibri" pitchFamily="34" charset="-120"/>
              </a:rPr>
              <a:t>everyday </a:t>
            </a:r>
            <a:r>
              <a:rPr lang="en-US" sz="1400">
                <a:solidFill>
                  <a:srgbClr val="EAF2FA"/>
                </a:solidFill>
                <a:latin typeface="Calibri" pitchFamily="34" charset="0"/>
                <a:ea typeface="Calibri" pitchFamily="34" charset="-122"/>
                <a:cs typeface="Calibri" pitchFamily="34" charset="-120"/>
              </a:rPr>
              <a:t>work tasks</a:t>
            </a:r>
            <a:endParaRPr lang="en-US" sz="1400"/>
          </a:p>
          <a:p>
            <a:pPr marL="342900" indent="-342900">
              <a:spcAft>
                <a:spcPts val="800"/>
              </a:spcAft>
              <a:buSzPct val="100000"/>
              <a:buChar char="•"/>
            </a:pPr>
            <a:r>
              <a:rPr lang="en-US" sz="1400">
                <a:solidFill>
                  <a:srgbClr val="EAF2FA"/>
                </a:solidFill>
                <a:latin typeface="Calibri" pitchFamily="34" charset="0"/>
                <a:ea typeface="Calibri" pitchFamily="34" charset="-122"/>
                <a:cs typeface="Calibri" pitchFamily="34" charset="-120"/>
              </a:rPr>
              <a:t>Claude Sonnet — deep reasoning</a:t>
            </a:r>
            <a:r>
              <a:rPr lang="en-US" sz="1400" dirty="0">
                <a:solidFill>
                  <a:srgbClr val="EAF2FA"/>
                </a:solidFill>
                <a:latin typeface="Calibri" pitchFamily="34" charset="0"/>
                <a:ea typeface="Calibri" pitchFamily="34" charset="-122"/>
                <a:cs typeface="Calibri" pitchFamily="34" charset="-120"/>
              </a:rPr>
              <a:t>, </a:t>
            </a:r>
            <a:r>
              <a:rPr lang="en-US" sz="1400">
                <a:solidFill>
                  <a:srgbClr val="EAF2FA"/>
                </a:solidFill>
                <a:latin typeface="Calibri" pitchFamily="34" charset="0"/>
                <a:ea typeface="Calibri" pitchFamily="34" charset="-122"/>
                <a:cs typeface="Calibri" pitchFamily="34" charset="-120"/>
              </a:rPr>
              <a:t>agentic tasks</a:t>
            </a:r>
            <a:r>
              <a:rPr lang="en-US" sz="1400" dirty="0">
                <a:solidFill>
                  <a:srgbClr val="EAF2FA"/>
                </a:solidFill>
                <a:latin typeface="Calibri" pitchFamily="34" charset="0"/>
                <a:ea typeface="Calibri" pitchFamily="34" charset="-122"/>
                <a:cs typeface="Calibri" pitchFamily="34" charset="-120"/>
              </a:rPr>
              <a:t>, </a:t>
            </a:r>
            <a:r>
              <a:rPr lang="en-US" sz="1400">
                <a:solidFill>
                  <a:srgbClr val="EAF2FA"/>
                </a:solidFill>
                <a:latin typeface="Calibri" pitchFamily="34" charset="0"/>
                <a:ea typeface="Calibri" pitchFamily="34" charset="-122"/>
                <a:cs typeface="Calibri" pitchFamily="34" charset="-120"/>
              </a:rPr>
              <a:t>polished content</a:t>
            </a:r>
            <a:endParaRPr lang="en-US" sz="1400" dirty="0"/>
          </a:p>
          <a:p>
            <a:pPr marL="342900" indent="-342900">
              <a:spcAft>
                <a:spcPts val="800"/>
              </a:spcAft>
              <a:buSzPct val="100000"/>
              <a:buChar char="•"/>
            </a:pPr>
            <a:r>
              <a:rPr lang="en-US" sz="1400">
                <a:solidFill>
                  <a:srgbClr val="EAF2FA"/>
                </a:solidFill>
                <a:latin typeface="Calibri" pitchFamily="34" charset="0"/>
                <a:ea typeface="Calibri" pitchFamily="34" charset="-122"/>
                <a:cs typeface="Calibri" pitchFamily="34" charset="-120"/>
              </a:rPr>
              <a:t>Switch models </a:t>
            </a:r>
            <a:r>
              <a:rPr lang="en-US" sz="1400" dirty="0">
                <a:solidFill>
                  <a:srgbClr val="EAF2FA"/>
                </a:solidFill>
                <a:latin typeface="Calibri" pitchFamily="34" charset="0"/>
                <a:ea typeface="Calibri" pitchFamily="34" charset="-122"/>
                <a:cs typeface="Calibri" pitchFamily="34" charset="-120"/>
              </a:rPr>
              <a:t>from the selector </a:t>
            </a:r>
            <a:r>
              <a:rPr lang="en-US" sz="1400">
                <a:solidFill>
                  <a:srgbClr val="EAF2FA"/>
                </a:solidFill>
                <a:latin typeface="Calibri" pitchFamily="34" charset="0"/>
                <a:ea typeface="Calibri" pitchFamily="34" charset="-122"/>
                <a:cs typeface="Calibri" pitchFamily="34" charset="-120"/>
              </a:rPr>
              <a:t>— match the engine to the task</a:t>
            </a:r>
            <a:endParaRPr lang="en-US" sz="1400" dirty="0"/>
          </a:p>
        </p:txBody>
      </p:sp>
      <p:sp>
        <p:nvSpPr>
          <p:cNvPr id="14" name="Shape 10"/>
          <p:cNvSpPr/>
          <p:nvPr/>
        </p:nvSpPr>
        <p:spPr>
          <a:xfrm>
            <a:off x="6309360" y="1920240"/>
            <a:ext cx="5330952" cy="4297680"/>
          </a:xfrm>
          <a:prstGeom prst="rect">
            <a:avLst/>
          </a:prstGeom>
          <a:solidFill>
            <a:srgbClr val="153A5C"/>
          </a:solidFill>
          <a:ln w="6350">
            <a:solidFill>
              <a:srgbClr val="1E3A5C"/>
            </a:solidFill>
            <a:prstDash val="solid"/>
          </a:ln>
        </p:spPr>
        <p:txBody>
          <a:bodyPr/>
          <a:lstStyle/>
          <a:p>
            <a:endParaRPr lang="en-US"/>
          </a:p>
        </p:txBody>
      </p:sp>
      <p:sp>
        <p:nvSpPr>
          <p:cNvPr id="15" name="Shape 11"/>
          <p:cNvSpPr/>
          <p:nvPr/>
        </p:nvSpPr>
        <p:spPr>
          <a:xfrm>
            <a:off x="6309360" y="1920240"/>
            <a:ext cx="5330952" cy="73152"/>
          </a:xfrm>
          <a:prstGeom prst="rect">
            <a:avLst/>
          </a:prstGeom>
          <a:solidFill>
            <a:srgbClr val="4FC3F7"/>
          </a:solidFill>
          <a:ln w="12700">
            <a:solidFill>
              <a:srgbClr val="333333"/>
            </a:solidFill>
            <a:prstDash val="solid"/>
          </a:ln>
        </p:spPr>
        <p:txBody>
          <a:bodyPr/>
          <a:lstStyle/>
          <a:p>
            <a:endParaRPr lang="en-US"/>
          </a:p>
        </p:txBody>
      </p:sp>
      <p:sp>
        <p:nvSpPr>
          <p:cNvPr id="16" name="Text 12"/>
          <p:cNvSpPr/>
          <p:nvPr/>
        </p:nvSpPr>
        <p:spPr>
          <a:xfrm>
            <a:off x="6583680" y="2194560"/>
            <a:ext cx="4782312" cy="502920"/>
          </a:xfrm>
          <a:prstGeom prst="rect">
            <a:avLst/>
          </a:prstGeom>
          <a:noFill/>
          <a:ln/>
        </p:spPr>
        <p:txBody>
          <a:bodyPr wrap="square" lIns="0" tIns="0" rIns="0" bIns="0" rtlCol="0" anchor="ctr"/>
          <a:lstStyle/>
          <a:p>
            <a:pPr marL="0" indent="0">
              <a:buNone/>
            </a:pPr>
            <a:r>
              <a:rPr lang="en-US" sz="2200" b="1">
                <a:solidFill>
                  <a:srgbClr val="FFFFFF"/>
                </a:solidFill>
                <a:latin typeface="Calibri" pitchFamily="34" charset="0"/>
                <a:ea typeface="Calibri" pitchFamily="34" charset="-122"/>
                <a:cs typeface="Calibri" pitchFamily="34" charset="-120"/>
              </a:rPr>
              <a:t>Why multi-model matters</a:t>
            </a:r>
            <a:endParaRPr lang="en-US" sz="2200" dirty="0"/>
          </a:p>
        </p:txBody>
      </p:sp>
      <p:sp>
        <p:nvSpPr>
          <p:cNvPr id="17" name="Text 13"/>
          <p:cNvSpPr/>
          <p:nvPr/>
        </p:nvSpPr>
        <p:spPr>
          <a:xfrm>
            <a:off x="6583680" y="2788920"/>
            <a:ext cx="4782312" cy="1188720"/>
          </a:xfrm>
          <a:prstGeom prst="rect">
            <a:avLst/>
          </a:prstGeom>
          <a:noFill/>
          <a:ln/>
        </p:spPr>
        <p:txBody>
          <a:bodyPr wrap="square" lIns="0" tIns="0" rIns="0" bIns="0" rtlCol="0" anchor="ctr"/>
          <a:lstStyle/>
          <a:p>
            <a:pPr marL="0" indent="0">
              <a:buNone/>
            </a:pPr>
            <a:r>
              <a:rPr lang="en-US" sz="1400">
                <a:solidFill>
                  <a:srgbClr val="EAF2FA"/>
                </a:solidFill>
                <a:latin typeface="Calibri" pitchFamily="34" charset="0"/>
                <a:ea typeface="Calibri" pitchFamily="34" charset="-122"/>
                <a:cs typeface="Calibri" pitchFamily="34" charset="-120"/>
              </a:rPr>
              <a:t>Different models excel at different tasks. </a:t>
            </a:r>
            <a:r>
              <a:rPr lang="en-US" sz="1400" dirty="0">
                <a:solidFill>
                  <a:srgbClr val="EAF2FA"/>
                </a:solidFill>
                <a:latin typeface="Calibri" pitchFamily="34" charset="0"/>
                <a:ea typeface="Calibri" pitchFamily="34" charset="-122"/>
                <a:cs typeface="Calibri" pitchFamily="34" charset="-120"/>
              </a:rPr>
              <a:t>Copilot</a:t>
            </a:r>
            <a:r>
              <a:rPr lang="en-US" sz="1400">
                <a:solidFill>
                  <a:srgbClr val="EAF2FA"/>
                </a:solidFill>
                <a:latin typeface="Calibri" pitchFamily="34" charset="0"/>
                <a:ea typeface="Calibri" pitchFamily="34" charset="-122"/>
                <a:cs typeface="Calibri" pitchFamily="34" charset="-120"/>
              </a:rPr>
              <a:t> now orchestrates </a:t>
            </a:r>
            <a:r>
              <a:rPr lang="en-US" sz="1400" dirty="0">
                <a:solidFill>
                  <a:srgbClr val="EAF2FA"/>
                </a:solidFill>
                <a:latin typeface="Calibri" pitchFamily="34" charset="0"/>
                <a:ea typeface="Calibri" pitchFamily="34" charset="-122"/>
                <a:cs typeface="Calibri" pitchFamily="34" charset="-120"/>
              </a:rPr>
              <a:t>across </a:t>
            </a:r>
            <a:r>
              <a:rPr lang="en-US" sz="1400">
                <a:solidFill>
                  <a:srgbClr val="EAF2FA"/>
                </a:solidFill>
                <a:latin typeface="Calibri" pitchFamily="34" charset="0"/>
                <a:ea typeface="Calibri" pitchFamily="34" charset="-122"/>
                <a:cs typeface="Calibri" pitchFamily="34" charset="-120"/>
              </a:rPr>
              <a:t>OpenAI </a:t>
            </a:r>
            <a:r>
              <a:rPr lang="en-US" sz="1400" dirty="0">
                <a:solidFill>
                  <a:srgbClr val="EAF2FA"/>
                </a:solidFill>
                <a:latin typeface="Calibri" pitchFamily="34" charset="0"/>
                <a:ea typeface="Calibri" pitchFamily="34" charset="-122"/>
                <a:cs typeface="Calibri" pitchFamily="34" charset="-120"/>
              </a:rPr>
              <a:t>and </a:t>
            </a:r>
            <a:r>
              <a:rPr lang="en-US" sz="1400">
                <a:solidFill>
                  <a:srgbClr val="EAF2FA"/>
                </a:solidFill>
                <a:latin typeface="Calibri" pitchFamily="34" charset="0"/>
                <a:ea typeface="Calibri" pitchFamily="34" charset="-122"/>
                <a:cs typeface="Calibri" pitchFamily="34" charset="-120"/>
              </a:rPr>
              <a:t>Anthropic so you always get the best result for the job at hand</a:t>
            </a:r>
            <a:r>
              <a:rPr lang="en-US" sz="1400" dirty="0">
                <a:solidFill>
                  <a:srgbClr val="EAF2FA"/>
                </a:solidFill>
                <a:latin typeface="Calibri" pitchFamily="34" charset="0"/>
                <a:ea typeface="Calibri" pitchFamily="34" charset="-122"/>
                <a:cs typeface="Calibri" pitchFamily="34" charset="-120"/>
              </a:rPr>
              <a:t>.</a:t>
            </a:r>
            <a:endParaRPr lang="en-US" sz="1400" dirty="0"/>
          </a:p>
        </p:txBody>
      </p:sp>
      <p:sp>
        <p:nvSpPr>
          <p:cNvPr id="18" name="Text 14"/>
          <p:cNvSpPr/>
          <p:nvPr/>
        </p:nvSpPr>
        <p:spPr>
          <a:xfrm>
            <a:off x="6583680" y="4114800"/>
            <a:ext cx="4782312" cy="1828800"/>
          </a:xfrm>
          <a:prstGeom prst="rect">
            <a:avLst/>
          </a:prstGeom>
          <a:noFill/>
          <a:ln/>
        </p:spPr>
        <p:txBody>
          <a:bodyPr wrap="square" lIns="0" tIns="0" rIns="0" bIns="0" rtlCol="0" anchor="ctr"/>
          <a:lstStyle/>
          <a:p>
            <a:pPr marL="342900" indent="-342900">
              <a:spcAft>
                <a:spcPts val="800"/>
              </a:spcAft>
              <a:buSzPct val="100000"/>
              <a:buChar char="•"/>
            </a:pPr>
            <a:r>
              <a:rPr lang="en-US" sz="1300">
                <a:solidFill>
                  <a:srgbClr val="EAF2FA"/>
                </a:solidFill>
                <a:latin typeface="Calibri" pitchFamily="34" charset="0"/>
                <a:ea typeface="Calibri" pitchFamily="34" charset="-122"/>
                <a:cs typeface="Calibri" pitchFamily="34" charset="-120"/>
              </a:rPr>
              <a:t>Researcher can run on Claude Opus for deeper multi-step analysis</a:t>
            </a:r>
            <a:endParaRPr lang="en-US" sz="1300"/>
          </a:p>
          <a:p>
            <a:pPr marL="342900" indent="-342900">
              <a:spcAft>
                <a:spcPts val="800"/>
              </a:spcAft>
              <a:buSzPct val="100000"/>
              <a:buChar char="•"/>
            </a:pPr>
            <a:r>
              <a:rPr lang="en-US" sz="1300">
                <a:solidFill>
                  <a:srgbClr val="EAF2FA"/>
                </a:solidFill>
                <a:latin typeface="Calibri" pitchFamily="34" charset="0"/>
                <a:ea typeface="Calibri" pitchFamily="34" charset="-122"/>
                <a:cs typeface="Calibri" pitchFamily="34" charset="-120"/>
              </a:rPr>
              <a:t>Critique mode pairs GPT drafting with Claude review for higher accuracy</a:t>
            </a:r>
            <a:endParaRPr lang="en-US" sz="1300"/>
          </a:p>
          <a:p>
            <a:pPr marL="342900" indent="-342900">
              <a:spcAft>
                <a:spcPts val="800"/>
              </a:spcAft>
              <a:buSzPct val="100000"/>
              <a:buChar char="•"/>
            </a:pPr>
            <a:r>
              <a:rPr lang="en-US" sz="1300" dirty="0">
                <a:solidFill>
                  <a:srgbClr val="EAF2FA"/>
                </a:solidFill>
                <a:latin typeface="Calibri" pitchFamily="34" charset="0"/>
                <a:ea typeface="Calibri" pitchFamily="34" charset="-122"/>
                <a:cs typeface="Calibri" pitchFamily="34" charset="-120"/>
              </a:rPr>
              <a:t>Enterprise data protection</a:t>
            </a:r>
            <a:r>
              <a:rPr lang="en-US" sz="1300">
                <a:solidFill>
                  <a:srgbClr val="EAF2FA"/>
                </a:solidFill>
                <a:latin typeface="Calibri" pitchFamily="34" charset="0"/>
                <a:ea typeface="Calibri" pitchFamily="34" charset="-122"/>
                <a:cs typeface="Calibri" pitchFamily="34" charset="-120"/>
              </a:rPr>
              <a:t> applies to all models — your data stays in your tenant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Agent Mode in Word, Excel &amp; PowerPoint</a:t>
            </a:r>
            <a:endParaRPr lang="en-US" sz="3200" dirty="0"/>
          </a:p>
        </p:txBody>
      </p:sp>
      <p:sp>
        <p:nvSpPr>
          <p:cNvPr id="6" name="Shape 2"/>
          <p:cNvSpPr/>
          <p:nvPr/>
        </p:nvSpPr>
        <p:spPr>
          <a:xfrm>
            <a:off x="548640" y="1097280"/>
            <a:ext cx="1280160" cy="64008"/>
          </a:xfrm>
          <a:prstGeom prst="rect">
            <a:avLst/>
          </a:prstGeom>
          <a:solidFill>
            <a:srgbClr val="FFB81C"/>
          </a:solidFill>
          <a:ln w="12700">
            <a:solidFill>
              <a:srgbClr val="FFB81C"/>
            </a:solidFill>
            <a:prstDash val="solid"/>
          </a:ln>
        </p:spPr>
        <p:txBody>
          <a:bodyPr/>
          <a:lstStyle/>
          <a:p>
            <a:endParaRPr lang="en-US"/>
          </a:p>
        </p:txBody>
      </p:sp>
      <p:sp>
        <p:nvSpPr>
          <p:cNvPr id="7" name="Shape 3"/>
          <p:cNvSpPr/>
          <p:nvPr/>
        </p:nvSpPr>
        <p:spPr>
          <a:xfrm>
            <a:off x="1920240" y="1097280"/>
            <a:ext cx="640080" cy="64008"/>
          </a:xfrm>
          <a:prstGeom prst="rect">
            <a:avLst/>
          </a:prstGeom>
          <a:solidFill>
            <a:srgbClr val="4FC3F7"/>
          </a:solidFill>
          <a:ln w="12700">
            <a:solidFill>
              <a:srgbClr val="4FC3F7"/>
            </a:solidFill>
            <a:prstDash val="solid"/>
          </a:ln>
        </p:spPr>
        <p:txBody>
          <a:bodyPr/>
          <a:lstStyle/>
          <a:p>
            <a:endParaRPr lang="en-US"/>
          </a:p>
        </p:txBody>
      </p:sp>
      <p:sp>
        <p:nvSpPr>
          <p:cNvPr id="8" name="Text 4"/>
          <p:cNvSpPr/>
          <p:nvPr/>
        </p:nvSpPr>
        <p:spPr>
          <a:xfrm>
            <a:off x="548640" y="1325880"/>
            <a:ext cx="10972800" cy="411480"/>
          </a:xfrm>
          <a:prstGeom prst="rect">
            <a:avLst/>
          </a:prstGeom>
          <a:noFill/>
          <a:ln/>
        </p:spPr>
        <p:txBody>
          <a:bodyPr wrap="square" lIns="0" tIns="0" rIns="0" bIns="0" rtlCol="0" anchor="ctr"/>
          <a:lstStyle/>
          <a:p>
            <a:pPr marL="0" indent="0">
              <a:buNone/>
            </a:pPr>
            <a:r>
              <a:rPr lang="en-US" sz="1400" i="1" dirty="0">
                <a:solidFill>
                  <a:srgbClr val="EAF2FA"/>
                </a:solidFill>
                <a:latin typeface="Calibri" pitchFamily="34" charset="0"/>
                <a:ea typeface="Calibri" pitchFamily="34" charset="-122"/>
                <a:cs typeface="Calibri" pitchFamily="34" charset="-120"/>
              </a:rPr>
              <a:t>Copilot orchestrates multi-step tasks to produce real Office documents</a:t>
            </a:r>
            <a:endParaRPr lang="en-US" sz="1400" dirty="0"/>
          </a:p>
        </p:txBody>
      </p:sp>
      <p:sp>
        <p:nvSpPr>
          <p:cNvPr id="9" name="Text 5"/>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19 / 40</a:t>
            </a:r>
            <a:endParaRPr lang="en-US" sz="900" dirty="0"/>
          </a:p>
        </p:txBody>
      </p:sp>
      <p:sp>
        <p:nvSpPr>
          <p:cNvPr id="10" name="Shape 6"/>
          <p:cNvSpPr/>
          <p:nvPr/>
        </p:nvSpPr>
        <p:spPr>
          <a:xfrm>
            <a:off x="548640" y="1920240"/>
            <a:ext cx="3514344" cy="3017520"/>
          </a:xfrm>
          <a:prstGeom prst="rect">
            <a:avLst/>
          </a:prstGeom>
          <a:solidFill>
            <a:srgbClr val="0A2A44"/>
          </a:solidFill>
          <a:ln w="6350">
            <a:solidFill>
              <a:srgbClr val="1E3A5C"/>
            </a:solidFill>
            <a:prstDash val="solid"/>
          </a:ln>
        </p:spPr>
        <p:txBody>
          <a:bodyPr/>
          <a:lstStyle/>
          <a:p>
            <a:endParaRPr lang="en-US"/>
          </a:p>
        </p:txBody>
      </p:sp>
      <p:sp>
        <p:nvSpPr>
          <p:cNvPr id="11" name="Text 7"/>
          <p:cNvSpPr/>
          <p:nvPr/>
        </p:nvSpPr>
        <p:spPr>
          <a:xfrm>
            <a:off x="822960" y="2194560"/>
            <a:ext cx="2965704" cy="640080"/>
          </a:xfrm>
          <a:prstGeom prst="rect">
            <a:avLst/>
          </a:prstGeom>
          <a:noFill/>
          <a:ln/>
        </p:spPr>
        <p:txBody>
          <a:bodyPr wrap="square" lIns="0" tIns="0" rIns="0" bIns="0" rtlCol="0" anchor="ctr"/>
          <a:lstStyle/>
          <a:p>
            <a:pPr marL="0" indent="0">
              <a:buNone/>
            </a:pPr>
            <a:r>
              <a:rPr lang="en-US" sz="3000" b="1" dirty="0">
                <a:solidFill>
                  <a:srgbClr val="FFB81C"/>
                </a:solidFill>
                <a:latin typeface="Calibri" pitchFamily="34" charset="0"/>
                <a:ea typeface="Calibri" pitchFamily="34" charset="-122"/>
                <a:cs typeface="Calibri" pitchFamily="34" charset="-120"/>
              </a:rPr>
              <a:t>Word</a:t>
            </a:r>
            <a:endParaRPr lang="en-US" sz="3000" dirty="0"/>
          </a:p>
        </p:txBody>
      </p:sp>
      <p:sp>
        <p:nvSpPr>
          <p:cNvPr id="12" name="Shape 8"/>
          <p:cNvSpPr/>
          <p:nvPr/>
        </p:nvSpPr>
        <p:spPr>
          <a:xfrm>
            <a:off x="822960" y="2880360"/>
            <a:ext cx="548640" cy="45720"/>
          </a:xfrm>
          <a:prstGeom prst="rect">
            <a:avLst/>
          </a:prstGeom>
          <a:solidFill>
            <a:srgbClr val="FFB81C"/>
          </a:solidFill>
          <a:ln w="12700">
            <a:solidFill>
              <a:srgbClr val="333333"/>
            </a:solidFill>
            <a:prstDash val="solid"/>
          </a:ln>
        </p:spPr>
        <p:txBody>
          <a:bodyPr/>
          <a:lstStyle/>
          <a:p>
            <a:endParaRPr lang="en-US"/>
          </a:p>
        </p:txBody>
      </p:sp>
      <p:sp>
        <p:nvSpPr>
          <p:cNvPr id="13" name="Text 9"/>
          <p:cNvSpPr/>
          <p:nvPr/>
        </p:nvSpPr>
        <p:spPr>
          <a:xfrm>
            <a:off x="822960" y="3063240"/>
            <a:ext cx="2965704" cy="173736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Update reports, rewrite executive summaries, restructure long documents.</a:t>
            </a:r>
            <a:endParaRPr lang="en-US" sz="1400" dirty="0"/>
          </a:p>
        </p:txBody>
      </p:sp>
      <p:sp>
        <p:nvSpPr>
          <p:cNvPr id="14" name="Shape 10"/>
          <p:cNvSpPr/>
          <p:nvPr/>
        </p:nvSpPr>
        <p:spPr>
          <a:xfrm>
            <a:off x="4337304" y="1920240"/>
            <a:ext cx="3514344" cy="3017520"/>
          </a:xfrm>
          <a:prstGeom prst="rect">
            <a:avLst/>
          </a:prstGeom>
          <a:solidFill>
            <a:srgbClr val="0A2A44"/>
          </a:solidFill>
          <a:ln w="6350">
            <a:solidFill>
              <a:srgbClr val="1E3A5C"/>
            </a:solidFill>
            <a:prstDash val="solid"/>
          </a:ln>
        </p:spPr>
        <p:txBody>
          <a:bodyPr/>
          <a:lstStyle/>
          <a:p>
            <a:endParaRPr lang="en-US"/>
          </a:p>
        </p:txBody>
      </p:sp>
      <p:sp>
        <p:nvSpPr>
          <p:cNvPr id="15" name="Text 11"/>
          <p:cNvSpPr/>
          <p:nvPr/>
        </p:nvSpPr>
        <p:spPr>
          <a:xfrm>
            <a:off x="4611624" y="2194560"/>
            <a:ext cx="2965704" cy="640080"/>
          </a:xfrm>
          <a:prstGeom prst="rect">
            <a:avLst/>
          </a:prstGeom>
          <a:noFill/>
          <a:ln/>
        </p:spPr>
        <p:txBody>
          <a:bodyPr wrap="square" lIns="0" tIns="0" rIns="0" bIns="0" rtlCol="0" anchor="ctr"/>
          <a:lstStyle/>
          <a:p>
            <a:pPr marL="0" indent="0">
              <a:buNone/>
            </a:pPr>
            <a:r>
              <a:rPr lang="en-US" sz="3000" b="1" dirty="0">
                <a:solidFill>
                  <a:srgbClr val="4FC3F7"/>
                </a:solidFill>
                <a:latin typeface="Calibri" pitchFamily="34" charset="0"/>
                <a:ea typeface="Calibri" pitchFamily="34" charset="-122"/>
                <a:cs typeface="Calibri" pitchFamily="34" charset="-120"/>
              </a:rPr>
              <a:t>Excel</a:t>
            </a:r>
            <a:endParaRPr lang="en-US" sz="3000" dirty="0"/>
          </a:p>
        </p:txBody>
      </p:sp>
      <p:sp>
        <p:nvSpPr>
          <p:cNvPr id="16" name="Shape 12"/>
          <p:cNvSpPr/>
          <p:nvPr/>
        </p:nvSpPr>
        <p:spPr>
          <a:xfrm>
            <a:off x="4611624" y="2880360"/>
            <a:ext cx="548640" cy="45720"/>
          </a:xfrm>
          <a:prstGeom prst="rect">
            <a:avLst/>
          </a:prstGeom>
          <a:solidFill>
            <a:srgbClr val="4FC3F7"/>
          </a:solidFill>
          <a:ln w="12700">
            <a:solidFill>
              <a:srgbClr val="333333"/>
            </a:solidFill>
            <a:prstDash val="solid"/>
          </a:ln>
        </p:spPr>
        <p:txBody>
          <a:bodyPr/>
          <a:lstStyle/>
          <a:p>
            <a:endParaRPr lang="en-US"/>
          </a:p>
        </p:txBody>
      </p:sp>
      <p:sp>
        <p:nvSpPr>
          <p:cNvPr id="17" name="Text 13"/>
          <p:cNvSpPr/>
          <p:nvPr/>
        </p:nvSpPr>
        <p:spPr>
          <a:xfrm>
            <a:off x="4611624" y="3063240"/>
            <a:ext cx="2965704" cy="173736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Build forecasts, run sensitivity analysis, create charts and dashboards.</a:t>
            </a:r>
            <a:endParaRPr lang="en-US" sz="1400" dirty="0"/>
          </a:p>
        </p:txBody>
      </p:sp>
      <p:sp>
        <p:nvSpPr>
          <p:cNvPr id="18" name="Shape 14"/>
          <p:cNvSpPr/>
          <p:nvPr/>
        </p:nvSpPr>
        <p:spPr>
          <a:xfrm>
            <a:off x="8125968" y="1920240"/>
            <a:ext cx="3514344" cy="3017520"/>
          </a:xfrm>
          <a:prstGeom prst="rect">
            <a:avLst/>
          </a:prstGeom>
          <a:solidFill>
            <a:srgbClr val="0A2A44"/>
          </a:solidFill>
          <a:ln w="6350">
            <a:solidFill>
              <a:srgbClr val="1E3A5C"/>
            </a:solidFill>
            <a:prstDash val="solid"/>
          </a:ln>
        </p:spPr>
        <p:txBody>
          <a:bodyPr/>
          <a:lstStyle/>
          <a:p>
            <a:endParaRPr lang="en-US"/>
          </a:p>
        </p:txBody>
      </p:sp>
      <p:sp>
        <p:nvSpPr>
          <p:cNvPr id="19" name="Text 15"/>
          <p:cNvSpPr/>
          <p:nvPr/>
        </p:nvSpPr>
        <p:spPr>
          <a:xfrm>
            <a:off x="8400288" y="2194560"/>
            <a:ext cx="2965704" cy="640080"/>
          </a:xfrm>
          <a:prstGeom prst="rect">
            <a:avLst/>
          </a:prstGeom>
          <a:noFill/>
          <a:ln/>
        </p:spPr>
        <p:txBody>
          <a:bodyPr wrap="square" lIns="0" tIns="0" rIns="0" bIns="0" rtlCol="0" anchor="ctr"/>
          <a:lstStyle/>
          <a:p>
            <a:pPr marL="0" indent="0">
              <a:buNone/>
            </a:pPr>
            <a:r>
              <a:rPr lang="en-US" sz="3000" b="1" dirty="0">
                <a:solidFill>
                  <a:srgbClr val="FFB81C"/>
                </a:solidFill>
                <a:latin typeface="Calibri" pitchFamily="34" charset="0"/>
                <a:ea typeface="Calibri" pitchFamily="34" charset="-122"/>
                <a:cs typeface="Calibri" pitchFamily="34" charset="-120"/>
              </a:rPr>
              <a:t>PowerPoint</a:t>
            </a:r>
            <a:endParaRPr lang="en-US" sz="3000" dirty="0"/>
          </a:p>
        </p:txBody>
      </p:sp>
      <p:sp>
        <p:nvSpPr>
          <p:cNvPr id="20" name="Shape 16"/>
          <p:cNvSpPr/>
          <p:nvPr/>
        </p:nvSpPr>
        <p:spPr>
          <a:xfrm>
            <a:off x="8400288" y="2880360"/>
            <a:ext cx="548640" cy="45720"/>
          </a:xfrm>
          <a:prstGeom prst="rect">
            <a:avLst/>
          </a:prstGeom>
          <a:solidFill>
            <a:srgbClr val="FFB81C"/>
          </a:solidFill>
          <a:ln w="12700">
            <a:solidFill>
              <a:srgbClr val="333333"/>
            </a:solidFill>
            <a:prstDash val="solid"/>
          </a:ln>
        </p:spPr>
        <p:txBody>
          <a:bodyPr/>
          <a:lstStyle/>
          <a:p>
            <a:endParaRPr lang="en-US"/>
          </a:p>
        </p:txBody>
      </p:sp>
      <p:sp>
        <p:nvSpPr>
          <p:cNvPr id="21" name="Text 17"/>
          <p:cNvSpPr/>
          <p:nvPr/>
        </p:nvSpPr>
        <p:spPr>
          <a:xfrm>
            <a:off x="8400288" y="3063240"/>
            <a:ext cx="2965704" cy="173736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Rewrite, re-layout, insert tables and images, edit across slides.</a:t>
            </a:r>
            <a:endParaRPr lang="en-US" sz="1400" dirty="0"/>
          </a:p>
        </p:txBody>
      </p:sp>
      <p:sp>
        <p:nvSpPr>
          <p:cNvPr id="22" name="Shape 18"/>
          <p:cNvSpPr/>
          <p:nvPr/>
        </p:nvSpPr>
        <p:spPr>
          <a:xfrm>
            <a:off x="548640" y="5120640"/>
            <a:ext cx="3514344" cy="1005840"/>
          </a:xfrm>
          <a:prstGeom prst="rect">
            <a:avLst/>
          </a:prstGeom>
          <a:solidFill>
            <a:srgbClr val="00111F"/>
          </a:solidFill>
          <a:ln w="6350">
            <a:solidFill>
              <a:srgbClr val="FFB81C"/>
            </a:solidFill>
            <a:prstDash val="solid"/>
          </a:ln>
        </p:spPr>
        <p:txBody>
          <a:bodyPr/>
          <a:lstStyle/>
          <a:p>
            <a:endParaRPr lang="en-US"/>
          </a:p>
        </p:txBody>
      </p:sp>
      <p:sp>
        <p:nvSpPr>
          <p:cNvPr id="23" name="Text 19"/>
          <p:cNvSpPr/>
          <p:nvPr/>
        </p:nvSpPr>
        <p:spPr>
          <a:xfrm>
            <a:off x="777240" y="5257800"/>
            <a:ext cx="3148584" cy="365760"/>
          </a:xfrm>
          <a:prstGeom prst="rect">
            <a:avLst/>
          </a:prstGeom>
          <a:noFill/>
          <a:ln/>
        </p:spPr>
        <p:txBody>
          <a:bodyPr wrap="square" lIns="0" tIns="0" rIns="0" bIns="0" rtlCol="0" anchor="ctr"/>
          <a:lstStyle/>
          <a:p>
            <a:pPr marL="0" indent="0">
              <a:buNone/>
            </a:pPr>
            <a:r>
              <a:rPr lang="en-US" sz="1300" b="1" dirty="0">
                <a:solidFill>
                  <a:srgbClr val="FFB81C"/>
                </a:solidFill>
                <a:latin typeface="Calibri" pitchFamily="34" charset="0"/>
                <a:ea typeface="Calibri" pitchFamily="34" charset="-122"/>
                <a:cs typeface="Calibri" pitchFamily="34" charset="-120"/>
              </a:rPr>
              <a:t>Integrated with Office</a:t>
            </a:r>
            <a:endParaRPr lang="en-US" sz="1300" dirty="0"/>
          </a:p>
        </p:txBody>
      </p:sp>
      <p:sp>
        <p:nvSpPr>
          <p:cNvPr id="24" name="Text 20"/>
          <p:cNvSpPr/>
          <p:nvPr/>
        </p:nvSpPr>
        <p:spPr>
          <a:xfrm>
            <a:off x="777240" y="5623560"/>
            <a:ext cx="3148584" cy="457200"/>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Real Word styles, Excel formulas, PowerPoint layouts – not just copy/paste text.</a:t>
            </a:r>
            <a:endParaRPr lang="en-US" sz="1100" dirty="0"/>
          </a:p>
        </p:txBody>
      </p:sp>
      <p:sp>
        <p:nvSpPr>
          <p:cNvPr id="25" name="Shape 21"/>
          <p:cNvSpPr/>
          <p:nvPr/>
        </p:nvSpPr>
        <p:spPr>
          <a:xfrm>
            <a:off x="4337304" y="5120640"/>
            <a:ext cx="3514344" cy="1005840"/>
          </a:xfrm>
          <a:prstGeom prst="rect">
            <a:avLst/>
          </a:prstGeom>
          <a:solidFill>
            <a:srgbClr val="00111F"/>
          </a:solidFill>
          <a:ln w="6350">
            <a:solidFill>
              <a:srgbClr val="4FC3F7"/>
            </a:solidFill>
            <a:prstDash val="solid"/>
          </a:ln>
        </p:spPr>
        <p:txBody>
          <a:bodyPr/>
          <a:lstStyle/>
          <a:p>
            <a:endParaRPr lang="en-US"/>
          </a:p>
        </p:txBody>
      </p:sp>
      <p:sp>
        <p:nvSpPr>
          <p:cNvPr id="26" name="Text 22"/>
          <p:cNvSpPr/>
          <p:nvPr/>
        </p:nvSpPr>
        <p:spPr>
          <a:xfrm>
            <a:off x="4565904" y="5257800"/>
            <a:ext cx="3148584" cy="365760"/>
          </a:xfrm>
          <a:prstGeom prst="rect">
            <a:avLst/>
          </a:prstGeom>
          <a:noFill/>
          <a:ln/>
        </p:spPr>
        <p:txBody>
          <a:bodyPr wrap="square" lIns="0" tIns="0" rIns="0" bIns="0"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Grounded in trusted sources</a:t>
            </a:r>
            <a:endParaRPr lang="en-US" sz="1300" dirty="0"/>
          </a:p>
        </p:txBody>
      </p:sp>
      <p:sp>
        <p:nvSpPr>
          <p:cNvPr id="27" name="Text 23"/>
          <p:cNvSpPr/>
          <p:nvPr/>
        </p:nvSpPr>
        <p:spPr>
          <a:xfrm>
            <a:off x="4565904" y="5623560"/>
            <a:ext cx="3148584" cy="457200"/>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Files, emails, meetings via Work IQ; web grounding when needed.</a:t>
            </a:r>
            <a:endParaRPr lang="en-US" sz="1100" dirty="0"/>
          </a:p>
        </p:txBody>
      </p:sp>
      <p:sp>
        <p:nvSpPr>
          <p:cNvPr id="28" name="Shape 24"/>
          <p:cNvSpPr/>
          <p:nvPr/>
        </p:nvSpPr>
        <p:spPr>
          <a:xfrm>
            <a:off x="8125968" y="5120640"/>
            <a:ext cx="3514344" cy="1005840"/>
          </a:xfrm>
          <a:prstGeom prst="rect">
            <a:avLst/>
          </a:prstGeom>
          <a:solidFill>
            <a:srgbClr val="00111F"/>
          </a:solidFill>
          <a:ln w="6350">
            <a:solidFill>
              <a:srgbClr val="FFB81C"/>
            </a:solidFill>
            <a:prstDash val="solid"/>
          </a:ln>
        </p:spPr>
        <p:txBody>
          <a:bodyPr/>
          <a:lstStyle/>
          <a:p>
            <a:endParaRPr lang="en-US"/>
          </a:p>
        </p:txBody>
      </p:sp>
      <p:sp>
        <p:nvSpPr>
          <p:cNvPr id="29" name="Text 25"/>
          <p:cNvSpPr/>
          <p:nvPr/>
        </p:nvSpPr>
        <p:spPr>
          <a:xfrm>
            <a:off x="8354568" y="5257800"/>
            <a:ext cx="3148584" cy="365760"/>
          </a:xfrm>
          <a:prstGeom prst="rect">
            <a:avLst/>
          </a:prstGeom>
          <a:noFill/>
          <a:ln/>
        </p:spPr>
        <p:txBody>
          <a:bodyPr wrap="square" lIns="0" tIns="0" rIns="0" bIns="0" rtlCol="0" anchor="ctr"/>
          <a:lstStyle/>
          <a:p>
            <a:pPr marL="0" indent="0">
              <a:buNone/>
            </a:pPr>
            <a:r>
              <a:rPr lang="en-US" sz="1300" b="1" dirty="0">
                <a:solidFill>
                  <a:srgbClr val="FFB81C"/>
                </a:solidFill>
                <a:latin typeface="Calibri" pitchFamily="34" charset="0"/>
                <a:ea typeface="Calibri" pitchFamily="34" charset="-122"/>
                <a:cs typeface="Calibri" pitchFamily="34" charset="-120"/>
              </a:rPr>
              <a:t>Transparent and reviewable</a:t>
            </a:r>
            <a:endParaRPr lang="en-US" sz="1300" dirty="0"/>
          </a:p>
        </p:txBody>
      </p:sp>
      <p:sp>
        <p:nvSpPr>
          <p:cNvPr id="30" name="Text 26"/>
          <p:cNvSpPr/>
          <p:nvPr/>
        </p:nvSpPr>
        <p:spPr>
          <a:xfrm>
            <a:off x="8354568" y="5623560"/>
            <a:ext cx="3148584" cy="457200"/>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Every change explained and adjustable. You stay in control.</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Search</a:t>
            </a:r>
            <a:endParaRPr lang="en-US" sz="3200" dirty="0"/>
          </a:p>
        </p:txBody>
      </p:sp>
      <p:sp>
        <p:nvSpPr>
          <p:cNvPr id="6" name="Shape 2"/>
          <p:cNvSpPr/>
          <p:nvPr/>
        </p:nvSpPr>
        <p:spPr>
          <a:xfrm>
            <a:off x="548640" y="1097280"/>
            <a:ext cx="1280160" cy="64008"/>
          </a:xfrm>
          <a:prstGeom prst="rect">
            <a:avLst/>
          </a:prstGeom>
          <a:solidFill>
            <a:srgbClr val="FFB81C"/>
          </a:solidFill>
          <a:ln w="12700">
            <a:solidFill>
              <a:srgbClr val="FFB81C"/>
            </a:solidFill>
            <a:prstDash val="solid"/>
          </a:ln>
        </p:spPr>
        <p:txBody>
          <a:bodyPr/>
          <a:lstStyle/>
          <a:p>
            <a:endParaRPr lang="en-US"/>
          </a:p>
        </p:txBody>
      </p:sp>
      <p:sp>
        <p:nvSpPr>
          <p:cNvPr id="7" name="Shape 3"/>
          <p:cNvSpPr/>
          <p:nvPr/>
        </p:nvSpPr>
        <p:spPr>
          <a:xfrm>
            <a:off x="1920240" y="1097280"/>
            <a:ext cx="640080" cy="64008"/>
          </a:xfrm>
          <a:prstGeom prst="rect">
            <a:avLst/>
          </a:prstGeom>
          <a:solidFill>
            <a:srgbClr val="4FC3F7"/>
          </a:solidFill>
          <a:ln w="12700">
            <a:solidFill>
              <a:srgbClr val="4FC3F7"/>
            </a:solidFill>
            <a:prstDash val="solid"/>
          </a:ln>
        </p:spPr>
        <p:txBody>
          <a:bodyPr/>
          <a:lstStyle/>
          <a:p>
            <a:endParaRPr lang="en-US"/>
          </a:p>
        </p:txBody>
      </p:sp>
      <p:sp>
        <p:nvSpPr>
          <p:cNvPr id="8" name="Text 4"/>
          <p:cNvSpPr/>
          <p:nvPr/>
        </p:nvSpPr>
        <p:spPr>
          <a:xfrm>
            <a:off x="548640" y="1325880"/>
            <a:ext cx="10972800" cy="411480"/>
          </a:xfrm>
          <a:prstGeom prst="rect">
            <a:avLst/>
          </a:prstGeom>
          <a:noFill/>
          <a:ln/>
        </p:spPr>
        <p:txBody>
          <a:bodyPr wrap="square" lIns="0" tIns="0" rIns="0" bIns="0" rtlCol="0" anchor="ctr"/>
          <a:lstStyle/>
          <a:p>
            <a:pPr marL="0" indent="0">
              <a:buNone/>
            </a:pPr>
            <a:r>
              <a:rPr lang="en-US" sz="1400" i="1" dirty="0">
                <a:solidFill>
                  <a:srgbClr val="EAF2FA"/>
                </a:solidFill>
                <a:latin typeface="Calibri" pitchFamily="34" charset="0"/>
                <a:ea typeface="Calibri" pitchFamily="34" charset="-122"/>
                <a:cs typeface="Calibri" pitchFamily="34" charset="-120"/>
              </a:rPr>
              <a:t>Enterprise search powered by AI and Work IQ</a:t>
            </a:r>
            <a:endParaRPr lang="en-US" sz="1400" dirty="0"/>
          </a:p>
        </p:txBody>
      </p:sp>
      <p:sp>
        <p:nvSpPr>
          <p:cNvPr id="9" name="Text 5"/>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21 / 40</a:t>
            </a:r>
            <a:endParaRPr lang="en-US" sz="900" dirty="0"/>
          </a:p>
        </p:txBody>
      </p:sp>
      <p:sp>
        <p:nvSpPr>
          <p:cNvPr id="10" name="Shape 6"/>
          <p:cNvSpPr/>
          <p:nvPr/>
        </p:nvSpPr>
        <p:spPr>
          <a:xfrm>
            <a:off x="548640" y="1920240"/>
            <a:ext cx="3514344" cy="4297680"/>
          </a:xfrm>
          <a:prstGeom prst="rect">
            <a:avLst/>
          </a:prstGeom>
          <a:solidFill>
            <a:srgbClr val="0A2A44"/>
          </a:solidFill>
          <a:ln w="6350">
            <a:solidFill>
              <a:srgbClr val="1E3A5C"/>
            </a:solidFill>
            <a:prstDash val="solid"/>
          </a:ln>
        </p:spPr>
        <p:txBody>
          <a:bodyPr/>
          <a:lstStyle/>
          <a:p>
            <a:endParaRPr lang="en-US"/>
          </a:p>
        </p:txBody>
      </p:sp>
      <p:sp>
        <p:nvSpPr>
          <p:cNvPr id="11" name="Text 7"/>
          <p:cNvSpPr/>
          <p:nvPr/>
        </p:nvSpPr>
        <p:spPr>
          <a:xfrm>
            <a:off x="914400" y="2377440"/>
            <a:ext cx="2782824" cy="548640"/>
          </a:xfrm>
          <a:prstGeom prst="rect">
            <a:avLst/>
          </a:prstGeom>
          <a:noFill/>
          <a:ln/>
        </p:spPr>
        <p:txBody>
          <a:bodyPr wrap="square" lIns="0" tIns="0" rIns="0" bIns="0" rtlCol="0" anchor="ctr"/>
          <a:lstStyle/>
          <a:p>
            <a:pPr marL="0" indent="0">
              <a:buNone/>
            </a:pPr>
            <a:r>
              <a:rPr lang="en-US" sz="2200" b="1" dirty="0">
                <a:solidFill>
                  <a:srgbClr val="FFB81C"/>
                </a:solidFill>
                <a:latin typeface="Calibri" pitchFamily="34" charset="0"/>
                <a:ea typeface="Calibri" pitchFamily="34" charset="-122"/>
                <a:cs typeface="Calibri" pitchFamily="34" charset="-120"/>
              </a:rPr>
              <a:t>Intelligent search</a:t>
            </a:r>
            <a:endParaRPr lang="en-US" sz="2200" dirty="0"/>
          </a:p>
        </p:txBody>
      </p:sp>
      <p:sp>
        <p:nvSpPr>
          <p:cNvPr id="12" name="Shape 8"/>
          <p:cNvSpPr/>
          <p:nvPr/>
        </p:nvSpPr>
        <p:spPr>
          <a:xfrm>
            <a:off x="914400" y="3017520"/>
            <a:ext cx="457200" cy="45720"/>
          </a:xfrm>
          <a:prstGeom prst="rect">
            <a:avLst/>
          </a:prstGeom>
          <a:solidFill>
            <a:srgbClr val="FFB81C"/>
          </a:solidFill>
          <a:ln w="12700">
            <a:solidFill>
              <a:srgbClr val="333333"/>
            </a:solidFill>
            <a:prstDash val="solid"/>
          </a:ln>
        </p:spPr>
        <p:txBody>
          <a:bodyPr/>
          <a:lstStyle/>
          <a:p>
            <a:endParaRPr lang="en-US"/>
          </a:p>
        </p:txBody>
      </p:sp>
      <p:sp>
        <p:nvSpPr>
          <p:cNvPr id="13" name="Text 9"/>
          <p:cNvSpPr/>
          <p:nvPr/>
        </p:nvSpPr>
        <p:spPr>
          <a:xfrm>
            <a:off x="914400" y="3246120"/>
            <a:ext cx="2782824" cy="274320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Natural-language queries combined with semantic indexing surface deeper, more relevant answers.</a:t>
            </a:r>
            <a:endParaRPr lang="en-US" sz="1400" dirty="0"/>
          </a:p>
        </p:txBody>
      </p:sp>
      <p:sp>
        <p:nvSpPr>
          <p:cNvPr id="14" name="Shape 10"/>
          <p:cNvSpPr/>
          <p:nvPr/>
        </p:nvSpPr>
        <p:spPr>
          <a:xfrm>
            <a:off x="4337304" y="1920240"/>
            <a:ext cx="3514344" cy="4297680"/>
          </a:xfrm>
          <a:prstGeom prst="rect">
            <a:avLst/>
          </a:prstGeom>
          <a:solidFill>
            <a:srgbClr val="0A2A44"/>
          </a:solidFill>
          <a:ln w="6350">
            <a:solidFill>
              <a:srgbClr val="1E3A5C"/>
            </a:solidFill>
            <a:prstDash val="solid"/>
          </a:ln>
        </p:spPr>
        <p:txBody>
          <a:bodyPr/>
          <a:lstStyle/>
          <a:p>
            <a:endParaRPr lang="en-US"/>
          </a:p>
        </p:txBody>
      </p:sp>
      <p:sp>
        <p:nvSpPr>
          <p:cNvPr id="15" name="Text 11"/>
          <p:cNvSpPr/>
          <p:nvPr/>
        </p:nvSpPr>
        <p:spPr>
          <a:xfrm>
            <a:off x="4703064" y="2377440"/>
            <a:ext cx="2782824" cy="548640"/>
          </a:xfrm>
          <a:prstGeom prst="rect">
            <a:avLst/>
          </a:prstGeom>
          <a:noFill/>
          <a:ln/>
        </p:spPr>
        <p:txBody>
          <a:bodyPr wrap="square" lIns="0" tIns="0" rIns="0" bIns="0" rtlCol="0" anchor="ctr"/>
          <a:lstStyle/>
          <a:p>
            <a:pPr marL="0" indent="0">
              <a:buNone/>
            </a:pPr>
            <a:r>
              <a:rPr lang="en-US" sz="2200" b="1" dirty="0">
                <a:solidFill>
                  <a:srgbClr val="4FC3F7"/>
                </a:solidFill>
                <a:latin typeface="Calibri" pitchFamily="34" charset="0"/>
                <a:ea typeface="Calibri" pitchFamily="34" charset="-122"/>
                <a:cs typeface="Calibri" pitchFamily="34" charset="-120"/>
              </a:rPr>
              <a:t>Broad connector ecosystem</a:t>
            </a:r>
            <a:endParaRPr lang="en-US" sz="2200" dirty="0"/>
          </a:p>
        </p:txBody>
      </p:sp>
      <p:sp>
        <p:nvSpPr>
          <p:cNvPr id="16" name="Shape 12"/>
          <p:cNvSpPr/>
          <p:nvPr/>
        </p:nvSpPr>
        <p:spPr>
          <a:xfrm>
            <a:off x="4703064" y="3017520"/>
            <a:ext cx="457200" cy="45720"/>
          </a:xfrm>
          <a:prstGeom prst="rect">
            <a:avLst/>
          </a:prstGeom>
          <a:solidFill>
            <a:srgbClr val="4FC3F7"/>
          </a:solidFill>
          <a:ln w="12700">
            <a:solidFill>
              <a:srgbClr val="333333"/>
            </a:solidFill>
            <a:prstDash val="solid"/>
          </a:ln>
        </p:spPr>
        <p:txBody>
          <a:bodyPr/>
          <a:lstStyle/>
          <a:p>
            <a:endParaRPr lang="en-US"/>
          </a:p>
        </p:txBody>
      </p:sp>
      <p:sp>
        <p:nvSpPr>
          <p:cNvPr id="17" name="Text 13"/>
          <p:cNvSpPr/>
          <p:nvPr/>
        </p:nvSpPr>
        <p:spPr>
          <a:xfrm>
            <a:off x="4703064" y="3246120"/>
            <a:ext cx="2782824" cy="274320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Search across Microsoft 365, on-premises systems and 100+ line-of-business connectors.</a:t>
            </a:r>
            <a:endParaRPr lang="en-US" sz="1400" dirty="0"/>
          </a:p>
        </p:txBody>
      </p:sp>
      <p:sp>
        <p:nvSpPr>
          <p:cNvPr id="18" name="Shape 14"/>
          <p:cNvSpPr/>
          <p:nvPr/>
        </p:nvSpPr>
        <p:spPr>
          <a:xfrm>
            <a:off x="8125968" y="1920240"/>
            <a:ext cx="3514344" cy="4297680"/>
          </a:xfrm>
          <a:prstGeom prst="rect">
            <a:avLst/>
          </a:prstGeom>
          <a:solidFill>
            <a:srgbClr val="0A2A44"/>
          </a:solidFill>
          <a:ln w="6350">
            <a:solidFill>
              <a:srgbClr val="1E3A5C"/>
            </a:solidFill>
            <a:prstDash val="solid"/>
          </a:ln>
        </p:spPr>
        <p:txBody>
          <a:bodyPr/>
          <a:lstStyle/>
          <a:p>
            <a:endParaRPr lang="en-US"/>
          </a:p>
        </p:txBody>
      </p:sp>
      <p:sp>
        <p:nvSpPr>
          <p:cNvPr id="19" name="Text 15"/>
          <p:cNvSpPr/>
          <p:nvPr/>
        </p:nvSpPr>
        <p:spPr>
          <a:xfrm>
            <a:off x="8491728" y="2377440"/>
            <a:ext cx="2782824" cy="548640"/>
          </a:xfrm>
          <a:prstGeom prst="rect">
            <a:avLst/>
          </a:prstGeom>
          <a:noFill/>
          <a:ln/>
        </p:spPr>
        <p:txBody>
          <a:bodyPr wrap="square" lIns="0" tIns="0" rIns="0" bIns="0" rtlCol="0" anchor="ctr"/>
          <a:lstStyle/>
          <a:p>
            <a:pPr marL="0" indent="0">
              <a:buNone/>
            </a:pPr>
            <a:r>
              <a:rPr lang="en-US" sz="2200" b="1" dirty="0">
                <a:solidFill>
                  <a:srgbClr val="FFB81C"/>
                </a:solidFill>
                <a:latin typeface="Calibri" pitchFamily="34" charset="0"/>
                <a:ea typeface="Calibri" pitchFamily="34" charset="-122"/>
                <a:cs typeface="Calibri" pitchFamily="34" charset="-120"/>
              </a:rPr>
              <a:t>Authoritative answers</a:t>
            </a:r>
            <a:endParaRPr lang="en-US" sz="2200" dirty="0"/>
          </a:p>
        </p:txBody>
      </p:sp>
      <p:sp>
        <p:nvSpPr>
          <p:cNvPr id="20" name="Shape 16"/>
          <p:cNvSpPr/>
          <p:nvPr/>
        </p:nvSpPr>
        <p:spPr>
          <a:xfrm>
            <a:off x="8491728" y="3017520"/>
            <a:ext cx="457200" cy="45720"/>
          </a:xfrm>
          <a:prstGeom prst="rect">
            <a:avLst/>
          </a:prstGeom>
          <a:solidFill>
            <a:srgbClr val="FFB81C"/>
          </a:solidFill>
          <a:ln w="12700">
            <a:solidFill>
              <a:srgbClr val="333333"/>
            </a:solidFill>
            <a:prstDash val="solid"/>
          </a:ln>
        </p:spPr>
        <p:txBody>
          <a:bodyPr/>
          <a:lstStyle/>
          <a:p>
            <a:endParaRPr lang="en-US"/>
          </a:p>
        </p:txBody>
      </p:sp>
      <p:sp>
        <p:nvSpPr>
          <p:cNvPr id="21" name="Text 17"/>
          <p:cNvSpPr/>
          <p:nvPr/>
        </p:nvSpPr>
        <p:spPr>
          <a:xfrm>
            <a:off x="8491728" y="3246120"/>
            <a:ext cx="2782824" cy="274320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Admins curate concise, trusted answers that are especially relevant to your council.</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Notebooks</a:t>
            </a:r>
            <a:endParaRPr lang="en-US" sz="3200" dirty="0"/>
          </a:p>
        </p:txBody>
      </p:sp>
      <p:sp>
        <p:nvSpPr>
          <p:cNvPr id="6" name="Shape 2"/>
          <p:cNvSpPr/>
          <p:nvPr/>
        </p:nvSpPr>
        <p:spPr>
          <a:xfrm>
            <a:off x="548640" y="1097280"/>
            <a:ext cx="1280160" cy="64008"/>
          </a:xfrm>
          <a:prstGeom prst="rect">
            <a:avLst/>
          </a:prstGeom>
          <a:solidFill>
            <a:srgbClr val="FFB81C"/>
          </a:solidFill>
          <a:ln w="12700">
            <a:solidFill>
              <a:srgbClr val="FFB81C"/>
            </a:solidFill>
            <a:prstDash val="solid"/>
          </a:ln>
        </p:spPr>
        <p:txBody>
          <a:bodyPr/>
          <a:lstStyle/>
          <a:p>
            <a:endParaRPr lang="en-US"/>
          </a:p>
        </p:txBody>
      </p:sp>
      <p:sp>
        <p:nvSpPr>
          <p:cNvPr id="7" name="Shape 3"/>
          <p:cNvSpPr/>
          <p:nvPr/>
        </p:nvSpPr>
        <p:spPr>
          <a:xfrm>
            <a:off x="1920240" y="1097280"/>
            <a:ext cx="640080" cy="64008"/>
          </a:xfrm>
          <a:prstGeom prst="rect">
            <a:avLst/>
          </a:prstGeom>
          <a:solidFill>
            <a:srgbClr val="4FC3F7"/>
          </a:solidFill>
          <a:ln w="12700">
            <a:solidFill>
              <a:srgbClr val="4FC3F7"/>
            </a:solidFill>
            <a:prstDash val="solid"/>
          </a:ln>
        </p:spPr>
        <p:txBody>
          <a:bodyPr/>
          <a:lstStyle/>
          <a:p>
            <a:endParaRPr lang="en-US"/>
          </a:p>
        </p:txBody>
      </p:sp>
      <p:sp>
        <p:nvSpPr>
          <p:cNvPr id="8" name="Text 4"/>
          <p:cNvSpPr/>
          <p:nvPr/>
        </p:nvSpPr>
        <p:spPr>
          <a:xfrm>
            <a:off x="548640" y="1325880"/>
            <a:ext cx="10972800" cy="411480"/>
          </a:xfrm>
          <a:prstGeom prst="rect">
            <a:avLst/>
          </a:prstGeom>
          <a:noFill/>
          <a:ln/>
        </p:spPr>
        <p:txBody>
          <a:bodyPr wrap="square" lIns="0" tIns="0" rIns="0" bIns="0" rtlCol="0" anchor="ctr"/>
          <a:lstStyle/>
          <a:p>
            <a:pPr marL="0" indent="0">
              <a:buNone/>
            </a:pPr>
            <a:r>
              <a:rPr lang="en-US" sz="1400" i="1" dirty="0">
                <a:solidFill>
                  <a:srgbClr val="EAF2FA"/>
                </a:solidFill>
                <a:latin typeface="Calibri" pitchFamily="34" charset="0"/>
                <a:ea typeface="Calibri" pitchFamily="34" charset="-122"/>
                <a:cs typeface="Calibri" pitchFamily="34" charset="-120"/>
              </a:rPr>
              <a:t>Pull together notes, documents and meetings into one Copilot-grounded workspace</a:t>
            </a:r>
            <a:endParaRPr lang="en-US" sz="1400" dirty="0"/>
          </a:p>
        </p:txBody>
      </p:sp>
      <p:sp>
        <p:nvSpPr>
          <p:cNvPr id="9" name="Text 5"/>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22 / 40</a:t>
            </a:r>
            <a:endParaRPr lang="en-US" sz="900" dirty="0"/>
          </a:p>
        </p:txBody>
      </p:sp>
      <p:sp>
        <p:nvSpPr>
          <p:cNvPr id="10" name="Shape 6"/>
          <p:cNvSpPr/>
          <p:nvPr/>
        </p:nvSpPr>
        <p:spPr>
          <a:xfrm>
            <a:off x="548640" y="1920240"/>
            <a:ext cx="3514344" cy="4297680"/>
          </a:xfrm>
          <a:prstGeom prst="rect">
            <a:avLst/>
          </a:prstGeom>
          <a:solidFill>
            <a:srgbClr val="0A2A44"/>
          </a:solidFill>
          <a:ln w="6350">
            <a:solidFill>
              <a:srgbClr val="1E3A5C"/>
            </a:solidFill>
            <a:prstDash val="solid"/>
          </a:ln>
        </p:spPr>
        <p:txBody>
          <a:bodyPr/>
          <a:lstStyle/>
          <a:p>
            <a:endParaRPr lang="en-US"/>
          </a:p>
        </p:txBody>
      </p:sp>
      <p:sp>
        <p:nvSpPr>
          <p:cNvPr id="11" name="Shape 7"/>
          <p:cNvSpPr/>
          <p:nvPr/>
        </p:nvSpPr>
        <p:spPr>
          <a:xfrm>
            <a:off x="548640" y="1920240"/>
            <a:ext cx="3514344" cy="73152"/>
          </a:xfrm>
          <a:prstGeom prst="rect">
            <a:avLst/>
          </a:prstGeom>
          <a:solidFill>
            <a:srgbClr val="FFB81C"/>
          </a:solidFill>
          <a:ln w="12700">
            <a:solidFill>
              <a:srgbClr val="333333"/>
            </a:solidFill>
            <a:prstDash val="solid"/>
          </a:ln>
        </p:spPr>
        <p:txBody>
          <a:bodyPr/>
          <a:lstStyle/>
          <a:p>
            <a:endParaRPr lang="en-US"/>
          </a:p>
        </p:txBody>
      </p:sp>
      <p:sp>
        <p:nvSpPr>
          <p:cNvPr id="12" name="Text 8"/>
          <p:cNvSpPr/>
          <p:nvPr/>
        </p:nvSpPr>
        <p:spPr>
          <a:xfrm>
            <a:off x="914400" y="2468880"/>
            <a:ext cx="2782824"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Intelligent workspace</a:t>
            </a:r>
            <a:endParaRPr lang="en-US" sz="2200" dirty="0"/>
          </a:p>
        </p:txBody>
      </p:sp>
      <p:sp>
        <p:nvSpPr>
          <p:cNvPr id="13" name="Text 9"/>
          <p:cNvSpPr/>
          <p:nvPr/>
        </p:nvSpPr>
        <p:spPr>
          <a:xfrm>
            <a:off x="914400" y="3291840"/>
            <a:ext cx="2782824" cy="274320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Holds diverse content types in a single place. Copilot is grounded in the notebook, so answers are more relevant.</a:t>
            </a:r>
            <a:endParaRPr lang="en-US" sz="1400" dirty="0"/>
          </a:p>
        </p:txBody>
      </p:sp>
      <p:sp>
        <p:nvSpPr>
          <p:cNvPr id="14" name="Shape 10"/>
          <p:cNvSpPr/>
          <p:nvPr/>
        </p:nvSpPr>
        <p:spPr>
          <a:xfrm>
            <a:off x="4337304" y="1920240"/>
            <a:ext cx="3514344" cy="4297680"/>
          </a:xfrm>
          <a:prstGeom prst="rect">
            <a:avLst/>
          </a:prstGeom>
          <a:solidFill>
            <a:srgbClr val="0A2A44"/>
          </a:solidFill>
          <a:ln w="6350">
            <a:solidFill>
              <a:srgbClr val="1E3A5C"/>
            </a:solidFill>
            <a:prstDash val="solid"/>
          </a:ln>
        </p:spPr>
        <p:txBody>
          <a:bodyPr/>
          <a:lstStyle/>
          <a:p>
            <a:endParaRPr lang="en-US"/>
          </a:p>
        </p:txBody>
      </p:sp>
      <p:sp>
        <p:nvSpPr>
          <p:cNvPr id="15" name="Shape 11"/>
          <p:cNvSpPr/>
          <p:nvPr/>
        </p:nvSpPr>
        <p:spPr>
          <a:xfrm>
            <a:off x="4337304" y="1920240"/>
            <a:ext cx="3514344" cy="73152"/>
          </a:xfrm>
          <a:prstGeom prst="rect">
            <a:avLst/>
          </a:prstGeom>
          <a:solidFill>
            <a:srgbClr val="4FC3F7"/>
          </a:solidFill>
          <a:ln w="12700">
            <a:solidFill>
              <a:srgbClr val="333333"/>
            </a:solidFill>
            <a:prstDash val="solid"/>
          </a:ln>
        </p:spPr>
        <p:txBody>
          <a:bodyPr/>
          <a:lstStyle/>
          <a:p>
            <a:endParaRPr lang="en-US"/>
          </a:p>
        </p:txBody>
      </p:sp>
      <p:sp>
        <p:nvSpPr>
          <p:cNvPr id="16" name="Text 12"/>
          <p:cNvSpPr/>
          <p:nvPr/>
        </p:nvSpPr>
        <p:spPr>
          <a:xfrm>
            <a:off x="4703064" y="2468880"/>
            <a:ext cx="2782824"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Suggestions and updates</a:t>
            </a:r>
            <a:endParaRPr lang="en-US" sz="2200" dirty="0"/>
          </a:p>
        </p:txBody>
      </p:sp>
      <p:sp>
        <p:nvSpPr>
          <p:cNvPr id="17" name="Text 13"/>
          <p:cNvSpPr/>
          <p:nvPr/>
        </p:nvSpPr>
        <p:spPr>
          <a:xfrm>
            <a:off x="4703064" y="3291840"/>
            <a:ext cx="2782824" cy="274320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Smart suggestions recommend additional content. Updates to source material flow through automatically.</a:t>
            </a:r>
            <a:endParaRPr lang="en-US" sz="1400" dirty="0"/>
          </a:p>
        </p:txBody>
      </p:sp>
      <p:sp>
        <p:nvSpPr>
          <p:cNvPr id="18" name="Shape 14"/>
          <p:cNvSpPr/>
          <p:nvPr/>
        </p:nvSpPr>
        <p:spPr>
          <a:xfrm>
            <a:off x="8125968" y="1920240"/>
            <a:ext cx="3514344" cy="4297680"/>
          </a:xfrm>
          <a:prstGeom prst="rect">
            <a:avLst/>
          </a:prstGeom>
          <a:solidFill>
            <a:srgbClr val="0A2A44"/>
          </a:solidFill>
          <a:ln w="6350">
            <a:solidFill>
              <a:srgbClr val="1E3A5C"/>
            </a:solidFill>
            <a:prstDash val="solid"/>
          </a:ln>
        </p:spPr>
        <p:txBody>
          <a:bodyPr/>
          <a:lstStyle/>
          <a:p>
            <a:endParaRPr lang="en-US"/>
          </a:p>
        </p:txBody>
      </p:sp>
      <p:sp>
        <p:nvSpPr>
          <p:cNvPr id="19" name="Shape 15"/>
          <p:cNvSpPr/>
          <p:nvPr/>
        </p:nvSpPr>
        <p:spPr>
          <a:xfrm>
            <a:off x="8125968" y="1920240"/>
            <a:ext cx="3514344" cy="73152"/>
          </a:xfrm>
          <a:prstGeom prst="rect">
            <a:avLst/>
          </a:prstGeom>
          <a:solidFill>
            <a:srgbClr val="FFB81C"/>
          </a:solidFill>
          <a:ln w="12700">
            <a:solidFill>
              <a:srgbClr val="333333"/>
            </a:solidFill>
            <a:prstDash val="solid"/>
          </a:ln>
        </p:spPr>
        <p:txBody>
          <a:bodyPr/>
          <a:lstStyle/>
          <a:p>
            <a:endParaRPr lang="en-US"/>
          </a:p>
        </p:txBody>
      </p:sp>
      <p:sp>
        <p:nvSpPr>
          <p:cNvPr id="20" name="Text 16"/>
          <p:cNvSpPr/>
          <p:nvPr/>
        </p:nvSpPr>
        <p:spPr>
          <a:xfrm>
            <a:off x="8491728" y="2468880"/>
            <a:ext cx="2782824"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Audio overviews</a:t>
            </a:r>
            <a:endParaRPr lang="en-US" sz="2200" dirty="0"/>
          </a:p>
        </p:txBody>
      </p:sp>
      <p:sp>
        <p:nvSpPr>
          <p:cNvPr id="21" name="Text 17"/>
          <p:cNvSpPr/>
          <p:nvPr/>
        </p:nvSpPr>
        <p:spPr>
          <a:xfrm>
            <a:off x="8491728" y="3291840"/>
            <a:ext cx="2782824" cy="274320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AI-generated podcast-style summaries help you catch up on a topic and share it with your team.</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Create</a:t>
            </a:r>
            <a:endParaRPr lang="en-US" sz="3200" dirty="0"/>
          </a:p>
        </p:txBody>
      </p:sp>
      <p:sp>
        <p:nvSpPr>
          <p:cNvPr id="6" name="Shape 2"/>
          <p:cNvSpPr/>
          <p:nvPr/>
        </p:nvSpPr>
        <p:spPr>
          <a:xfrm>
            <a:off x="548640" y="1097280"/>
            <a:ext cx="1280160" cy="64008"/>
          </a:xfrm>
          <a:prstGeom prst="rect">
            <a:avLst/>
          </a:prstGeom>
          <a:solidFill>
            <a:srgbClr val="FFB81C"/>
          </a:solidFill>
          <a:ln w="12700">
            <a:solidFill>
              <a:srgbClr val="FFB81C"/>
            </a:solidFill>
            <a:prstDash val="solid"/>
          </a:ln>
        </p:spPr>
        <p:txBody>
          <a:bodyPr/>
          <a:lstStyle/>
          <a:p>
            <a:endParaRPr lang="en-US"/>
          </a:p>
        </p:txBody>
      </p:sp>
      <p:sp>
        <p:nvSpPr>
          <p:cNvPr id="7" name="Shape 3"/>
          <p:cNvSpPr/>
          <p:nvPr/>
        </p:nvSpPr>
        <p:spPr>
          <a:xfrm>
            <a:off x="1920240" y="1097280"/>
            <a:ext cx="640080" cy="64008"/>
          </a:xfrm>
          <a:prstGeom prst="rect">
            <a:avLst/>
          </a:prstGeom>
          <a:solidFill>
            <a:srgbClr val="4FC3F7"/>
          </a:solidFill>
          <a:ln w="12700">
            <a:solidFill>
              <a:srgbClr val="4FC3F7"/>
            </a:solidFill>
            <a:prstDash val="solid"/>
          </a:ln>
        </p:spPr>
        <p:txBody>
          <a:bodyPr/>
          <a:lstStyle/>
          <a:p>
            <a:endParaRPr lang="en-US"/>
          </a:p>
        </p:txBody>
      </p:sp>
      <p:sp>
        <p:nvSpPr>
          <p:cNvPr id="8" name="Text 4"/>
          <p:cNvSpPr/>
          <p:nvPr/>
        </p:nvSpPr>
        <p:spPr>
          <a:xfrm>
            <a:off x="548640" y="1325880"/>
            <a:ext cx="10972800" cy="411480"/>
          </a:xfrm>
          <a:prstGeom prst="rect">
            <a:avLst/>
          </a:prstGeom>
          <a:noFill/>
          <a:ln/>
        </p:spPr>
        <p:txBody>
          <a:bodyPr wrap="square" lIns="0" tIns="0" rIns="0" bIns="0" rtlCol="0" anchor="ctr"/>
          <a:lstStyle/>
          <a:p>
            <a:pPr marL="0" indent="0">
              <a:buNone/>
            </a:pPr>
            <a:r>
              <a:rPr lang="en-US" sz="1400" i="1" dirty="0">
                <a:solidFill>
                  <a:srgbClr val="EAF2FA"/>
                </a:solidFill>
                <a:latin typeface="Calibri" pitchFamily="34" charset="0"/>
                <a:ea typeface="Calibri" pitchFamily="34" charset="-122"/>
                <a:cs typeface="Calibri" pitchFamily="34" charset="-120"/>
              </a:rPr>
              <a:t>Generate and edit visual content tuned to your council brand</a:t>
            </a:r>
            <a:endParaRPr lang="en-US" sz="1400" dirty="0"/>
          </a:p>
        </p:txBody>
      </p:sp>
      <p:sp>
        <p:nvSpPr>
          <p:cNvPr id="9" name="Text 5"/>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23 / 40</a:t>
            </a:r>
            <a:endParaRPr lang="en-US" sz="900" dirty="0"/>
          </a:p>
        </p:txBody>
      </p:sp>
      <p:sp>
        <p:nvSpPr>
          <p:cNvPr id="10" name="Shape 6"/>
          <p:cNvSpPr/>
          <p:nvPr/>
        </p:nvSpPr>
        <p:spPr>
          <a:xfrm>
            <a:off x="548640" y="1920240"/>
            <a:ext cx="3514344" cy="4297680"/>
          </a:xfrm>
          <a:prstGeom prst="rect">
            <a:avLst/>
          </a:prstGeom>
          <a:solidFill>
            <a:srgbClr val="0A2A44"/>
          </a:solidFill>
          <a:ln w="6350">
            <a:solidFill>
              <a:srgbClr val="1E3A5C"/>
            </a:solidFill>
            <a:prstDash val="solid"/>
          </a:ln>
        </p:spPr>
        <p:txBody>
          <a:bodyPr/>
          <a:lstStyle/>
          <a:p>
            <a:endParaRPr lang="en-US"/>
          </a:p>
        </p:txBody>
      </p:sp>
      <p:sp>
        <p:nvSpPr>
          <p:cNvPr id="11" name="Text 7"/>
          <p:cNvSpPr/>
          <p:nvPr/>
        </p:nvSpPr>
        <p:spPr>
          <a:xfrm>
            <a:off x="914400" y="2377440"/>
            <a:ext cx="2782824" cy="548640"/>
          </a:xfrm>
          <a:prstGeom prst="rect">
            <a:avLst/>
          </a:prstGeom>
          <a:noFill/>
          <a:ln/>
        </p:spPr>
        <p:txBody>
          <a:bodyPr wrap="square" lIns="0" tIns="0" rIns="0" bIns="0" rtlCol="0" anchor="ctr"/>
          <a:lstStyle/>
          <a:p>
            <a:pPr marL="0" indent="0">
              <a:buNone/>
            </a:pPr>
            <a:r>
              <a:rPr lang="en-US" sz="2200" b="1" dirty="0">
                <a:solidFill>
                  <a:srgbClr val="FFB81C"/>
                </a:solidFill>
                <a:latin typeface="Calibri" pitchFamily="34" charset="0"/>
                <a:ea typeface="Calibri" pitchFamily="34" charset="-122"/>
                <a:cs typeface="Calibri" pitchFamily="34" charset="-120"/>
              </a:rPr>
              <a:t>AI-powered creation</a:t>
            </a:r>
            <a:endParaRPr lang="en-US" sz="2200" dirty="0"/>
          </a:p>
        </p:txBody>
      </p:sp>
      <p:sp>
        <p:nvSpPr>
          <p:cNvPr id="12" name="Shape 8"/>
          <p:cNvSpPr/>
          <p:nvPr/>
        </p:nvSpPr>
        <p:spPr>
          <a:xfrm>
            <a:off x="914400" y="3017520"/>
            <a:ext cx="457200" cy="45720"/>
          </a:xfrm>
          <a:prstGeom prst="rect">
            <a:avLst/>
          </a:prstGeom>
          <a:solidFill>
            <a:srgbClr val="FFB81C"/>
          </a:solidFill>
          <a:ln w="12700">
            <a:solidFill>
              <a:srgbClr val="333333"/>
            </a:solidFill>
            <a:prstDash val="solid"/>
          </a:ln>
        </p:spPr>
        <p:txBody>
          <a:bodyPr/>
          <a:lstStyle/>
          <a:p>
            <a:endParaRPr lang="en-US"/>
          </a:p>
        </p:txBody>
      </p:sp>
      <p:sp>
        <p:nvSpPr>
          <p:cNvPr id="13" name="Text 9"/>
          <p:cNvSpPr/>
          <p:nvPr/>
        </p:nvSpPr>
        <p:spPr>
          <a:xfrm>
            <a:off x="914400" y="3246120"/>
            <a:ext cx="2782824" cy="274320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Design visuals — images, banners, infographics, video — personalised to you and your organisation.</a:t>
            </a:r>
            <a:endParaRPr lang="en-US" sz="1400" dirty="0"/>
          </a:p>
        </p:txBody>
      </p:sp>
      <p:sp>
        <p:nvSpPr>
          <p:cNvPr id="14" name="Shape 10"/>
          <p:cNvSpPr/>
          <p:nvPr/>
        </p:nvSpPr>
        <p:spPr>
          <a:xfrm>
            <a:off x="4337304" y="1920240"/>
            <a:ext cx="3514344" cy="4297680"/>
          </a:xfrm>
          <a:prstGeom prst="rect">
            <a:avLst/>
          </a:prstGeom>
          <a:solidFill>
            <a:srgbClr val="0A2A44"/>
          </a:solidFill>
          <a:ln w="6350">
            <a:solidFill>
              <a:srgbClr val="1E3A5C"/>
            </a:solidFill>
            <a:prstDash val="solid"/>
          </a:ln>
        </p:spPr>
        <p:txBody>
          <a:bodyPr/>
          <a:lstStyle/>
          <a:p>
            <a:endParaRPr lang="en-US"/>
          </a:p>
        </p:txBody>
      </p:sp>
      <p:sp>
        <p:nvSpPr>
          <p:cNvPr id="15" name="Text 11"/>
          <p:cNvSpPr/>
          <p:nvPr/>
        </p:nvSpPr>
        <p:spPr>
          <a:xfrm>
            <a:off x="4703064" y="2377440"/>
            <a:ext cx="2782824" cy="548640"/>
          </a:xfrm>
          <a:prstGeom prst="rect">
            <a:avLst/>
          </a:prstGeom>
          <a:noFill/>
          <a:ln/>
        </p:spPr>
        <p:txBody>
          <a:bodyPr wrap="square" lIns="0" tIns="0" rIns="0" bIns="0" rtlCol="0" anchor="ctr"/>
          <a:lstStyle/>
          <a:p>
            <a:pPr marL="0" indent="0">
              <a:buNone/>
            </a:pPr>
            <a:r>
              <a:rPr lang="en-US" sz="2200" b="1" dirty="0">
                <a:solidFill>
                  <a:srgbClr val="4FC3F7"/>
                </a:solidFill>
                <a:latin typeface="Calibri" pitchFamily="34" charset="0"/>
                <a:ea typeface="Calibri" pitchFamily="34" charset="-122"/>
                <a:cs typeface="Calibri" pitchFamily="34" charset="-120"/>
              </a:rPr>
              <a:t>Brand kit</a:t>
            </a:r>
            <a:endParaRPr lang="en-US" sz="2200" dirty="0"/>
          </a:p>
        </p:txBody>
      </p:sp>
      <p:sp>
        <p:nvSpPr>
          <p:cNvPr id="16" name="Shape 12"/>
          <p:cNvSpPr/>
          <p:nvPr/>
        </p:nvSpPr>
        <p:spPr>
          <a:xfrm>
            <a:off x="4703064" y="3017520"/>
            <a:ext cx="457200" cy="45720"/>
          </a:xfrm>
          <a:prstGeom prst="rect">
            <a:avLst/>
          </a:prstGeom>
          <a:solidFill>
            <a:srgbClr val="4FC3F7"/>
          </a:solidFill>
          <a:ln w="12700">
            <a:solidFill>
              <a:srgbClr val="333333"/>
            </a:solidFill>
            <a:prstDash val="solid"/>
          </a:ln>
        </p:spPr>
        <p:txBody>
          <a:bodyPr/>
          <a:lstStyle/>
          <a:p>
            <a:endParaRPr lang="en-US"/>
          </a:p>
        </p:txBody>
      </p:sp>
      <p:sp>
        <p:nvSpPr>
          <p:cNvPr id="17" name="Text 13"/>
          <p:cNvSpPr/>
          <p:nvPr/>
        </p:nvSpPr>
        <p:spPr>
          <a:xfrm>
            <a:off x="4703064" y="3246120"/>
            <a:ext cx="2782824" cy="274320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Apply your council's logos, colours and fonts so every output is on-brand by default.</a:t>
            </a:r>
            <a:endParaRPr lang="en-US" sz="1400" dirty="0"/>
          </a:p>
        </p:txBody>
      </p:sp>
      <p:sp>
        <p:nvSpPr>
          <p:cNvPr id="18" name="Shape 14"/>
          <p:cNvSpPr/>
          <p:nvPr/>
        </p:nvSpPr>
        <p:spPr>
          <a:xfrm>
            <a:off x="8125968" y="1920240"/>
            <a:ext cx="3514344" cy="4297680"/>
          </a:xfrm>
          <a:prstGeom prst="rect">
            <a:avLst/>
          </a:prstGeom>
          <a:solidFill>
            <a:srgbClr val="0A2A44"/>
          </a:solidFill>
          <a:ln w="6350">
            <a:solidFill>
              <a:srgbClr val="1E3A5C"/>
            </a:solidFill>
            <a:prstDash val="solid"/>
          </a:ln>
        </p:spPr>
        <p:txBody>
          <a:bodyPr/>
          <a:lstStyle/>
          <a:p>
            <a:endParaRPr lang="en-US"/>
          </a:p>
        </p:txBody>
      </p:sp>
      <p:sp>
        <p:nvSpPr>
          <p:cNvPr id="19" name="Text 15"/>
          <p:cNvSpPr/>
          <p:nvPr/>
        </p:nvSpPr>
        <p:spPr>
          <a:xfrm>
            <a:off x="8491728" y="2377440"/>
            <a:ext cx="2782824" cy="548640"/>
          </a:xfrm>
          <a:prstGeom prst="rect">
            <a:avLst/>
          </a:prstGeom>
          <a:noFill/>
          <a:ln/>
        </p:spPr>
        <p:txBody>
          <a:bodyPr wrap="square" lIns="0" tIns="0" rIns="0" bIns="0" rtlCol="0" anchor="ctr"/>
          <a:lstStyle/>
          <a:p>
            <a:pPr marL="0" indent="0">
              <a:buNone/>
            </a:pPr>
            <a:r>
              <a:rPr lang="en-US" sz="2200" b="1" dirty="0">
                <a:solidFill>
                  <a:srgbClr val="FFB81C"/>
                </a:solidFill>
                <a:latin typeface="Calibri" pitchFamily="34" charset="0"/>
                <a:ea typeface="Calibri" pitchFamily="34" charset="-122"/>
                <a:cs typeface="Calibri" pitchFamily="34" charset="-120"/>
              </a:rPr>
              <a:t>Full editing experience</a:t>
            </a:r>
            <a:endParaRPr lang="en-US" sz="2200" dirty="0"/>
          </a:p>
        </p:txBody>
      </p:sp>
      <p:sp>
        <p:nvSpPr>
          <p:cNvPr id="20" name="Shape 16"/>
          <p:cNvSpPr/>
          <p:nvPr/>
        </p:nvSpPr>
        <p:spPr>
          <a:xfrm>
            <a:off x="8491728" y="3017520"/>
            <a:ext cx="457200" cy="45720"/>
          </a:xfrm>
          <a:prstGeom prst="rect">
            <a:avLst/>
          </a:prstGeom>
          <a:solidFill>
            <a:srgbClr val="FFB81C"/>
          </a:solidFill>
          <a:ln w="12700">
            <a:solidFill>
              <a:srgbClr val="333333"/>
            </a:solidFill>
            <a:prstDash val="solid"/>
          </a:ln>
        </p:spPr>
        <p:txBody>
          <a:bodyPr/>
          <a:lstStyle/>
          <a:p>
            <a:endParaRPr lang="en-US"/>
          </a:p>
        </p:txBody>
      </p:sp>
      <p:sp>
        <p:nvSpPr>
          <p:cNvPr id="21" name="Text 17"/>
          <p:cNvSpPr/>
          <p:nvPr/>
        </p:nvSpPr>
        <p:spPr>
          <a:xfrm>
            <a:off x="8491728" y="3246120"/>
            <a:ext cx="2782824" cy="274320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Built-in tools to edit text, add effects, and make sophisticated adjustments without leaving Copilot.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Memory and personalisation</a:t>
            </a:r>
            <a:endParaRPr lang="en-US" sz="3200" dirty="0"/>
          </a:p>
        </p:txBody>
      </p:sp>
      <p:sp>
        <p:nvSpPr>
          <p:cNvPr id="6" name="Shape 2"/>
          <p:cNvSpPr/>
          <p:nvPr/>
        </p:nvSpPr>
        <p:spPr>
          <a:xfrm>
            <a:off x="548640" y="1097280"/>
            <a:ext cx="1280160" cy="64008"/>
          </a:xfrm>
          <a:prstGeom prst="rect">
            <a:avLst/>
          </a:prstGeom>
          <a:solidFill>
            <a:srgbClr val="FFB81C"/>
          </a:solidFill>
          <a:ln w="12700">
            <a:solidFill>
              <a:srgbClr val="FFB81C"/>
            </a:solidFill>
            <a:prstDash val="solid"/>
          </a:ln>
        </p:spPr>
        <p:txBody>
          <a:bodyPr/>
          <a:lstStyle/>
          <a:p>
            <a:endParaRPr lang="en-US"/>
          </a:p>
        </p:txBody>
      </p:sp>
      <p:sp>
        <p:nvSpPr>
          <p:cNvPr id="7" name="Shape 3"/>
          <p:cNvSpPr/>
          <p:nvPr/>
        </p:nvSpPr>
        <p:spPr>
          <a:xfrm>
            <a:off x="1920240" y="1097280"/>
            <a:ext cx="640080" cy="64008"/>
          </a:xfrm>
          <a:prstGeom prst="rect">
            <a:avLst/>
          </a:prstGeom>
          <a:solidFill>
            <a:srgbClr val="4FC3F7"/>
          </a:solidFill>
          <a:ln w="12700">
            <a:solidFill>
              <a:srgbClr val="4FC3F7"/>
            </a:solidFill>
            <a:prstDash val="solid"/>
          </a:ln>
        </p:spPr>
        <p:txBody>
          <a:bodyPr/>
          <a:lstStyle/>
          <a:p>
            <a:endParaRPr lang="en-US"/>
          </a:p>
        </p:txBody>
      </p:sp>
      <p:sp>
        <p:nvSpPr>
          <p:cNvPr id="8" name="Text 4"/>
          <p:cNvSpPr/>
          <p:nvPr/>
        </p:nvSpPr>
        <p:spPr>
          <a:xfrm>
            <a:off x="548640" y="1325880"/>
            <a:ext cx="10972800" cy="411480"/>
          </a:xfrm>
          <a:prstGeom prst="rect">
            <a:avLst/>
          </a:prstGeom>
          <a:noFill/>
          <a:ln/>
        </p:spPr>
        <p:txBody>
          <a:bodyPr wrap="square" lIns="0" tIns="0" rIns="0" bIns="0" rtlCol="0" anchor="ctr"/>
          <a:lstStyle/>
          <a:p>
            <a:pPr marL="0" indent="0">
              <a:buNone/>
            </a:pPr>
            <a:r>
              <a:rPr lang="en-US" sz="1400" i="1" dirty="0">
                <a:solidFill>
                  <a:srgbClr val="EAF2FA"/>
                </a:solidFill>
                <a:latin typeface="Calibri" pitchFamily="34" charset="0"/>
                <a:ea typeface="Calibri" pitchFamily="34" charset="-122"/>
                <a:cs typeface="Calibri" pitchFamily="34" charset="-120"/>
              </a:rPr>
              <a:t>Tailored responses that understand how you work</a:t>
            </a:r>
            <a:endParaRPr lang="en-US" sz="1400" dirty="0"/>
          </a:p>
        </p:txBody>
      </p:sp>
      <p:sp>
        <p:nvSpPr>
          <p:cNvPr id="9" name="Text 5"/>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24 / 40</a:t>
            </a:r>
            <a:endParaRPr lang="en-US" sz="900" dirty="0"/>
          </a:p>
        </p:txBody>
      </p:sp>
      <p:sp>
        <p:nvSpPr>
          <p:cNvPr id="10" name="Shape 6"/>
          <p:cNvSpPr/>
          <p:nvPr/>
        </p:nvSpPr>
        <p:spPr>
          <a:xfrm>
            <a:off x="548640" y="1920240"/>
            <a:ext cx="5431536" cy="2034540"/>
          </a:xfrm>
          <a:prstGeom prst="rect">
            <a:avLst/>
          </a:prstGeom>
          <a:solidFill>
            <a:srgbClr val="0A2A44"/>
          </a:solidFill>
          <a:ln w="6350">
            <a:solidFill>
              <a:srgbClr val="1E3A5C"/>
            </a:solidFill>
            <a:prstDash val="solid"/>
          </a:ln>
        </p:spPr>
        <p:txBody>
          <a:bodyPr/>
          <a:lstStyle/>
          <a:p>
            <a:endParaRPr lang="en-US"/>
          </a:p>
        </p:txBody>
      </p:sp>
      <p:sp>
        <p:nvSpPr>
          <p:cNvPr id="11" name="Shape 7"/>
          <p:cNvSpPr/>
          <p:nvPr/>
        </p:nvSpPr>
        <p:spPr>
          <a:xfrm>
            <a:off x="548640" y="1920240"/>
            <a:ext cx="91440" cy="2034540"/>
          </a:xfrm>
          <a:prstGeom prst="rect">
            <a:avLst/>
          </a:prstGeom>
          <a:solidFill>
            <a:srgbClr val="FFB81C"/>
          </a:solidFill>
          <a:ln w="12700">
            <a:solidFill>
              <a:srgbClr val="333333"/>
            </a:solidFill>
            <a:prstDash val="solid"/>
          </a:ln>
        </p:spPr>
        <p:txBody>
          <a:bodyPr/>
          <a:lstStyle/>
          <a:p>
            <a:endParaRPr lang="en-US"/>
          </a:p>
        </p:txBody>
      </p:sp>
      <p:sp>
        <p:nvSpPr>
          <p:cNvPr id="12" name="Text 8"/>
          <p:cNvSpPr/>
          <p:nvPr/>
        </p:nvSpPr>
        <p:spPr>
          <a:xfrm>
            <a:off x="914400" y="2194560"/>
            <a:ext cx="4882896"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Chat history-aware</a:t>
            </a:r>
            <a:endParaRPr lang="en-US" sz="2000" dirty="0"/>
          </a:p>
        </p:txBody>
      </p:sp>
      <p:sp>
        <p:nvSpPr>
          <p:cNvPr id="13" name="Text 9"/>
          <p:cNvSpPr/>
          <p:nvPr/>
        </p:nvSpPr>
        <p:spPr>
          <a:xfrm>
            <a:off x="914400" y="2697480"/>
            <a:ext cx="4882896" cy="1120140"/>
          </a:xfrm>
          <a:prstGeom prst="rect">
            <a:avLst/>
          </a:prstGeom>
          <a:noFill/>
          <a:ln/>
        </p:spPr>
        <p:txBody>
          <a:bodyPr wrap="square" lIns="0" tIns="0" rIns="0" bIns="0" rtlCol="0" anchor="ctr"/>
          <a:lstStyle/>
          <a:p>
            <a:pPr marL="0" indent="0">
              <a:buNone/>
            </a:pPr>
            <a:r>
              <a:rPr lang="en-US" sz="1300" dirty="0">
                <a:solidFill>
                  <a:srgbClr val="EAF2FA"/>
                </a:solidFill>
                <a:latin typeface="Calibri" pitchFamily="34" charset="0"/>
                <a:ea typeface="Calibri" pitchFamily="34" charset="-122"/>
                <a:cs typeface="Calibri" pitchFamily="34" charset="-120"/>
              </a:rPr>
              <a:t>Copilot uses your previous chats to provide contextual, relevant responses.</a:t>
            </a:r>
            <a:endParaRPr lang="en-US" sz="1300" dirty="0"/>
          </a:p>
        </p:txBody>
      </p:sp>
      <p:sp>
        <p:nvSpPr>
          <p:cNvPr id="14" name="Shape 10"/>
          <p:cNvSpPr/>
          <p:nvPr/>
        </p:nvSpPr>
        <p:spPr>
          <a:xfrm>
            <a:off x="6208776" y="1920240"/>
            <a:ext cx="5431536" cy="2034540"/>
          </a:xfrm>
          <a:prstGeom prst="rect">
            <a:avLst/>
          </a:prstGeom>
          <a:solidFill>
            <a:srgbClr val="0A2A44"/>
          </a:solidFill>
          <a:ln w="6350">
            <a:solidFill>
              <a:srgbClr val="1E3A5C"/>
            </a:solidFill>
            <a:prstDash val="solid"/>
          </a:ln>
        </p:spPr>
        <p:txBody>
          <a:bodyPr/>
          <a:lstStyle/>
          <a:p>
            <a:endParaRPr lang="en-US"/>
          </a:p>
        </p:txBody>
      </p:sp>
      <p:sp>
        <p:nvSpPr>
          <p:cNvPr id="15" name="Shape 11"/>
          <p:cNvSpPr/>
          <p:nvPr/>
        </p:nvSpPr>
        <p:spPr>
          <a:xfrm>
            <a:off x="6208776" y="1920240"/>
            <a:ext cx="91440" cy="2034540"/>
          </a:xfrm>
          <a:prstGeom prst="rect">
            <a:avLst/>
          </a:prstGeom>
          <a:solidFill>
            <a:srgbClr val="4FC3F7"/>
          </a:solidFill>
          <a:ln w="12700">
            <a:solidFill>
              <a:srgbClr val="333333"/>
            </a:solidFill>
            <a:prstDash val="solid"/>
          </a:ln>
        </p:spPr>
        <p:txBody>
          <a:bodyPr/>
          <a:lstStyle/>
          <a:p>
            <a:endParaRPr lang="en-US"/>
          </a:p>
        </p:txBody>
      </p:sp>
      <p:sp>
        <p:nvSpPr>
          <p:cNvPr id="16" name="Text 12"/>
          <p:cNvSpPr/>
          <p:nvPr/>
        </p:nvSpPr>
        <p:spPr>
          <a:xfrm>
            <a:off x="6574536" y="2194560"/>
            <a:ext cx="4882896"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Work IQ-powered</a:t>
            </a:r>
            <a:endParaRPr lang="en-US" sz="2000" dirty="0"/>
          </a:p>
        </p:txBody>
      </p:sp>
      <p:sp>
        <p:nvSpPr>
          <p:cNvPr id="17" name="Text 13"/>
          <p:cNvSpPr/>
          <p:nvPr/>
        </p:nvSpPr>
        <p:spPr>
          <a:xfrm>
            <a:off x="6574536" y="2697480"/>
            <a:ext cx="4882896" cy="1120140"/>
          </a:xfrm>
          <a:prstGeom prst="rect">
            <a:avLst/>
          </a:prstGeom>
          <a:noFill/>
          <a:ln/>
        </p:spPr>
        <p:txBody>
          <a:bodyPr wrap="square" lIns="0" tIns="0" rIns="0" bIns="0" rtlCol="0" anchor="ctr"/>
          <a:lstStyle/>
          <a:p>
            <a:pPr marL="0" indent="0">
              <a:buNone/>
            </a:pPr>
            <a:r>
              <a:rPr lang="en-US" sz="1300" dirty="0">
                <a:solidFill>
                  <a:srgbClr val="EAF2FA"/>
                </a:solidFill>
                <a:latin typeface="Calibri" pitchFamily="34" charset="0"/>
                <a:ea typeface="Calibri" pitchFamily="34" charset="-122"/>
                <a:cs typeface="Calibri" pitchFamily="34" charset="-120"/>
              </a:rPr>
              <a:t>Personalisation draws on your emails, chats, meetings and other M365 data.</a:t>
            </a:r>
            <a:endParaRPr lang="en-US" sz="1300" dirty="0"/>
          </a:p>
        </p:txBody>
      </p:sp>
      <p:sp>
        <p:nvSpPr>
          <p:cNvPr id="18" name="Shape 14"/>
          <p:cNvSpPr/>
          <p:nvPr/>
        </p:nvSpPr>
        <p:spPr>
          <a:xfrm>
            <a:off x="548640" y="4183380"/>
            <a:ext cx="5431536" cy="2034540"/>
          </a:xfrm>
          <a:prstGeom prst="rect">
            <a:avLst/>
          </a:prstGeom>
          <a:solidFill>
            <a:srgbClr val="0A2A44"/>
          </a:solidFill>
          <a:ln w="6350">
            <a:solidFill>
              <a:srgbClr val="1E3A5C"/>
            </a:solidFill>
            <a:prstDash val="solid"/>
          </a:ln>
        </p:spPr>
        <p:txBody>
          <a:bodyPr/>
          <a:lstStyle/>
          <a:p>
            <a:endParaRPr lang="en-US"/>
          </a:p>
        </p:txBody>
      </p:sp>
      <p:sp>
        <p:nvSpPr>
          <p:cNvPr id="19" name="Shape 15"/>
          <p:cNvSpPr/>
          <p:nvPr/>
        </p:nvSpPr>
        <p:spPr>
          <a:xfrm>
            <a:off x="548640" y="4183380"/>
            <a:ext cx="91440" cy="2034540"/>
          </a:xfrm>
          <a:prstGeom prst="rect">
            <a:avLst/>
          </a:prstGeom>
          <a:solidFill>
            <a:srgbClr val="FFB81C"/>
          </a:solidFill>
          <a:ln w="12700">
            <a:solidFill>
              <a:srgbClr val="333333"/>
            </a:solidFill>
            <a:prstDash val="solid"/>
          </a:ln>
        </p:spPr>
        <p:txBody>
          <a:bodyPr/>
          <a:lstStyle/>
          <a:p>
            <a:endParaRPr lang="en-US"/>
          </a:p>
        </p:txBody>
      </p:sp>
      <p:sp>
        <p:nvSpPr>
          <p:cNvPr id="20" name="Text 16"/>
          <p:cNvSpPr/>
          <p:nvPr/>
        </p:nvSpPr>
        <p:spPr>
          <a:xfrm>
            <a:off x="914400" y="4457700"/>
            <a:ext cx="4882896"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Agents tap into memory</a:t>
            </a:r>
            <a:endParaRPr lang="en-US" sz="2000" dirty="0"/>
          </a:p>
        </p:txBody>
      </p:sp>
      <p:sp>
        <p:nvSpPr>
          <p:cNvPr id="21" name="Text 17"/>
          <p:cNvSpPr/>
          <p:nvPr/>
        </p:nvSpPr>
        <p:spPr>
          <a:xfrm>
            <a:off x="914400" y="4960620"/>
            <a:ext cx="4882896" cy="1120140"/>
          </a:xfrm>
          <a:prstGeom prst="rect">
            <a:avLst/>
          </a:prstGeom>
          <a:noFill/>
          <a:ln/>
        </p:spPr>
        <p:txBody>
          <a:bodyPr wrap="square" lIns="0" tIns="0" rIns="0" bIns="0" rtlCol="0" anchor="ctr"/>
          <a:lstStyle/>
          <a:p>
            <a:pPr marL="0" indent="0">
              <a:buNone/>
            </a:pPr>
            <a:r>
              <a:rPr lang="en-US" sz="1300" dirty="0">
                <a:solidFill>
                  <a:srgbClr val="EAF2FA"/>
                </a:solidFill>
                <a:latin typeface="Calibri" pitchFamily="34" charset="0"/>
                <a:ea typeface="Calibri" pitchFamily="34" charset="-122"/>
                <a:cs typeface="Calibri" pitchFamily="34" charset="-120"/>
              </a:rPr>
              <a:t>Microsoft agents can use Copilot memory to deliver tailored responses.</a:t>
            </a:r>
            <a:endParaRPr lang="en-US" sz="1300" dirty="0"/>
          </a:p>
        </p:txBody>
      </p:sp>
      <p:sp>
        <p:nvSpPr>
          <p:cNvPr id="22" name="Shape 18"/>
          <p:cNvSpPr/>
          <p:nvPr/>
        </p:nvSpPr>
        <p:spPr>
          <a:xfrm>
            <a:off x="6208776" y="4183380"/>
            <a:ext cx="5431536" cy="2034540"/>
          </a:xfrm>
          <a:prstGeom prst="rect">
            <a:avLst/>
          </a:prstGeom>
          <a:solidFill>
            <a:srgbClr val="0A2A44"/>
          </a:solidFill>
          <a:ln w="6350">
            <a:solidFill>
              <a:srgbClr val="1E3A5C"/>
            </a:solidFill>
            <a:prstDash val="solid"/>
          </a:ln>
        </p:spPr>
        <p:txBody>
          <a:bodyPr/>
          <a:lstStyle/>
          <a:p>
            <a:endParaRPr lang="en-US"/>
          </a:p>
        </p:txBody>
      </p:sp>
      <p:sp>
        <p:nvSpPr>
          <p:cNvPr id="23" name="Shape 19"/>
          <p:cNvSpPr/>
          <p:nvPr/>
        </p:nvSpPr>
        <p:spPr>
          <a:xfrm>
            <a:off x="6208776" y="4183380"/>
            <a:ext cx="91440" cy="2034540"/>
          </a:xfrm>
          <a:prstGeom prst="rect">
            <a:avLst/>
          </a:prstGeom>
          <a:solidFill>
            <a:srgbClr val="4FC3F7"/>
          </a:solidFill>
          <a:ln w="12700">
            <a:solidFill>
              <a:srgbClr val="333333"/>
            </a:solidFill>
            <a:prstDash val="solid"/>
          </a:ln>
        </p:spPr>
        <p:txBody>
          <a:bodyPr/>
          <a:lstStyle/>
          <a:p>
            <a:endParaRPr lang="en-US"/>
          </a:p>
        </p:txBody>
      </p:sp>
      <p:sp>
        <p:nvSpPr>
          <p:cNvPr id="24" name="Text 20"/>
          <p:cNvSpPr/>
          <p:nvPr/>
        </p:nvSpPr>
        <p:spPr>
          <a:xfrm>
            <a:off x="6574536" y="4457700"/>
            <a:ext cx="4882896" cy="45720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You stay in control</a:t>
            </a:r>
            <a:endParaRPr lang="en-US" sz="2000" dirty="0"/>
          </a:p>
        </p:txBody>
      </p:sp>
      <p:sp>
        <p:nvSpPr>
          <p:cNvPr id="25" name="Text 21"/>
          <p:cNvSpPr/>
          <p:nvPr/>
        </p:nvSpPr>
        <p:spPr>
          <a:xfrm>
            <a:off x="6574536" y="4960620"/>
            <a:ext cx="4882896" cy="1120140"/>
          </a:xfrm>
          <a:prstGeom prst="rect">
            <a:avLst/>
          </a:prstGeom>
          <a:noFill/>
          <a:ln/>
        </p:spPr>
        <p:txBody>
          <a:bodyPr wrap="square" lIns="0" tIns="0" rIns="0" bIns="0" rtlCol="0" anchor="ctr"/>
          <a:lstStyle/>
          <a:p>
            <a:pPr marL="0" indent="0">
              <a:buNone/>
            </a:pPr>
            <a:r>
              <a:rPr lang="en-US" sz="1300" dirty="0">
                <a:solidFill>
                  <a:srgbClr val="EAF2FA"/>
                </a:solidFill>
                <a:latin typeface="Calibri" pitchFamily="34" charset="0"/>
                <a:ea typeface="Calibri" pitchFamily="34" charset="-122"/>
                <a:cs typeface="Calibri" pitchFamily="34" charset="-120"/>
              </a:rPr>
              <a:t>View, manage, disable or clear memory any time. Use a temporary chat for sensitive work.</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Advanced scheduling in Outlook</a:t>
            </a:r>
            <a:endParaRPr lang="en-US" sz="3200" dirty="0"/>
          </a:p>
        </p:txBody>
      </p:sp>
      <p:sp>
        <p:nvSpPr>
          <p:cNvPr id="6" name="Shape 2"/>
          <p:cNvSpPr/>
          <p:nvPr/>
        </p:nvSpPr>
        <p:spPr>
          <a:xfrm>
            <a:off x="548640" y="1097280"/>
            <a:ext cx="1280160" cy="64008"/>
          </a:xfrm>
          <a:prstGeom prst="rect">
            <a:avLst/>
          </a:prstGeom>
          <a:solidFill>
            <a:srgbClr val="FFB81C"/>
          </a:solidFill>
          <a:ln w="12700">
            <a:solidFill>
              <a:srgbClr val="FFB81C"/>
            </a:solidFill>
            <a:prstDash val="solid"/>
          </a:ln>
        </p:spPr>
        <p:txBody>
          <a:bodyPr/>
          <a:lstStyle/>
          <a:p>
            <a:endParaRPr lang="en-US"/>
          </a:p>
        </p:txBody>
      </p:sp>
      <p:sp>
        <p:nvSpPr>
          <p:cNvPr id="7" name="Shape 3"/>
          <p:cNvSpPr/>
          <p:nvPr/>
        </p:nvSpPr>
        <p:spPr>
          <a:xfrm>
            <a:off x="1920240" y="1097280"/>
            <a:ext cx="640080" cy="64008"/>
          </a:xfrm>
          <a:prstGeom prst="rect">
            <a:avLst/>
          </a:prstGeom>
          <a:solidFill>
            <a:srgbClr val="4FC3F7"/>
          </a:solidFill>
          <a:ln w="12700">
            <a:solidFill>
              <a:srgbClr val="4FC3F7"/>
            </a:solidFill>
            <a:prstDash val="solid"/>
          </a:ln>
        </p:spPr>
        <p:txBody>
          <a:bodyPr/>
          <a:lstStyle/>
          <a:p>
            <a:endParaRPr lang="en-US"/>
          </a:p>
        </p:txBody>
      </p:sp>
      <p:sp>
        <p:nvSpPr>
          <p:cNvPr id="8" name="Text 4"/>
          <p:cNvSpPr/>
          <p:nvPr/>
        </p:nvSpPr>
        <p:spPr>
          <a:xfrm>
            <a:off x="548640" y="1325880"/>
            <a:ext cx="10972800" cy="411480"/>
          </a:xfrm>
          <a:prstGeom prst="rect">
            <a:avLst/>
          </a:prstGeom>
          <a:noFill/>
          <a:ln/>
        </p:spPr>
        <p:txBody>
          <a:bodyPr wrap="square" lIns="0" tIns="0" rIns="0" bIns="0" rtlCol="0" anchor="ctr"/>
          <a:lstStyle/>
          <a:p>
            <a:pPr marL="0" indent="0">
              <a:buNone/>
            </a:pPr>
            <a:r>
              <a:rPr lang="en-US" sz="1400" i="1" dirty="0">
                <a:solidFill>
                  <a:srgbClr val="EAF2FA"/>
                </a:solidFill>
                <a:latin typeface="Calibri" pitchFamily="34" charset="0"/>
                <a:ea typeface="Calibri" pitchFamily="34" charset="-122"/>
                <a:cs typeface="Calibri" pitchFamily="34" charset="-120"/>
              </a:rPr>
              <a:t>Triage meeting requests, negotiate conflicts, schedule with natural language</a:t>
            </a:r>
            <a:endParaRPr lang="en-US" sz="1400" dirty="0"/>
          </a:p>
        </p:txBody>
      </p:sp>
      <p:sp>
        <p:nvSpPr>
          <p:cNvPr id="9" name="Text 5"/>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25 / 40</a:t>
            </a:r>
            <a:endParaRPr lang="en-US" sz="900" dirty="0"/>
          </a:p>
        </p:txBody>
      </p:sp>
      <p:sp>
        <p:nvSpPr>
          <p:cNvPr id="10" name="Shape 6"/>
          <p:cNvSpPr/>
          <p:nvPr/>
        </p:nvSpPr>
        <p:spPr>
          <a:xfrm>
            <a:off x="548640" y="1920240"/>
            <a:ext cx="3514344" cy="4297680"/>
          </a:xfrm>
          <a:prstGeom prst="rect">
            <a:avLst/>
          </a:prstGeom>
          <a:solidFill>
            <a:srgbClr val="0A2A44"/>
          </a:solidFill>
          <a:ln w="6350">
            <a:solidFill>
              <a:srgbClr val="1E3A5C"/>
            </a:solidFill>
            <a:prstDash val="solid"/>
          </a:ln>
        </p:spPr>
        <p:txBody>
          <a:bodyPr/>
          <a:lstStyle/>
          <a:p>
            <a:endParaRPr lang="en-US"/>
          </a:p>
        </p:txBody>
      </p:sp>
      <p:sp>
        <p:nvSpPr>
          <p:cNvPr id="11" name="Shape 7"/>
          <p:cNvSpPr/>
          <p:nvPr/>
        </p:nvSpPr>
        <p:spPr>
          <a:xfrm>
            <a:off x="914400" y="2286000"/>
            <a:ext cx="731520" cy="731520"/>
          </a:xfrm>
          <a:prstGeom prst="ellipse">
            <a:avLst/>
          </a:prstGeom>
          <a:solidFill>
            <a:srgbClr val="00111F"/>
          </a:solidFill>
          <a:ln w="19050">
            <a:solidFill>
              <a:srgbClr val="FFB81C"/>
            </a:solidFill>
            <a:prstDash val="solid"/>
          </a:ln>
        </p:spPr>
        <p:txBody>
          <a:bodyPr/>
          <a:lstStyle/>
          <a:p>
            <a:endParaRPr lang="en-US"/>
          </a:p>
        </p:txBody>
      </p:sp>
      <p:sp>
        <p:nvSpPr>
          <p:cNvPr id="12" name="Text 8"/>
          <p:cNvSpPr/>
          <p:nvPr/>
        </p:nvSpPr>
        <p:spPr>
          <a:xfrm>
            <a:off x="914400" y="2286000"/>
            <a:ext cx="731520" cy="731520"/>
          </a:xfrm>
          <a:prstGeom prst="rect">
            <a:avLst/>
          </a:prstGeom>
          <a:noFill/>
          <a:ln/>
        </p:spPr>
        <p:txBody>
          <a:bodyPr wrap="square" lIns="0" tIns="0" rIns="0" bIns="0" rtlCol="0" anchor="ctr"/>
          <a:lstStyle/>
          <a:p>
            <a:pPr marL="0" indent="0" algn="ctr">
              <a:buNone/>
            </a:pPr>
            <a:r>
              <a:rPr lang="en-US" sz="2400" b="1" dirty="0">
                <a:solidFill>
                  <a:srgbClr val="FFB81C"/>
                </a:solidFill>
                <a:latin typeface="Calibri" pitchFamily="34" charset="0"/>
                <a:ea typeface="Calibri" pitchFamily="34" charset="-122"/>
                <a:cs typeface="Calibri" pitchFamily="34" charset="-120"/>
              </a:rPr>
              <a:t>1</a:t>
            </a:r>
            <a:endParaRPr lang="en-US" sz="2400" dirty="0"/>
          </a:p>
        </p:txBody>
      </p:sp>
      <p:sp>
        <p:nvSpPr>
          <p:cNvPr id="13" name="Text 9"/>
          <p:cNvSpPr/>
          <p:nvPr/>
        </p:nvSpPr>
        <p:spPr>
          <a:xfrm>
            <a:off x="914400" y="3200400"/>
            <a:ext cx="2782824" cy="6400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Keep your calendar updated</a:t>
            </a:r>
            <a:endParaRPr lang="en-US" sz="2000" dirty="0"/>
          </a:p>
        </p:txBody>
      </p:sp>
      <p:sp>
        <p:nvSpPr>
          <p:cNvPr id="14" name="Text 10"/>
          <p:cNvSpPr/>
          <p:nvPr/>
        </p:nvSpPr>
        <p:spPr>
          <a:xfrm>
            <a:off x="914400" y="4023360"/>
            <a:ext cx="2782824" cy="201168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Copilot triages meeting requests against your custom rules and surfaces what needs attention.</a:t>
            </a:r>
            <a:endParaRPr lang="en-US" sz="1400" dirty="0"/>
          </a:p>
        </p:txBody>
      </p:sp>
      <p:sp>
        <p:nvSpPr>
          <p:cNvPr id="15" name="Shape 11"/>
          <p:cNvSpPr/>
          <p:nvPr/>
        </p:nvSpPr>
        <p:spPr>
          <a:xfrm>
            <a:off x="4337304" y="1920240"/>
            <a:ext cx="3514344" cy="4297680"/>
          </a:xfrm>
          <a:prstGeom prst="rect">
            <a:avLst/>
          </a:prstGeom>
          <a:solidFill>
            <a:srgbClr val="0A2A44"/>
          </a:solidFill>
          <a:ln w="6350">
            <a:solidFill>
              <a:srgbClr val="1E3A5C"/>
            </a:solidFill>
            <a:prstDash val="solid"/>
          </a:ln>
        </p:spPr>
        <p:txBody>
          <a:bodyPr/>
          <a:lstStyle/>
          <a:p>
            <a:endParaRPr lang="en-US"/>
          </a:p>
        </p:txBody>
      </p:sp>
      <p:sp>
        <p:nvSpPr>
          <p:cNvPr id="16" name="Shape 12"/>
          <p:cNvSpPr/>
          <p:nvPr/>
        </p:nvSpPr>
        <p:spPr>
          <a:xfrm>
            <a:off x="4703064" y="2286000"/>
            <a:ext cx="731520" cy="731520"/>
          </a:xfrm>
          <a:prstGeom prst="ellipse">
            <a:avLst/>
          </a:prstGeom>
          <a:solidFill>
            <a:srgbClr val="00111F"/>
          </a:solidFill>
          <a:ln w="19050">
            <a:solidFill>
              <a:srgbClr val="4FC3F7"/>
            </a:solidFill>
            <a:prstDash val="solid"/>
          </a:ln>
        </p:spPr>
        <p:txBody>
          <a:bodyPr/>
          <a:lstStyle/>
          <a:p>
            <a:endParaRPr lang="en-US"/>
          </a:p>
        </p:txBody>
      </p:sp>
      <p:sp>
        <p:nvSpPr>
          <p:cNvPr id="17" name="Text 13"/>
          <p:cNvSpPr/>
          <p:nvPr/>
        </p:nvSpPr>
        <p:spPr>
          <a:xfrm>
            <a:off x="4703064" y="2286000"/>
            <a:ext cx="731520" cy="731520"/>
          </a:xfrm>
          <a:prstGeom prst="rect">
            <a:avLst/>
          </a:prstGeom>
          <a:noFill/>
          <a:ln/>
        </p:spPr>
        <p:txBody>
          <a:bodyPr wrap="square" lIns="0" tIns="0" rIns="0" bIns="0" rtlCol="0" anchor="ctr"/>
          <a:lstStyle/>
          <a:p>
            <a:pPr marL="0" indent="0" algn="ctr">
              <a:buNone/>
            </a:pPr>
            <a:r>
              <a:rPr lang="en-US" sz="2400" b="1" dirty="0">
                <a:solidFill>
                  <a:srgbClr val="4FC3F7"/>
                </a:solidFill>
                <a:latin typeface="Calibri" pitchFamily="34" charset="0"/>
                <a:ea typeface="Calibri" pitchFamily="34" charset="-122"/>
                <a:cs typeface="Calibri" pitchFamily="34" charset="-120"/>
              </a:rPr>
              <a:t>2</a:t>
            </a:r>
            <a:endParaRPr lang="en-US" sz="2400" dirty="0"/>
          </a:p>
        </p:txBody>
      </p:sp>
      <p:sp>
        <p:nvSpPr>
          <p:cNvPr id="18" name="Text 14"/>
          <p:cNvSpPr/>
          <p:nvPr/>
        </p:nvSpPr>
        <p:spPr>
          <a:xfrm>
            <a:off x="4703064" y="3200400"/>
            <a:ext cx="2782824" cy="6400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Negotiate conflicts</a:t>
            </a:r>
            <a:endParaRPr lang="en-US" sz="2000" dirty="0"/>
          </a:p>
        </p:txBody>
      </p:sp>
      <p:sp>
        <p:nvSpPr>
          <p:cNvPr id="19" name="Text 15"/>
          <p:cNvSpPr/>
          <p:nvPr/>
        </p:nvSpPr>
        <p:spPr>
          <a:xfrm>
            <a:off x="4703064" y="4023360"/>
            <a:ext cx="2782824" cy="201168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Mark 1:1s and personal events as flexible — Copilot reschedules them when conflicts arise.</a:t>
            </a:r>
            <a:endParaRPr lang="en-US" sz="1400" dirty="0"/>
          </a:p>
        </p:txBody>
      </p:sp>
      <p:sp>
        <p:nvSpPr>
          <p:cNvPr id="20" name="Shape 16"/>
          <p:cNvSpPr/>
          <p:nvPr/>
        </p:nvSpPr>
        <p:spPr>
          <a:xfrm>
            <a:off x="8125968" y="1920240"/>
            <a:ext cx="3514344" cy="4297680"/>
          </a:xfrm>
          <a:prstGeom prst="rect">
            <a:avLst/>
          </a:prstGeom>
          <a:solidFill>
            <a:srgbClr val="0A2A44"/>
          </a:solidFill>
          <a:ln w="6350">
            <a:solidFill>
              <a:srgbClr val="1E3A5C"/>
            </a:solidFill>
            <a:prstDash val="solid"/>
          </a:ln>
        </p:spPr>
        <p:txBody>
          <a:bodyPr/>
          <a:lstStyle/>
          <a:p>
            <a:endParaRPr lang="en-US"/>
          </a:p>
        </p:txBody>
      </p:sp>
      <p:sp>
        <p:nvSpPr>
          <p:cNvPr id="21" name="Shape 17"/>
          <p:cNvSpPr/>
          <p:nvPr/>
        </p:nvSpPr>
        <p:spPr>
          <a:xfrm>
            <a:off x="8491728" y="2286000"/>
            <a:ext cx="731520" cy="731520"/>
          </a:xfrm>
          <a:prstGeom prst="ellipse">
            <a:avLst/>
          </a:prstGeom>
          <a:solidFill>
            <a:srgbClr val="00111F"/>
          </a:solidFill>
          <a:ln w="19050">
            <a:solidFill>
              <a:srgbClr val="FFB81C"/>
            </a:solidFill>
            <a:prstDash val="solid"/>
          </a:ln>
        </p:spPr>
        <p:txBody>
          <a:bodyPr/>
          <a:lstStyle/>
          <a:p>
            <a:endParaRPr lang="en-US"/>
          </a:p>
        </p:txBody>
      </p:sp>
      <p:sp>
        <p:nvSpPr>
          <p:cNvPr id="22" name="Text 18"/>
          <p:cNvSpPr/>
          <p:nvPr/>
        </p:nvSpPr>
        <p:spPr>
          <a:xfrm>
            <a:off x="8491728" y="2286000"/>
            <a:ext cx="731520" cy="731520"/>
          </a:xfrm>
          <a:prstGeom prst="rect">
            <a:avLst/>
          </a:prstGeom>
          <a:noFill/>
          <a:ln/>
        </p:spPr>
        <p:txBody>
          <a:bodyPr wrap="square" lIns="0" tIns="0" rIns="0" bIns="0" rtlCol="0" anchor="ctr"/>
          <a:lstStyle/>
          <a:p>
            <a:pPr marL="0" indent="0" algn="ctr">
              <a:buNone/>
            </a:pPr>
            <a:r>
              <a:rPr lang="en-US" sz="2400" b="1" dirty="0">
                <a:solidFill>
                  <a:srgbClr val="FFB81C"/>
                </a:solidFill>
                <a:latin typeface="Calibri" pitchFamily="34" charset="0"/>
                <a:ea typeface="Calibri" pitchFamily="34" charset="-122"/>
                <a:cs typeface="Calibri" pitchFamily="34" charset="-120"/>
              </a:rPr>
              <a:t>3</a:t>
            </a:r>
            <a:endParaRPr lang="en-US" sz="2400" dirty="0"/>
          </a:p>
        </p:txBody>
      </p:sp>
      <p:sp>
        <p:nvSpPr>
          <p:cNvPr id="23" name="Text 19"/>
          <p:cNvSpPr/>
          <p:nvPr/>
        </p:nvSpPr>
        <p:spPr>
          <a:xfrm>
            <a:off x="8491728" y="3200400"/>
            <a:ext cx="2782824" cy="6400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Schedule in natural language</a:t>
            </a:r>
            <a:endParaRPr lang="en-US" sz="2000" dirty="0"/>
          </a:p>
        </p:txBody>
      </p:sp>
      <p:sp>
        <p:nvSpPr>
          <p:cNvPr id="24" name="Text 20"/>
          <p:cNvSpPr/>
          <p:nvPr/>
        </p:nvSpPr>
        <p:spPr>
          <a:xfrm>
            <a:off x="8491728" y="4023360"/>
            <a:ext cx="2782824" cy="201168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Tell Copilot what you need — schedule, update, cancel, set agendas, book rooms — and it does it.</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Copilot Pages</a:t>
            </a:r>
            <a:endParaRPr lang="en-US" sz="3200" dirty="0"/>
          </a:p>
        </p:txBody>
      </p:sp>
      <p:sp>
        <p:nvSpPr>
          <p:cNvPr id="6" name="Shape 2"/>
          <p:cNvSpPr/>
          <p:nvPr/>
        </p:nvSpPr>
        <p:spPr>
          <a:xfrm>
            <a:off x="548640" y="1097280"/>
            <a:ext cx="1280160" cy="64008"/>
          </a:xfrm>
          <a:prstGeom prst="rect">
            <a:avLst/>
          </a:prstGeom>
          <a:solidFill>
            <a:srgbClr val="FFB81C"/>
          </a:solidFill>
          <a:ln w="12700">
            <a:solidFill>
              <a:srgbClr val="FFB81C"/>
            </a:solidFill>
            <a:prstDash val="solid"/>
          </a:ln>
        </p:spPr>
        <p:txBody>
          <a:bodyPr/>
          <a:lstStyle/>
          <a:p>
            <a:endParaRPr lang="en-US"/>
          </a:p>
        </p:txBody>
      </p:sp>
      <p:sp>
        <p:nvSpPr>
          <p:cNvPr id="7" name="Shape 3"/>
          <p:cNvSpPr/>
          <p:nvPr/>
        </p:nvSpPr>
        <p:spPr>
          <a:xfrm>
            <a:off x="1920240" y="1097280"/>
            <a:ext cx="640080" cy="64008"/>
          </a:xfrm>
          <a:prstGeom prst="rect">
            <a:avLst/>
          </a:prstGeom>
          <a:solidFill>
            <a:srgbClr val="4FC3F7"/>
          </a:solidFill>
          <a:ln w="12700">
            <a:solidFill>
              <a:srgbClr val="4FC3F7"/>
            </a:solidFill>
            <a:prstDash val="solid"/>
          </a:ln>
        </p:spPr>
        <p:txBody>
          <a:bodyPr/>
          <a:lstStyle/>
          <a:p>
            <a:endParaRPr lang="en-US"/>
          </a:p>
        </p:txBody>
      </p:sp>
      <p:sp>
        <p:nvSpPr>
          <p:cNvPr id="8" name="Text 4"/>
          <p:cNvSpPr/>
          <p:nvPr/>
        </p:nvSpPr>
        <p:spPr>
          <a:xfrm>
            <a:off x="548640" y="1325880"/>
            <a:ext cx="10972800" cy="411480"/>
          </a:xfrm>
          <a:prstGeom prst="rect">
            <a:avLst/>
          </a:prstGeom>
          <a:noFill/>
          <a:ln/>
        </p:spPr>
        <p:txBody>
          <a:bodyPr wrap="square" lIns="0" tIns="0" rIns="0" bIns="0" rtlCol="0" anchor="ctr"/>
          <a:lstStyle/>
          <a:p>
            <a:pPr marL="0" indent="0">
              <a:buNone/>
            </a:pPr>
            <a:r>
              <a:rPr lang="en-US" sz="1400" i="1" dirty="0">
                <a:solidFill>
                  <a:srgbClr val="EAF2FA"/>
                </a:solidFill>
                <a:latin typeface="Calibri" pitchFamily="34" charset="0"/>
                <a:ea typeface="Calibri" pitchFamily="34" charset="-122"/>
                <a:cs typeface="Calibri" pitchFamily="34" charset="-120"/>
              </a:rPr>
              <a:t>Turn ideas into impact — Pages now build, refine, and present for you</a:t>
            </a:r>
            <a:endParaRPr lang="en-US" sz="1400" dirty="0"/>
          </a:p>
        </p:txBody>
      </p:sp>
      <p:sp>
        <p:nvSpPr>
          <p:cNvPr id="9" name="Text 5"/>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26 / 40</a:t>
            </a:r>
            <a:endParaRPr lang="en-US" sz="900" dirty="0"/>
          </a:p>
        </p:txBody>
      </p:sp>
      <p:sp>
        <p:nvSpPr>
          <p:cNvPr id="10" name="Shape 6"/>
          <p:cNvSpPr/>
          <p:nvPr/>
        </p:nvSpPr>
        <p:spPr>
          <a:xfrm>
            <a:off x="548640" y="1920240"/>
            <a:ext cx="3514344" cy="4297680"/>
          </a:xfrm>
          <a:prstGeom prst="rect">
            <a:avLst/>
          </a:prstGeom>
          <a:solidFill>
            <a:srgbClr val="0A2A44"/>
          </a:solidFill>
          <a:ln w="6350">
            <a:solidFill>
              <a:srgbClr val="1E3A5C"/>
            </a:solidFill>
            <a:prstDash val="solid"/>
          </a:ln>
        </p:spPr>
        <p:txBody>
          <a:bodyPr/>
          <a:lstStyle/>
          <a:p>
            <a:endParaRPr lang="en-US"/>
          </a:p>
        </p:txBody>
      </p:sp>
      <p:sp>
        <p:nvSpPr>
          <p:cNvPr id="11" name="Shape 7"/>
          <p:cNvSpPr/>
          <p:nvPr/>
        </p:nvSpPr>
        <p:spPr>
          <a:xfrm>
            <a:off x="548640" y="6144768"/>
            <a:ext cx="3514344" cy="73152"/>
          </a:xfrm>
          <a:prstGeom prst="rect">
            <a:avLst/>
          </a:prstGeom>
          <a:solidFill>
            <a:srgbClr val="FFB81C"/>
          </a:solidFill>
          <a:ln w="12700">
            <a:solidFill>
              <a:srgbClr val="333333"/>
            </a:solidFill>
            <a:prstDash val="solid"/>
          </a:ln>
        </p:spPr>
        <p:txBody>
          <a:bodyPr/>
          <a:lstStyle/>
          <a:p>
            <a:endParaRPr lang="en-US"/>
          </a:p>
        </p:txBody>
      </p:sp>
      <p:sp>
        <p:nvSpPr>
          <p:cNvPr id="12" name="Text 8"/>
          <p:cNvSpPr/>
          <p:nvPr/>
        </p:nvSpPr>
        <p:spPr>
          <a:xfrm>
            <a:off x="914400" y="2377440"/>
            <a:ext cx="2782824"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Convert to Word</a:t>
            </a:r>
            <a:endParaRPr lang="en-US" sz="2200" dirty="0"/>
          </a:p>
        </p:txBody>
      </p:sp>
      <p:sp>
        <p:nvSpPr>
          <p:cNvPr id="13" name="Text 9"/>
          <p:cNvSpPr/>
          <p:nvPr/>
        </p:nvSpPr>
        <p:spPr>
          <a:xfrm>
            <a:off x="914400" y="3200400"/>
            <a:ext cx="2782824" cy="274320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Transform a Copilot Page into a Word document, preserving content and structure.</a:t>
            </a:r>
            <a:endParaRPr lang="en-US" sz="1400" dirty="0"/>
          </a:p>
        </p:txBody>
      </p:sp>
      <p:sp>
        <p:nvSpPr>
          <p:cNvPr id="14" name="Shape 10"/>
          <p:cNvSpPr/>
          <p:nvPr/>
        </p:nvSpPr>
        <p:spPr>
          <a:xfrm>
            <a:off x="4337304" y="1920240"/>
            <a:ext cx="3514344" cy="4297680"/>
          </a:xfrm>
          <a:prstGeom prst="rect">
            <a:avLst/>
          </a:prstGeom>
          <a:solidFill>
            <a:srgbClr val="0A2A44"/>
          </a:solidFill>
          <a:ln w="6350">
            <a:solidFill>
              <a:srgbClr val="1E3A5C"/>
            </a:solidFill>
            <a:prstDash val="solid"/>
          </a:ln>
        </p:spPr>
        <p:txBody>
          <a:bodyPr/>
          <a:lstStyle/>
          <a:p>
            <a:endParaRPr lang="en-US"/>
          </a:p>
        </p:txBody>
      </p:sp>
      <p:sp>
        <p:nvSpPr>
          <p:cNvPr id="15" name="Shape 11"/>
          <p:cNvSpPr/>
          <p:nvPr/>
        </p:nvSpPr>
        <p:spPr>
          <a:xfrm>
            <a:off x="4337304" y="6144768"/>
            <a:ext cx="3514344" cy="73152"/>
          </a:xfrm>
          <a:prstGeom prst="rect">
            <a:avLst/>
          </a:prstGeom>
          <a:solidFill>
            <a:srgbClr val="4FC3F7"/>
          </a:solidFill>
          <a:ln w="12700">
            <a:solidFill>
              <a:srgbClr val="333333"/>
            </a:solidFill>
            <a:prstDash val="solid"/>
          </a:ln>
        </p:spPr>
        <p:txBody>
          <a:bodyPr/>
          <a:lstStyle/>
          <a:p>
            <a:endParaRPr lang="en-US"/>
          </a:p>
        </p:txBody>
      </p:sp>
      <p:sp>
        <p:nvSpPr>
          <p:cNvPr id="16" name="Text 12"/>
          <p:cNvSpPr/>
          <p:nvPr/>
        </p:nvSpPr>
        <p:spPr>
          <a:xfrm>
            <a:off x="4703064" y="2377440"/>
            <a:ext cx="2782824"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Auto-create from chat</a:t>
            </a:r>
            <a:endParaRPr lang="en-US" sz="2200" dirty="0"/>
          </a:p>
        </p:txBody>
      </p:sp>
      <p:sp>
        <p:nvSpPr>
          <p:cNvPr id="17" name="Text 13"/>
          <p:cNvSpPr/>
          <p:nvPr/>
        </p:nvSpPr>
        <p:spPr>
          <a:xfrm>
            <a:off x="4703064" y="3200400"/>
            <a:ext cx="2782824" cy="274320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Copilot listens for actionable intent in chats, builds a Page automatically, and lets you refine it live.</a:t>
            </a:r>
            <a:endParaRPr lang="en-US" sz="1400" dirty="0"/>
          </a:p>
        </p:txBody>
      </p:sp>
      <p:sp>
        <p:nvSpPr>
          <p:cNvPr id="18" name="Shape 14"/>
          <p:cNvSpPr/>
          <p:nvPr/>
        </p:nvSpPr>
        <p:spPr>
          <a:xfrm>
            <a:off x="8125968" y="1920240"/>
            <a:ext cx="3514344" cy="4297680"/>
          </a:xfrm>
          <a:prstGeom prst="rect">
            <a:avLst/>
          </a:prstGeom>
          <a:solidFill>
            <a:srgbClr val="0A2A44"/>
          </a:solidFill>
          <a:ln w="6350">
            <a:solidFill>
              <a:srgbClr val="1E3A5C"/>
            </a:solidFill>
            <a:prstDash val="solid"/>
          </a:ln>
        </p:spPr>
        <p:txBody>
          <a:bodyPr/>
          <a:lstStyle/>
          <a:p>
            <a:endParaRPr lang="en-US"/>
          </a:p>
        </p:txBody>
      </p:sp>
      <p:sp>
        <p:nvSpPr>
          <p:cNvPr id="19" name="Shape 15"/>
          <p:cNvSpPr/>
          <p:nvPr/>
        </p:nvSpPr>
        <p:spPr>
          <a:xfrm>
            <a:off x="8125968" y="6144768"/>
            <a:ext cx="3514344" cy="73152"/>
          </a:xfrm>
          <a:prstGeom prst="rect">
            <a:avLst/>
          </a:prstGeom>
          <a:solidFill>
            <a:srgbClr val="FFB81C"/>
          </a:solidFill>
          <a:ln w="12700">
            <a:solidFill>
              <a:srgbClr val="333333"/>
            </a:solidFill>
            <a:prstDash val="solid"/>
          </a:ln>
        </p:spPr>
        <p:txBody>
          <a:bodyPr/>
          <a:lstStyle/>
          <a:p>
            <a:endParaRPr lang="en-US"/>
          </a:p>
        </p:txBody>
      </p:sp>
      <p:sp>
        <p:nvSpPr>
          <p:cNvPr id="20" name="Text 16"/>
          <p:cNvSpPr/>
          <p:nvPr/>
        </p:nvSpPr>
        <p:spPr>
          <a:xfrm>
            <a:off x="8491728" y="2377440"/>
            <a:ext cx="2782824"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Code in Pages</a:t>
            </a:r>
            <a:endParaRPr lang="en-US" sz="2200" dirty="0"/>
          </a:p>
        </p:txBody>
      </p:sp>
      <p:sp>
        <p:nvSpPr>
          <p:cNvPr id="21" name="Text 17"/>
          <p:cNvSpPr/>
          <p:nvPr/>
        </p:nvSpPr>
        <p:spPr>
          <a:xfrm>
            <a:off x="8491728" y="3200400"/>
            <a:ext cx="2782824" cy="274320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Write, test and run interactive code directly in Pages, then deploy as an app via App Builder.</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Agents</a:t>
            </a:r>
            <a:endParaRPr lang="en-US" sz="3200" dirty="0"/>
          </a:p>
        </p:txBody>
      </p:sp>
      <p:sp>
        <p:nvSpPr>
          <p:cNvPr id="6" name="Shape 2"/>
          <p:cNvSpPr/>
          <p:nvPr/>
        </p:nvSpPr>
        <p:spPr>
          <a:xfrm>
            <a:off x="548640" y="1097280"/>
            <a:ext cx="1280160" cy="64008"/>
          </a:xfrm>
          <a:prstGeom prst="rect">
            <a:avLst/>
          </a:prstGeom>
          <a:solidFill>
            <a:srgbClr val="FFB81C"/>
          </a:solidFill>
          <a:ln w="12700">
            <a:solidFill>
              <a:srgbClr val="FFB81C"/>
            </a:solidFill>
            <a:prstDash val="solid"/>
          </a:ln>
        </p:spPr>
        <p:txBody>
          <a:bodyPr/>
          <a:lstStyle/>
          <a:p>
            <a:endParaRPr lang="en-US"/>
          </a:p>
        </p:txBody>
      </p:sp>
      <p:sp>
        <p:nvSpPr>
          <p:cNvPr id="7" name="Shape 3"/>
          <p:cNvSpPr/>
          <p:nvPr/>
        </p:nvSpPr>
        <p:spPr>
          <a:xfrm>
            <a:off x="1920240" y="1097280"/>
            <a:ext cx="640080" cy="64008"/>
          </a:xfrm>
          <a:prstGeom prst="rect">
            <a:avLst/>
          </a:prstGeom>
          <a:solidFill>
            <a:srgbClr val="4FC3F7"/>
          </a:solidFill>
          <a:ln w="12700">
            <a:solidFill>
              <a:srgbClr val="4FC3F7"/>
            </a:solidFill>
            <a:prstDash val="solid"/>
          </a:ln>
        </p:spPr>
        <p:txBody>
          <a:bodyPr/>
          <a:lstStyle/>
          <a:p>
            <a:endParaRPr lang="en-US"/>
          </a:p>
        </p:txBody>
      </p:sp>
      <p:sp>
        <p:nvSpPr>
          <p:cNvPr id="8" name="Text 4"/>
          <p:cNvSpPr/>
          <p:nvPr/>
        </p:nvSpPr>
        <p:spPr>
          <a:xfrm>
            <a:off x="548640" y="1325880"/>
            <a:ext cx="10972800" cy="411480"/>
          </a:xfrm>
          <a:prstGeom prst="rect">
            <a:avLst/>
          </a:prstGeom>
          <a:noFill/>
          <a:ln/>
        </p:spPr>
        <p:txBody>
          <a:bodyPr wrap="square" lIns="0" tIns="0" rIns="0" bIns="0" rtlCol="0" anchor="ctr"/>
          <a:lstStyle/>
          <a:p>
            <a:pPr marL="0" indent="0">
              <a:buNone/>
            </a:pPr>
            <a:r>
              <a:rPr lang="en-US" sz="1400" i="1" dirty="0">
                <a:solidFill>
                  <a:srgbClr val="EAF2FA"/>
                </a:solidFill>
                <a:latin typeface="Calibri" pitchFamily="34" charset="0"/>
                <a:ea typeface="Calibri" pitchFamily="34" charset="-122"/>
                <a:cs typeface="Calibri" pitchFamily="34" charset="-120"/>
              </a:rPr>
              <a:t>Use Microsoft agents, discover them in the store, or build your own</a:t>
            </a:r>
            <a:endParaRPr lang="en-US" sz="1400" dirty="0"/>
          </a:p>
        </p:txBody>
      </p:sp>
      <p:sp>
        <p:nvSpPr>
          <p:cNvPr id="9" name="Text 5"/>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27 / 40</a:t>
            </a:r>
            <a:endParaRPr lang="en-US" sz="900" dirty="0"/>
          </a:p>
        </p:txBody>
      </p:sp>
      <p:sp>
        <p:nvSpPr>
          <p:cNvPr id="10" name="Shape 6"/>
          <p:cNvSpPr/>
          <p:nvPr/>
        </p:nvSpPr>
        <p:spPr>
          <a:xfrm>
            <a:off x="548640" y="1920240"/>
            <a:ext cx="3514344" cy="4297680"/>
          </a:xfrm>
          <a:prstGeom prst="rect">
            <a:avLst/>
          </a:prstGeom>
          <a:solidFill>
            <a:srgbClr val="0A2A44"/>
          </a:solidFill>
          <a:ln w="6350">
            <a:solidFill>
              <a:srgbClr val="1E3A5C"/>
            </a:solidFill>
            <a:prstDash val="solid"/>
          </a:ln>
        </p:spPr>
        <p:txBody>
          <a:bodyPr/>
          <a:lstStyle/>
          <a:p>
            <a:endParaRPr lang="en-US"/>
          </a:p>
        </p:txBody>
      </p:sp>
      <p:sp>
        <p:nvSpPr>
          <p:cNvPr id="11" name="Text 7"/>
          <p:cNvSpPr/>
          <p:nvPr/>
        </p:nvSpPr>
        <p:spPr>
          <a:xfrm>
            <a:off x="914400" y="2377440"/>
            <a:ext cx="2782824" cy="548640"/>
          </a:xfrm>
          <a:prstGeom prst="rect">
            <a:avLst/>
          </a:prstGeom>
          <a:noFill/>
          <a:ln/>
        </p:spPr>
        <p:txBody>
          <a:bodyPr wrap="square" lIns="0" tIns="0" rIns="0" bIns="0" rtlCol="0" anchor="ctr"/>
          <a:lstStyle/>
          <a:p>
            <a:pPr marL="0" indent="0">
              <a:buNone/>
            </a:pPr>
            <a:r>
              <a:rPr lang="en-US" sz="2200" b="1" dirty="0">
                <a:solidFill>
                  <a:srgbClr val="FFB81C"/>
                </a:solidFill>
                <a:latin typeface="Calibri" pitchFamily="34" charset="0"/>
                <a:ea typeface="Calibri" pitchFamily="34" charset="-122"/>
                <a:cs typeface="Calibri" pitchFamily="34" charset="-120"/>
              </a:rPr>
              <a:t>Use Microsoft agents</a:t>
            </a:r>
            <a:endParaRPr lang="en-US" sz="2200" dirty="0"/>
          </a:p>
        </p:txBody>
      </p:sp>
      <p:sp>
        <p:nvSpPr>
          <p:cNvPr id="12" name="Shape 8"/>
          <p:cNvSpPr/>
          <p:nvPr/>
        </p:nvSpPr>
        <p:spPr>
          <a:xfrm>
            <a:off x="914400" y="3017520"/>
            <a:ext cx="457200" cy="45720"/>
          </a:xfrm>
          <a:prstGeom prst="rect">
            <a:avLst/>
          </a:prstGeom>
          <a:solidFill>
            <a:srgbClr val="FFB81C"/>
          </a:solidFill>
          <a:ln w="12700">
            <a:solidFill>
              <a:srgbClr val="333333"/>
            </a:solidFill>
            <a:prstDash val="solid"/>
          </a:ln>
        </p:spPr>
        <p:txBody>
          <a:bodyPr/>
          <a:lstStyle/>
          <a:p>
            <a:endParaRPr lang="en-US"/>
          </a:p>
        </p:txBody>
      </p:sp>
      <p:sp>
        <p:nvSpPr>
          <p:cNvPr id="13" name="Text 9"/>
          <p:cNvSpPr/>
          <p:nvPr/>
        </p:nvSpPr>
        <p:spPr>
          <a:xfrm>
            <a:off x="914400" y="3246120"/>
            <a:ext cx="2782824" cy="274320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Pre-built agents like Researcher, Analyst, and Facilitator - purpose-built reasoning for work tasks.</a:t>
            </a:r>
            <a:endParaRPr lang="en-US" sz="1400" dirty="0"/>
          </a:p>
        </p:txBody>
      </p:sp>
      <p:sp>
        <p:nvSpPr>
          <p:cNvPr id="14" name="Shape 10"/>
          <p:cNvSpPr/>
          <p:nvPr/>
        </p:nvSpPr>
        <p:spPr>
          <a:xfrm>
            <a:off x="4337304" y="1920240"/>
            <a:ext cx="3514344" cy="4297680"/>
          </a:xfrm>
          <a:prstGeom prst="rect">
            <a:avLst/>
          </a:prstGeom>
          <a:solidFill>
            <a:srgbClr val="0A2A44"/>
          </a:solidFill>
          <a:ln w="6350">
            <a:solidFill>
              <a:srgbClr val="1E3A5C"/>
            </a:solidFill>
            <a:prstDash val="solid"/>
          </a:ln>
        </p:spPr>
        <p:txBody>
          <a:bodyPr/>
          <a:lstStyle/>
          <a:p>
            <a:endParaRPr lang="en-US"/>
          </a:p>
        </p:txBody>
      </p:sp>
      <p:sp>
        <p:nvSpPr>
          <p:cNvPr id="15" name="Text 11"/>
          <p:cNvSpPr/>
          <p:nvPr/>
        </p:nvSpPr>
        <p:spPr>
          <a:xfrm>
            <a:off x="4703064" y="2377440"/>
            <a:ext cx="2782824" cy="548640"/>
          </a:xfrm>
          <a:prstGeom prst="rect">
            <a:avLst/>
          </a:prstGeom>
          <a:noFill/>
          <a:ln/>
        </p:spPr>
        <p:txBody>
          <a:bodyPr wrap="square" lIns="0" tIns="0" rIns="0" bIns="0" rtlCol="0" anchor="ctr"/>
          <a:lstStyle/>
          <a:p>
            <a:pPr marL="0" indent="0">
              <a:buNone/>
            </a:pPr>
            <a:r>
              <a:rPr lang="en-US" sz="2200" b="1" dirty="0">
                <a:solidFill>
                  <a:srgbClr val="4FC3F7"/>
                </a:solidFill>
                <a:latin typeface="Calibri" pitchFamily="34" charset="0"/>
                <a:ea typeface="Calibri" pitchFamily="34" charset="-122"/>
                <a:cs typeface="Calibri" pitchFamily="34" charset="-120"/>
              </a:rPr>
              <a:t>Discover in the Agent Store</a:t>
            </a:r>
            <a:endParaRPr lang="en-US" sz="2200" dirty="0"/>
          </a:p>
        </p:txBody>
      </p:sp>
      <p:sp>
        <p:nvSpPr>
          <p:cNvPr id="16" name="Shape 12"/>
          <p:cNvSpPr/>
          <p:nvPr/>
        </p:nvSpPr>
        <p:spPr>
          <a:xfrm>
            <a:off x="4703064" y="3017520"/>
            <a:ext cx="457200" cy="45720"/>
          </a:xfrm>
          <a:prstGeom prst="rect">
            <a:avLst/>
          </a:prstGeom>
          <a:solidFill>
            <a:srgbClr val="4FC3F7"/>
          </a:solidFill>
          <a:ln w="12700">
            <a:solidFill>
              <a:srgbClr val="333333"/>
            </a:solidFill>
            <a:prstDash val="solid"/>
          </a:ln>
        </p:spPr>
        <p:txBody>
          <a:bodyPr/>
          <a:lstStyle/>
          <a:p>
            <a:endParaRPr lang="en-US"/>
          </a:p>
        </p:txBody>
      </p:sp>
      <p:sp>
        <p:nvSpPr>
          <p:cNvPr id="17" name="Text 13"/>
          <p:cNvSpPr/>
          <p:nvPr/>
        </p:nvSpPr>
        <p:spPr>
          <a:xfrm>
            <a:off x="4703064" y="3246120"/>
            <a:ext cx="2782824" cy="274320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Microsoft and trusted third-party agents are ready to work for you across your organisation.</a:t>
            </a:r>
            <a:endParaRPr lang="en-US" sz="1400" dirty="0"/>
          </a:p>
        </p:txBody>
      </p:sp>
      <p:sp>
        <p:nvSpPr>
          <p:cNvPr id="18" name="Shape 14"/>
          <p:cNvSpPr/>
          <p:nvPr/>
        </p:nvSpPr>
        <p:spPr>
          <a:xfrm>
            <a:off x="8125968" y="1920240"/>
            <a:ext cx="3514344" cy="4297680"/>
          </a:xfrm>
          <a:prstGeom prst="rect">
            <a:avLst/>
          </a:prstGeom>
          <a:solidFill>
            <a:srgbClr val="0A2A44"/>
          </a:solidFill>
          <a:ln w="6350">
            <a:solidFill>
              <a:srgbClr val="1E3A5C"/>
            </a:solidFill>
            <a:prstDash val="solid"/>
          </a:ln>
        </p:spPr>
        <p:txBody>
          <a:bodyPr/>
          <a:lstStyle/>
          <a:p>
            <a:endParaRPr lang="en-US"/>
          </a:p>
        </p:txBody>
      </p:sp>
      <p:sp>
        <p:nvSpPr>
          <p:cNvPr id="19" name="Text 15"/>
          <p:cNvSpPr/>
          <p:nvPr/>
        </p:nvSpPr>
        <p:spPr>
          <a:xfrm>
            <a:off x="8491728" y="2377440"/>
            <a:ext cx="2782824" cy="548640"/>
          </a:xfrm>
          <a:prstGeom prst="rect">
            <a:avLst/>
          </a:prstGeom>
          <a:noFill/>
          <a:ln/>
        </p:spPr>
        <p:txBody>
          <a:bodyPr wrap="square" lIns="0" tIns="0" rIns="0" bIns="0" rtlCol="0" anchor="ctr"/>
          <a:lstStyle/>
          <a:p>
            <a:pPr marL="0" indent="0">
              <a:buNone/>
            </a:pPr>
            <a:r>
              <a:rPr lang="en-US" sz="2200" b="1" dirty="0">
                <a:solidFill>
                  <a:srgbClr val="FFB81C"/>
                </a:solidFill>
                <a:latin typeface="Calibri" pitchFamily="34" charset="0"/>
                <a:ea typeface="Calibri" pitchFamily="34" charset="-122"/>
                <a:cs typeface="Calibri" pitchFamily="34" charset="-120"/>
              </a:rPr>
              <a:t>Build your own</a:t>
            </a:r>
            <a:endParaRPr lang="en-US" sz="2200" dirty="0"/>
          </a:p>
        </p:txBody>
      </p:sp>
      <p:sp>
        <p:nvSpPr>
          <p:cNvPr id="20" name="Shape 16"/>
          <p:cNvSpPr/>
          <p:nvPr/>
        </p:nvSpPr>
        <p:spPr>
          <a:xfrm>
            <a:off x="8491728" y="3017520"/>
            <a:ext cx="457200" cy="45720"/>
          </a:xfrm>
          <a:prstGeom prst="rect">
            <a:avLst/>
          </a:prstGeom>
          <a:solidFill>
            <a:srgbClr val="FFB81C"/>
          </a:solidFill>
          <a:ln w="12700">
            <a:solidFill>
              <a:srgbClr val="333333"/>
            </a:solidFill>
            <a:prstDash val="solid"/>
          </a:ln>
        </p:spPr>
        <p:txBody>
          <a:bodyPr/>
          <a:lstStyle/>
          <a:p>
            <a:endParaRPr lang="en-US"/>
          </a:p>
        </p:txBody>
      </p:sp>
      <p:sp>
        <p:nvSpPr>
          <p:cNvPr id="21" name="Text 17"/>
          <p:cNvSpPr/>
          <p:nvPr/>
        </p:nvSpPr>
        <p:spPr>
          <a:xfrm>
            <a:off x="8491728" y="3246120"/>
            <a:ext cx="2782824" cy="274320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Use natural language to describe the agent you want to build and start using it immediately.</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Microsoft agents</a:t>
            </a:r>
            <a:endParaRPr lang="en-US" sz="3200" dirty="0"/>
          </a:p>
        </p:txBody>
      </p:sp>
      <p:sp>
        <p:nvSpPr>
          <p:cNvPr id="6" name="Shape 2"/>
          <p:cNvSpPr/>
          <p:nvPr/>
        </p:nvSpPr>
        <p:spPr>
          <a:xfrm>
            <a:off x="548640" y="1097280"/>
            <a:ext cx="1280160" cy="64008"/>
          </a:xfrm>
          <a:prstGeom prst="rect">
            <a:avLst/>
          </a:prstGeom>
          <a:solidFill>
            <a:srgbClr val="FFB81C"/>
          </a:solidFill>
          <a:ln w="12700">
            <a:solidFill>
              <a:srgbClr val="FFB81C"/>
            </a:solidFill>
            <a:prstDash val="solid"/>
          </a:ln>
        </p:spPr>
        <p:txBody>
          <a:bodyPr/>
          <a:lstStyle/>
          <a:p>
            <a:endParaRPr lang="en-US"/>
          </a:p>
        </p:txBody>
      </p:sp>
      <p:sp>
        <p:nvSpPr>
          <p:cNvPr id="7" name="Shape 3"/>
          <p:cNvSpPr/>
          <p:nvPr/>
        </p:nvSpPr>
        <p:spPr>
          <a:xfrm>
            <a:off x="1920240" y="1097280"/>
            <a:ext cx="640080" cy="64008"/>
          </a:xfrm>
          <a:prstGeom prst="rect">
            <a:avLst/>
          </a:prstGeom>
          <a:solidFill>
            <a:srgbClr val="4FC3F7"/>
          </a:solidFill>
          <a:ln w="12700">
            <a:solidFill>
              <a:srgbClr val="4FC3F7"/>
            </a:solidFill>
            <a:prstDash val="solid"/>
          </a:ln>
        </p:spPr>
        <p:txBody>
          <a:bodyPr/>
          <a:lstStyle/>
          <a:p>
            <a:endParaRPr lang="en-US"/>
          </a:p>
        </p:txBody>
      </p:sp>
      <p:sp>
        <p:nvSpPr>
          <p:cNvPr id="8" name="Text 4"/>
          <p:cNvSpPr/>
          <p:nvPr/>
        </p:nvSpPr>
        <p:spPr>
          <a:xfrm>
            <a:off x="548640" y="1325880"/>
            <a:ext cx="10972800" cy="411480"/>
          </a:xfrm>
          <a:prstGeom prst="rect">
            <a:avLst/>
          </a:prstGeom>
          <a:noFill/>
          <a:ln/>
        </p:spPr>
        <p:txBody>
          <a:bodyPr wrap="square" lIns="0" tIns="0" rIns="0" bIns="0" rtlCol="0" anchor="ctr"/>
          <a:lstStyle/>
          <a:p>
            <a:pPr marL="0" indent="0">
              <a:buNone/>
            </a:pPr>
            <a:r>
              <a:rPr lang="en-US" sz="1400" i="1" dirty="0">
                <a:solidFill>
                  <a:srgbClr val="EAF2FA"/>
                </a:solidFill>
                <a:latin typeface="Calibri" pitchFamily="34" charset="0"/>
                <a:ea typeface="Calibri" pitchFamily="34" charset="-122"/>
                <a:cs typeface="Calibri" pitchFamily="34" charset="-120"/>
              </a:rPr>
              <a:t>Pre-built agents from Microsoft, designed for work</a:t>
            </a:r>
            <a:endParaRPr lang="en-US" sz="1400" dirty="0"/>
          </a:p>
        </p:txBody>
      </p:sp>
      <p:sp>
        <p:nvSpPr>
          <p:cNvPr id="9" name="Text 5"/>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28 / 40</a:t>
            </a:r>
            <a:endParaRPr lang="en-US" sz="900" dirty="0"/>
          </a:p>
        </p:txBody>
      </p:sp>
      <p:sp>
        <p:nvSpPr>
          <p:cNvPr id="10" name="Shape 6"/>
          <p:cNvSpPr/>
          <p:nvPr/>
        </p:nvSpPr>
        <p:spPr>
          <a:xfrm>
            <a:off x="548640" y="1920240"/>
            <a:ext cx="2649474" cy="1322832"/>
          </a:xfrm>
          <a:prstGeom prst="rect">
            <a:avLst/>
          </a:prstGeom>
          <a:solidFill>
            <a:srgbClr val="0A2A44"/>
          </a:solidFill>
          <a:ln w="6350">
            <a:solidFill>
              <a:srgbClr val="1E3A5C"/>
            </a:solidFill>
            <a:prstDash val="solid"/>
          </a:ln>
        </p:spPr>
        <p:txBody>
          <a:bodyPr/>
          <a:lstStyle/>
          <a:p>
            <a:endParaRPr lang="en-US"/>
          </a:p>
        </p:txBody>
      </p:sp>
      <p:sp>
        <p:nvSpPr>
          <p:cNvPr id="11" name="Text 7"/>
          <p:cNvSpPr/>
          <p:nvPr/>
        </p:nvSpPr>
        <p:spPr>
          <a:xfrm>
            <a:off x="731520" y="2148840"/>
            <a:ext cx="2283714" cy="457200"/>
          </a:xfrm>
          <a:prstGeom prst="rect">
            <a:avLst/>
          </a:prstGeom>
          <a:noFill/>
          <a:ln/>
        </p:spPr>
        <p:txBody>
          <a:bodyPr wrap="square" lIns="0" tIns="0" rIns="0" bIns="0" rtlCol="0" anchor="ctr"/>
          <a:lstStyle/>
          <a:p>
            <a:pPr marL="0" indent="0">
              <a:buNone/>
            </a:pPr>
            <a:r>
              <a:rPr lang="en-US" sz="1600" b="1" dirty="0">
                <a:solidFill>
                  <a:srgbClr val="FFB81C"/>
                </a:solidFill>
                <a:latin typeface="Calibri" pitchFamily="34" charset="0"/>
                <a:ea typeface="Calibri" pitchFamily="34" charset="-122"/>
                <a:cs typeface="Calibri" pitchFamily="34" charset="-120"/>
              </a:rPr>
              <a:t>Researcher</a:t>
            </a:r>
            <a:endParaRPr lang="en-US" sz="1600" dirty="0"/>
          </a:p>
        </p:txBody>
      </p:sp>
      <p:sp>
        <p:nvSpPr>
          <p:cNvPr id="12" name="Text 8"/>
          <p:cNvSpPr/>
          <p:nvPr/>
        </p:nvSpPr>
        <p:spPr>
          <a:xfrm>
            <a:off x="731520" y="2633472"/>
            <a:ext cx="2283714" cy="454152"/>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Advanced reasoning research</a:t>
            </a:r>
            <a:endParaRPr lang="en-US" sz="1100" dirty="0"/>
          </a:p>
        </p:txBody>
      </p:sp>
      <p:sp>
        <p:nvSpPr>
          <p:cNvPr id="13" name="Shape 9"/>
          <p:cNvSpPr/>
          <p:nvPr/>
        </p:nvSpPr>
        <p:spPr>
          <a:xfrm>
            <a:off x="3362706" y="1920240"/>
            <a:ext cx="2649474" cy="1322832"/>
          </a:xfrm>
          <a:prstGeom prst="rect">
            <a:avLst/>
          </a:prstGeom>
          <a:solidFill>
            <a:srgbClr val="0A2A44"/>
          </a:solidFill>
          <a:ln w="6350">
            <a:solidFill>
              <a:srgbClr val="1E3A5C"/>
            </a:solidFill>
            <a:prstDash val="solid"/>
          </a:ln>
        </p:spPr>
        <p:txBody>
          <a:bodyPr/>
          <a:lstStyle/>
          <a:p>
            <a:endParaRPr lang="en-US"/>
          </a:p>
        </p:txBody>
      </p:sp>
      <p:sp>
        <p:nvSpPr>
          <p:cNvPr id="14" name="Text 10"/>
          <p:cNvSpPr/>
          <p:nvPr/>
        </p:nvSpPr>
        <p:spPr>
          <a:xfrm>
            <a:off x="3545586" y="2148840"/>
            <a:ext cx="2283714" cy="457200"/>
          </a:xfrm>
          <a:prstGeom prst="rect">
            <a:avLst/>
          </a:prstGeom>
          <a:noFill/>
          <a:ln/>
        </p:spPr>
        <p:txBody>
          <a:bodyPr wrap="square" lIns="0" tIns="0" rIns="0" bIns="0" rtlCol="0" anchor="ctr"/>
          <a:lstStyle/>
          <a:p>
            <a:pPr marL="0" indent="0">
              <a:buNone/>
            </a:pPr>
            <a:r>
              <a:rPr lang="en-US" sz="1600" b="1" dirty="0">
                <a:solidFill>
                  <a:srgbClr val="4FC3F7"/>
                </a:solidFill>
                <a:latin typeface="Calibri" pitchFamily="34" charset="0"/>
                <a:ea typeface="Calibri" pitchFamily="34" charset="-122"/>
                <a:cs typeface="Calibri" pitchFamily="34" charset="-120"/>
              </a:rPr>
              <a:t>Analyst</a:t>
            </a:r>
            <a:endParaRPr lang="en-US" sz="1600" dirty="0"/>
          </a:p>
        </p:txBody>
      </p:sp>
      <p:sp>
        <p:nvSpPr>
          <p:cNvPr id="15" name="Text 11"/>
          <p:cNvSpPr/>
          <p:nvPr/>
        </p:nvSpPr>
        <p:spPr>
          <a:xfrm>
            <a:off x="3545586" y="2633472"/>
            <a:ext cx="2283714" cy="454152"/>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Data and insights</a:t>
            </a:r>
            <a:endParaRPr lang="en-US" sz="1100" dirty="0"/>
          </a:p>
        </p:txBody>
      </p:sp>
      <p:sp>
        <p:nvSpPr>
          <p:cNvPr id="16" name="Shape 12"/>
          <p:cNvSpPr/>
          <p:nvPr/>
        </p:nvSpPr>
        <p:spPr>
          <a:xfrm>
            <a:off x="6176772" y="1920240"/>
            <a:ext cx="2649474" cy="1322832"/>
          </a:xfrm>
          <a:prstGeom prst="rect">
            <a:avLst/>
          </a:prstGeom>
          <a:solidFill>
            <a:srgbClr val="0A2A44"/>
          </a:solidFill>
          <a:ln w="6350">
            <a:solidFill>
              <a:srgbClr val="1E3A5C"/>
            </a:solidFill>
            <a:prstDash val="solid"/>
          </a:ln>
        </p:spPr>
        <p:txBody>
          <a:bodyPr/>
          <a:lstStyle/>
          <a:p>
            <a:endParaRPr lang="en-US"/>
          </a:p>
        </p:txBody>
      </p:sp>
      <p:sp>
        <p:nvSpPr>
          <p:cNvPr id="17" name="Text 13"/>
          <p:cNvSpPr/>
          <p:nvPr/>
        </p:nvSpPr>
        <p:spPr>
          <a:xfrm>
            <a:off x="6359652" y="2148840"/>
            <a:ext cx="2283714" cy="457200"/>
          </a:xfrm>
          <a:prstGeom prst="rect">
            <a:avLst/>
          </a:prstGeom>
          <a:noFill/>
          <a:ln/>
        </p:spPr>
        <p:txBody>
          <a:bodyPr wrap="square" lIns="0" tIns="0" rIns="0" bIns="0" rtlCol="0" anchor="ctr"/>
          <a:lstStyle/>
          <a:p>
            <a:pPr marL="0" indent="0">
              <a:buNone/>
            </a:pPr>
            <a:r>
              <a:rPr lang="en-US" sz="1600" b="1" dirty="0">
                <a:solidFill>
                  <a:srgbClr val="FFB81C"/>
                </a:solidFill>
                <a:latin typeface="Calibri" pitchFamily="34" charset="0"/>
                <a:ea typeface="Calibri" pitchFamily="34" charset="-122"/>
                <a:cs typeface="Calibri" pitchFamily="34" charset="-120"/>
              </a:rPr>
              <a:t>Facilitator</a:t>
            </a:r>
            <a:endParaRPr lang="en-US" sz="1600" dirty="0"/>
          </a:p>
        </p:txBody>
      </p:sp>
      <p:sp>
        <p:nvSpPr>
          <p:cNvPr id="18" name="Text 14"/>
          <p:cNvSpPr/>
          <p:nvPr/>
        </p:nvSpPr>
        <p:spPr>
          <a:xfrm>
            <a:off x="6359652" y="2633472"/>
            <a:ext cx="2283714" cy="454152"/>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Teams meeting moderation</a:t>
            </a:r>
            <a:endParaRPr lang="en-US" sz="1100" dirty="0"/>
          </a:p>
        </p:txBody>
      </p:sp>
      <p:sp>
        <p:nvSpPr>
          <p:cNvPr id="19" name="Shape 15"/>
          <p:cNvSpPr/>
          <p:nvPr/>
        </p:nvSpPr>
        <p:spPr>
          <a:xfrm>
            <a:off x="8990838" y="1920240"/>
            <a:ext cx="2649474" cy="1322832"/>
          </a:xfrm>
          <a:prstGeom prst="rect">
            <a:avLst/>
          </a:prstGeom>
          <a:solidFill>
            <a:srgbClr val="0A2A44"/>
          </a:solidFill>
          <a:ln w="6350">
            <a:solidFill>
              <a:srgbClr val="1E3A5C"/>
            </a:solidFill>
            <a:prstDash val="solid"/>
          </a:ln>
        </p:spPr>
        <p:txBody>
          <a:bodyPr/>
          <a:lstStyle/>
          <a:p>
            <a:endParaRPr lang="en-US"/>
          </a:p>
        </p:txBody>
      </p:sp>
      <p:sp>
        <p:nvSpPr>
          <p:cNvPr id="20" name="Text 16"/>
          <p:cNvSpPr/>
          <p:nvPr/>
        </p:nvSpPr>
        <p:spPr>
          <a:xfrm>
            <a:off x="9173718" y="2148840"/>
            <a:ext cx="2283714" cy="457200"/>
          </a:xfrm>
          <a:prstGeom prst="rect">
            <a:avLst/>
          </a:prstGeom>
          <a:noFill/>
          <a:ln/>
        </p:spPr>
        <p:txBody>
          <a:bodyPr wrap="square" lIns="0" tIns="0" rIns="0" bIns="0" rtlCol="0" anchor="ctr"/>
          <a:lstStyle/>
          <a:p>
            <a:pPr marL="0" indent="0">
              <a:buNone/>
            </a:pPr>
            <a:r>
              <a:rPr lang="en-US" sz="1600" b="1" dirty="0">
                <a:solidFill>
                  <a:srgbClr val="4FC3F7"/>
                </a:solidFill>
                <a:latin typeface="Calibri" pitchFamily="34" charset="0"/>
                <a:ea typeface="Calibri" pitchFamily="34" charset="-122"/>
                <a:cs typeface="Calibri" pitchFamily="34" charset="-120"/>
              </a:rPr>
              <a:t>Interpreter</a:t>
            </a:r>
            <a:endParaRPr lang="en-US" sz="1600" dirty="0"/>
          </a:p>
        </p:txBody>
      </p:sp>
      <p:sp>
        <p:nvSpPr>
          <p:cNvPr id="21" name="Text 17"/>
          <p:cNvSpPr/>
          <p:nvPr/>
        </p:nvSpPr>
        <p:spPr>
          <a:xfrm>
            <a:off x="9173718" y="2633472"/>
            <a:ext cx="2283714" cy="454152"/>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Multilingual translation</a:t>
            </a:r>
            <a:endParaRPr lang="en-US" sz="1100" dirty="0"/>
          </a:p>
        </p:txBody>
      </p:sp>
      <p:sp>
        <p:nvSpPr>
          <p:cNvPr id="22" name="Shape 18"/>
          <p:cNvSpPr/>
          <p:nvPr/>
        </p:nvSpPr>
        <p:spPr>
          <a:xfrm>
            <a:off x="548640" y="3407664"/>
            <a:ext cx="2649474" cy="1322832"/>
          </a:xfrm>
          <a:prstGeom prst="rect">
            <a:avLst/>
          </a:prstGeom>
          <a:solidFill>
            <a:srgbClr val="0A2A44"/>
          </a:solidFill>
          <a:ln w="6350">
            <a:solidFill>
              <a:srgbClr val="1E3A5C"/>
            </a:solidFill>
            <a:prstDash val="solid"/>
          </a:ln>
        </p:spPr>
        <p:txBody>
          <a:bodyPr/>
          <a:lstStyle/>
          <a:p>
            <a:endParaRPr lang="en-US"/>
          </a:p>
        </p:txBody>
      </p:sp>
      <p:sp>
        <p:nvSpPr>
          <p:cNvPr id="23" name="Text 19"/>
          <p:cNvSpPr/>
          <p:nvPr/>
        </p:nvSpPr>
        <p:spPr>
          <a:xfrm>
            <a:off x="731520" y="3636264"/>
            <a:ext cx="2283714" cy="457200"/>
          </a:xfrm>
          <a:prstGeom prst="rect">
            <a:avLst/>
          </a:prstGeom>
          <a:noFill/>
          <a:ln/>
        </p:spPr>
        <p:txBody>
          <a:bodyPr wrap="square" lIns="0" tIns="0" rIns="0" bIns="0" rtlCol="0" anchor="ctr"/>
          <a:lstStyle/>
          <a:p>
            <a:pPr marL="0" indent="0">
              <a:buNone/>
            </a:pPr>
            <a:r>
              <a:rPr lang="en-US" sz="1600" b="1" dirty="0">
                <a:solidFill>
                  <a:srgbClr val="FFB81C"/>
                </a:solidFill>
                <a:latin typeface="Calibri" pitchFamily="34" charset="0"/>
                <a:ea typeface="Calibri" pitchFamily="34" charset="-122"/>
                <a:cs typeface="Calibri" pitchFamily="34" charset="-120"/>
              </a:rPr>
              <a:t>Surveys</a:t>
            </a:r>
            <a:endParaRPr lang="en-US" sz="1600" dirty="0"/>
          </a:p>
        </p:txBody>
      </p:sp>
      <p:sp>
        <p:nvSpPr>
          <p:cNvPr id="24" name="Text 20"/>
          <p:cNvSpPr/>
          <p:nvPr/>
        </p:nvSpPr>
        <p:spPr>
          <a:xfrm>
            <a:off x="731520" y="4120896"/>
            <a:ext cx="2283714" cy="454152"/>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End-to-end survey management</a:t>
            </a:r>
            <a:endParaRPr lang="en-US" sz="1100" dirty="0"/>
          </a:p>
        </p:txBody>
      </p:sp>
      <p:sp>
        <p:nvSpPr>
          <p:cNvPr id="25" name="Shape 21"/>
          <p:cNvSpPr/>
          <p:nvPr/>
        </p:nvSpPr>
        <p:spPr>
          <a:xfrm>
            <a:off x="3362706" y="3407664"/>
            <a:ext cx="2649474" cy="1322832"/>
          </a:xfrm>
          <a:prstGeom prst="rect">
            <a:avLst/>
          </a:prstGeom>
          <a:solidFill>
            <a:srgbClr val="0A2A44"/>
          </a:solidFill>
          <a:ln w="6350">
            <a:solidFill>
              <a:srgbClr val="1E3A5C"/>
            </a:solidFill>
            <a:prstDash val="solid"/>
          </a:ln>
        </p:spPr>
        <p:txBody>
          <a:bodyPr/>
          <a:lstStyle/>
          <a:p>
            <a:endParaRPr lang="en-US"/>
          </a:p>
        </p:txBody>
      </p:sp>
      <p:sp>
        <p:nvSpPr>
          <p:cNvPr id="26" name="Text 22"/>
          <p:cNvSpPr/>
          <p:nvPr/>
        </p:nvSpPr>
        <p:spPr>
          <a:xfrm>
            <a:off x="3545586" y="3636264"/>
            <a:ext cx="2283714" cy="457200"/>
          </a:xfrm>
          <a:prstGeom prst="rect">
            <a:avLst/>
          </a:prstGeom>
          <a:noFill/>
          <a:ln/>
        </p:spPr>
        <p:txBody>
          <a:bodyPr wrap="square" lIns="0" tIns="0" rIns="0" bIns="0" rtlCol="0" anchor="ctr"/>
          <a:lstStyle/>
          <a:p>
            <a:pPr marL="0" indent="0">
              <a:buNone/>
            </a:pPr>
            <a:r>
              <a:rPr lang="en-US" sz="1600" b="1" dirty="0">
                <a:solidFill>
                  <a:srgbClr val="4FC3F7"/>
                </a:solidFill>
                <a:latin typeface="Calibri" pitchFamily="34" charset="0"/>
                <a:ea typeface="Calibri" pitchFamily="34" charset="-122"/>
                <a:cs typeface="Calibri" pitchFamily="34" charset="-120"/>
              </a:rPr>
              <a:t>Knowledge</a:t>
            </a:r>
            <a:endParaRPr lang="en-US" sz="1600" dirty="0"/>
          </a:p>
        </p:txBody>
      </p:sp>
      <p:sp>
        <p:nvSpPr>
          <p:cNvPr id="27" name="Text 23"/>
          <p:cNvSpPr/>
          <p:nvPr/>
        </p:nvSpPr>
        <p:spPr>
          <a:xfrm>
            <a:off x="3545586" y="4120896"/>
            <a:ext cx="2283714" cy="454152"/>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Content management &amp; organisation</a:t>
            </a:r>
            <a:endParaRPr lang="en-US" sz="1100" dirty="0"/>
          </a:p>
        </p:txBody>
      </p:sp>
      <p:sp>
        <p:nvSpPr>
          <p:cNvPr id="28" name="Shape 24"/>
          <p:cNvSpPr/>
          <p:nvPr/>
        </p:nvSpPr>
        <p:spPr>
          <a:xfrm>
            <a:off x="6176772" y="3407664"/>
            <a:ext cx="2649474" cy="1322832"/>
          </a:xfrm>
          <a:prstGeom prst="rect">
            <a:avLst/>
          </a:prstGeom>
          <a:solidFill>
            <a:srgbClr val="0A2A44"/>
          </a:solidFill>
          <a:ln w="6350">
            <a:solidFill>
              <a:srgbClr val="1E3A5C"/>
            </a:solidFill>
            <a:prstDash val="solid"/>
          </a:ln>
        </p:spPr>
        <p:txBody>
          <a:bodyPr/>
          <a:lstStyle/>
          <a:p>
            <a:endParaRPr lang="en-US"/>
          </a:p>
        </p:txBody>
      </p:sp>
      <p:sp>
        <p:nvSpPr>
          <p:cNvPr id="29" name="Text 25"/>
          <p:cNvSpPr/>
          <p:nvPr/>
        </p:nvSpPr>
        <p:spPr>
          <a:xfrm>
            <a:off x="6359652" y="3636264"/>
            <a:ext cx="2283714" cy="457200"/>
          </a:xfrm>
          <a:prstGeom prst="rect">
            <a:avLst/>
          </a:prstGeom>
          <a:noFill/>
          <a:ln/>
        </p:spPr>
        <p:txBody>
          <a:bodyPr wrap="square" lIns="0" tIns="0" rIns="0" bIns="0" rtlCol="0" anchor="ctr"/>
          <a:lstStyle/>
          <a:p>
            <a:pPr marL="0" indent="0">
              <a:buNone/>
            </a:pPr>
            <a:r>
              <a:rPr lang="en-US" sz="1600" b="1" dirty="0">
                <a:solidFill>
                  <a:srgbClr val="FFB81C"/>
                </a:solidFill>
                <a:latin typeface="Calibri" pitchFamily="34" charset="0"/>
                <a:ea typeface="Calibri" pitchFamily="34" charset="-122"/>
                <a:cs typeface="Calibri" pitchFamily="34" charset="-120"/>
              </a:rPr>
              <a:t>Project Manager</a:t>
            </a:r>
            <a:endParaRPr lang="en-US" sz="1600" dirty="0"/>
          </a:p>
        </p:txBody>
      </p:sp>
      <p:sp>
        <p:nvSpPr>
          <p:cNvPr id="30" name="Text 26"/>
          <p:cNvSpPr/>
          <p:nvPr/>
        </p:nvSpPr>
        <p:spPr>
          <a:xfrm>
            <a:off x="6359652" y="4120896"/>
            <a:ext cx="2283714" cy="454152"/>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Automate project management</a:t>
            </a:r>
            <a:endParaRPr lang="en-US" sz="1100" dirty="0"/>
          </a:p>
        </p:txBody>
      </p:sp>
      <p:sp>
        <p:nvSpPr>
          <p:cNvPr id="31" name="Shape 27"/>
          <p:cNvSpPr/>
          <p:nvPr/>
        </p:nvSpPr>
        <p:spPr>
          <a:xfrm>
            <a:off x="8990838" y="3407664"/>
            <a:ext cx="2649474" cy="1322832"/>
          </a:xfrm>
          <a:prstGeom prst="rect">
            <a:avLst/>
          </a:prstGeom>
          <a:solidFill>
            <a:srgbClr val="0A2A44"/>
          </a:solidFill>
          <a:ln w="6350">
            <a:solidFill>
              <a:srgbClr val="1E3A5C"/>
            </a:solidFill>
            <a:prstDash val="solid"/>
          </a:ln>
        </p:spPr>
        <p:txBody>
          <a:bodyPr/>
          <a:lstStyle/>
          <a:p>
            <a:endParaRPr lang="en-US"/>
          </a:p>
        </p:txBody>
      </p:sp>
      <p:sp>
        <p:nvSpPr>
          <p:cNvPr id="32" name="Text 28"/>
          <p:cNvSpPr/>
          <p:nvPr/>
        </p:nvSpPr>
        <p:spPr>
          <a:xfrm>
            <a:off x="9173718" y="3636264"/>
            <a:ext cx="2283714" cy="457200"/>
          </a:xfrm>
          <a:prstGeom prst="rect">
            <a:avLst/>
          </a:prstGeom>
          <a:noFill/>
          <a:ln/>
        </p:spPr>
        <p:txBody>
          <a:bodyPr wrap="square" lIns="0" tIns="0" rIns="0" bIns="0" rtlCol="0" anchor="ctr"/>
          <a:lstStyle/>
          <a:p>
            <a:pPr marL="0" indent="0">
              <a:buNone/>
            </a:pPr>
            <a:r>
              <a:rPr lang="en-US" sz="1600" b="1" dirty="0">
                <a:solidFill>
                  <a:srgbClr val="4FC3F7"/>
                </a:solidFill>
                <a:latin typeface="Calibri" pitchFamily="34" charset="0"/>
                <a:ea typeface="Calibri" pitchFamily="34" charset="-122"/>
                <a:cs typeface="Calibri" pitchFamily="34" charset="-120"/>
              </a:rPr>
              <a:t>Workforce Insights</a:t>
            </a:r>
            <a:endParaRPr lang="en-US" sz="1600" dirty="0"/>
          </a:p>
        </p:txBody>
      </p:sp>
      <p:sp>
        <p:nvSpPr>
          <p:cNvPr id="33" name="Text 29"/>
          <p:cNvSpPr/>
          <p:nvPr/>
        </p:nvSpPr>
        <p:spPr>
          <a:xfrm>
            <a:off x="9173718" y="4120896"/>
            <a:ext cx="2283714" cy="454152"/>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Organisational insights</a:t>
            </a:r>
            <a:endParaRPr lang="en-US" sz="1100" dirty="0"/>
          </a:p>
        </p:txBody>
      </p:sp>
      <p:sp>
        <p:nvSpPr>
          <p:cNvPr id="34" name="Shape 30"/>
          <p:cNvSpPr/>
          <p:nvPr/>
        </p:nvSpPr>
        <p:spPr>
          <a:xfrm>
            <a:off x="548640" y="4895088"/>
            <a:ext cx="2649474" cy="1322832"/>
          </a:xfrm>
          <a:prstGeom prst="rect">
            <a:avLst/>
          </a:prstGeom>
          <a:solidFill>
            <a:srgbClr val="0A2A44"/>
          </a:solidFill>
          <a:ln w="6350">
            <a:solidFill>
              <a:srgbClr val="1E3A5C"/>
            </a:solidFill>
            <a:prstDash val="solid"/>
          </a:ln>
        </p:spPr>
        <p:txBody>
          <a:bodyPr/>
          <a:lstStyle/>
          <a:p>
            <a:endParaRPr lang="en-US"/>
          </a:p>
        </p:txBody>
      </p:sp>
      <p:sp>
        <p:nvSpPr>
          <p:cNvPr id="35" name="Text 31"/>
          <p:cNvSpPr/>
          <p:nvPr/>
        </p:nvSpPr>
        <p:spPr>
          <a:xfrm>
            <a:off x="731520" y="5123688"/>
            <a:ext cx="2283714" cy="457200"/>
          </a:xfrm>
          <a:prstGeom prst="rect">
            <a:avLst/>
          </a:prstGeom>
          <a:noFill/>
          <a:ln/>
        </p:spPr>
        <p:txBody>
          <a:bodyPr wrap="square" lIns="0" tIns="0" rIns="0" bIns="0" rtlCol="0" anchor="ctr"/>
          <a:lstStyle/>
          <a:p>
            <a:pPr marL="0" indent="0">
              <a:buNone/>
            </a:pPr>
            <a:r>
              <a:rPr lang="en-US" sz="1600" b="1" dirty="0">
                <a:solidFill>
                  <a:srgbClr val="FFB81C"/>
                </a:solidFill>
                <a:latin typeface="Calibri" pitchFamily="34" charset="0"/>
                <a:ea typeface="Calibri" pitchFamily="34" charset="-122"/>
                <a:cs typeface="Calibri" pitchFamily="34" charset="-120"/>
              </a:rPr>
              <a:t>Channels</a:t>
            </a:r>
            <a:endParaRPr lang="en-US" sz="1600" dirty="0"/>
          </a:p>
        </p:txBody>
      </p:sp>
      <p:sp>
        <p:nvSpPr>
          <p:cNvPr id="36" name="Text 32"/>
          <p:cNvSpPr/>
          <p:nvPr/>
        </p:nvSpPr>
        <p:spPr>
          <a:xfrm>
            <a:off x="731520" y="5608320"/>
            <a:ext cx="2283714" cy="454152"/>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AI teammate in Teams</a:t>
            </a:r>
            <a:endParaRPr lang="en-US" sz="1100" dirty="0"/>
          </a:p>
        </p:txBody>
      </p:sp>
      <p:sp>
        <p:nvSpPr>
          <p:cNvPr id="37" name="Shape 33"/>
          <p:cNvSpPr/>
          <p:nvPr/>
        </p:nvSpPr>
        <p:spPr>
          <a:xfrm>
            <a:off x="3362706" y="4895088"/>
            <a:ext cx="2649474" cy="1322832"/>
          </a:xfrm>
          <a:prstGeom prst="rect">
            <a:avLst/>
          </a:prstGeom>
          <a:solidFill>
            <a:srgbClr val="0A2A44"/>
          </a:solidFill>
          <a:ln w="6350">
            <a:solidFill>
              <a:srgbClr val="1E3A5C"/>
            </a:solidFill>
            <a:prstDash val="solid"/>
          </a:ln>
        </p:spPr>
        <p:txBody>
          <a:bodyPr/>
          <a:lstStyle/>
          <a:p>
            <a:endParaRPr lang="en-US"/>
          </a:p>
        </p:txBody>
      </p:sp>
      <p:sp>
        <p:nvSpPr>
          <p:cNvPr id="38" name="Text 34"/>
          <p:cNvSpPr/>
          <p:nvPr/>
        </p:nvSpPr>
        <p:spPr>
          <a:xfrm>
            <a:off x="3545586" y="5123688"/>
            <a:ext cx="2283714" cy="457200"/>
          </a:xfrm>
          <a:prstGeom prst="rect">
            <a:avLst/>
          </a:prstGeom>
          <a:noFill/>
          <a:ln/>
        </p:spPr>
        <p:txBody>
          <a:bodyPr wrap="square" lIns="0" tIns="0" rIns="0" bIns="0" rtlCol="0" anchor="ctr"/>
          <a:lstStyle/>
          <a:p>
            <a:pPr marL="0" indent="0">
              <a:buNone/>
            </a:pPr>
            <a:r>
              <a:rPr lang="en-US" sz="1600" b="1" dirty="0">
                <a:solidFill>
                  <a:srgbClr val="4FC3F7"/>
                </a:solidFill>
                <a:latin typeface="Calibri" pitchFamily="34" charset="0"/>
                <a:ea typeface="Calibri" pitchFamily="34" charset="-122"/>
                <a:cs typeface="Calibri" pitchFamily="34" charset="-120"/>
              </a:rPr>
              <a:t>PowerPoint</a:t>
            </a:r>
            <a:endParaRPr lang="en-US" sz="1600" dirty="0"/>
          </a:p>
        </p:txBody>
      </p:sp>
      <p:sp>
        <p:nvSpPr>
          <p:cNvPr id="39" name="Text 35"/>
          <p:cNvSpPr/>
          <p:nvPr/>
        </p:nvSpPr>
        <p:spPr>
          <a:xfrm>
            <a:off x="3545586" y="5608320"/>
            <a:ext cx="2283714" cy="454152"/>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Build and iterate decks</a:t>
            </a:r>
            <a:endParaRPr lang="en-US" sz="1100" dirty="0"/>
          </a:p>
        </p:txBody>
      </p:sp>
      <p:sp>
        <p:nvSpPr>
          <p:cNvPr id="40" name="Shape 36"/>
          <p:cNvSpPr/>
          <p:nvPr/>
        </p:nvSpPr>
        <p:spPr>
          <a:xfrm>
            <a:off x="6176772" y="4895088"/>
            <a:ext cx="2649474" cy="1322832"/>
          </a:xfrm>
          <a:prstGeom prst="rect">
            <a:avLst/>
          </a:prstGeom>
          <a:solidFill>
            <a:srgbClr val="0A2A44"/>
          </a:solidFill>
          <a:ln w="6350">
            <a:solidFill>
              <a:srgbClr val="1E3A5C"/>
            </a:solidFill>
            <a:prstDash val="solid"/>
          </a:ln>
        </p:spPr>
        <p:txBody>
          <a:bodyPr/>
          <a:lstStyle/>
          <a:p>
            <a:endParaRPr lang="en-US"/>
          </a:p>
        </p:txBody>
      </p:sp>
      <p:sp>
        <p:nvSpPr>
          <p:cNvPr id="41" name="Text 37"/>
          <p:cNvSpPr/>
          <p:nvPr/>
        </p:nvSpPr>
        <p:spPr>
          <a:xfrm>
            <a:off x="6359652" y="5123688"/>
            <a:ext cx="2283714" cy="457200"/>
          </a:xfrm>
          <a:prstGeom prst="rect">
            <a:avLst/>
          </a:prstGeom>
          <a:noFill/>
          <a:ln/>
        </p:spPr>
        <p:txBody>
          <a:bodyPr wrap="square" lIns="0" tIns="0" rIns="0" bIns="0" rtlCol="0" anchor="ctr"/>
          <a:lstStyle/>
          <a:p>
            <a:pPr marL="0" indent="0">
              <a:buNone/>
            </a:pPr>
            <a:r>
              <a:rPr lang="en-US" sz="1600" b="1" dirty="0">
                <a:solidFill>
                  <a:srgbClr val="FFB81C"/>
                </a:solidFill>
                <a:latin typeface="Calibri" pitchFamily="34" charset="0"/>
                <a:ea typeface="Calibri" pitchFamily="34" charset="-122"/>
                <a:cs typeface="Calibri" pitchFamily="34" charset="-120"/>
              </a:rPr>
              <a:t>Excel</a:t>
            </a:r>
            <a:endParaRPr lang="en-US" sz="1600" dirty="0"/>
          </a:p>
        </p:txBody>
      </p:sp>
      <p:sp>
        <p:nvSpPr>
          <p:cNvPr id="42" name="Text 38"/>
          <p:cNvSpPr/>
          <p:nvPr/>
        </p:nvSpPr>
        <p:spPr>
          <a:xfrm>
            <a:off x="6359652" y="5608320"/>
            <a:ext cx="2283714" cy="454152"/>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Data visualisation and insights</a:t>
            </a:r>
            <a:endParaRPr lang="en-US" sz="1100" dirty="0"/>
          </a:p>
        </p:txBody>
      </p:sp>
      <p:sp>
        <p:nvSpPr>
          <p:cNvPr id="43" name="Shape 39"/>
          <p:cNvSpPr/>
          <p:nvPr/>
        </p:nvSpPr>
        <p:spPr>
          <a:xfrm>
            <a:off x="8990838" y="4895088"/>
            <a:ext cx="2649474" cy="1322832"/>
          </a:xfrm>
          <a:prstGeom prst="rect">
            <a:avLst/>
          </a:prstGeom>
          <a:solidFill>
            <a:srgbClr val="0A2A44"/>
          </a:solidFill>
          <a:ln w="6350">
            <a:solidFill>
              <a:srgbClr val="1E3A5C"/>
            </a:solidFill>
            <a:prstDash val="solid"/>
          </a:ln>
        </p:spPr>
        <p:txBody>
          <a:bodyPr/>
          <a:lstStyle/>
          <a:p>
            <a:endParaRPr lang="en-US"/>
          </a:p>
        </p:txBody>
      </p:sp>
      <p:sp>
        <p:nvSpPr>
          <p:cNvPr id="44" name="Text 40"/>
          <p:cNvSpPr/>
          <p:nvPr/>
        </p:nvSpPr>
        <p:spPr>
          <a:xfrm>
            <a:off x="9173718" y="5123688"/>
            <a:ext cx="2283714" cy="457200"/>
          </a:xfrm>
          <a:prstGeom prst="rect">
            <a:avLst/>
          </a:prstGeom>
          <a:noFill/>
          <a:ln/>
        </p:spPr>
        <p:txBody>
          <a:bodyPr wrap="square" lIns="0" tIns="0" rIns="0" bIns="0" rtlCol="0" anchor="ctr"/>
          <a:lstStyle/>
          <a:p>
            <a:pPr marL="0" indent="0">
              <a:buNone/>
            </a:pPr>
            <a:r>
              <a:rPr lang="en-US" sz="1600" b="1" dirty="0">
                <a:solidFill>
                  <a:srgbClr val="4FC3F7"/>
                </a:solidFill>
                <a:latin typeface="Calibri" pitchFamily="34" charset="0"/>
                <a:ea typeface="Calibri" pitchFamily="34" charset="-122"/>
                <a:cs typeface="Calibri" pitchFamily="34" charset="-120"/>
              </a:rPr>
              <a:t>Word</a:t>
            </a:r>
            <a:endParaRPr lang="en-US" sz="1600" dirty="0"/>
          </a:p>
        </p:txBody>
      </p:sp>
      <p:sp>
        <p:nvSpPr>
          <p:cNvPr id="45" name="Text 41"/>
          <p:cNvSpPr/>
          <p:nvPr/>
        </p:nvSpPr>
        <p:spPr>
          <a:xfrm>
            <a:off x="9173718" y="5608320"/>
            <a:ext cx="2283714" cy="454152"/>
          </a:xfrm>
          <a:prstGeom prst="rect">
            <a:avLst/>
          </a:prstGeom>
          <a:noFill/>
          <a:ln/>
        </p:spPr>
        <p:txBody>
          <a:bodyPr wrap="square" lIns="0" tIns="0" rIns="0" bIns="0" rtlCol="0" anchor="ctr"/>
          <a:lstStyle/>
          <a:p>
            <a:pPr marL="0" indent="0">
              <a:buNone/>
            </a:pPr>
            <a:r>
              <a:rPr lang="en-US" sz="1100" dirty="0">
                <a:solidFill>
                  <a:srgbClr val="EAF2FA"/>
                </a:solidFill>
                <a:latin typeface="Calibri" pitchFamily="34" charset="0"/>
                <a:ea typeface="Calibri" pitchFamily="34" charset="-122"/>
                <a:cs typeface="Calibri" pitchFamily="34" charset="-120"/>
              </a:rPr>
              <a:t>Document creation and iteration</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3">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2">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3"/>
          <a:stretch>
            <a:fillRect/>
          </a:stretch>
        </p:blipFill>
        <p:spPr>
          <a:xfrm>
            <a:off x="10268712" y="256032"/>
            <a:ext cx="1554480" cy="249491"/>
          </a:xfrm>
          <a:prstGeom prst="rect">
            <a:avLst/>
          </a:prstGeom>
        </p:spPr>
      </p:pic>
      <p:sp>
        <p:nvSpPr>
          <p:cNvPr id="5" name="Text 1"/>
          <p:cNvSpPr/>
          <p:nvPr/>
        </p:nvSpPr>
        <p:spPr>
          <a:xfrm>
            <a:off x="548640" y="1463040"/>
            <a:ext cx="3657600" cy="3657600"/>
          </a:xfrm>
          <a:prstGeom prst="rect">
            <a:avLst/>
          </a:prstGeom>
          <a:noFill/>
          <a:ln/>
        </p:spPr>
        <p:txBody>
          <a:bodyPr wrap="square" lIns="0" tIns="0" rIns="0" bIns="0" rtlCol="0" anchor="t"/>
          <a:lstStyle/>
          <a:p>
            <a:pPr marL="0" indent="0">
              <a:buNone/>
            </a:pPr>
            <a:endParaRPr lang="en-US" sz="28000" dirty="0"/>
          </a:p>
        </p:txBody>
      </p:sp>
      <p:sp>
        <p:nvSpPr>
          <p:cNvPr id="6" name="Shape 2"/>
          <p:cNvSpPr/>
          <p:nvPr/>
        </p:nvSpPr>
        <p:spPr>
          <a:xfrm>
            <a:off x="4937760" y="2560320"/>
            <a:ext cx="36576" cy="1828800"/>
          </a:xfrm>
          <a:prstGeom prst="rect">
            <a:avLst/>
          </a:prstGeom>
          <a:solidFill>
            <a:srgbClr val="4FC3F7"/>
          </a:solidFill>
          <a:ln w="12700">
            <a:solidFill>
              <a:srgbClr val="333333"/>
            </a:solidFill>
            <a:prstDash val="solid"/>
          </a:ln>
        </p:spPr>
        <p:txBody>
          <a:bodyPr/>
          <a:lstStyle/>
          <a:p>
            <a:endParaRPr lang="en-US"/>
          </a:p>
        </p:txBody>
      </p:sp>
      <p:sp>
        <p:nvSpPr>
          <p:cNvPr id="7" name="Text 3"/>
          <p:cNvSpPr/>
          <p:nvPr/>
        </p:nvSpPr>
        <p:spPr>
          <a:xfrm>
            <a:off x="5212080" y="2606040"/>
            <a:ext cx="6400800" cy="365760"/>
          </a:xfrm>
          <a:prstGeom prst="rect">
            <a:avLst/>
          </a:prstGeom>
          <a:noFill/>
          <a:ln/>
        </p:spPr>
        <p:txBody>
          <a:bodyPr wrap="square" lIns="0" tIns="0" rIns="0" bIns="0" rtlCol="0" anchor="ctr"/>
          <a:lstStyle/>
          <a:p>
            <a:pPr marL="0" indent="0">
              <a:buNone/>
            </a:pPr>
            <a:r>
              <a:rPr lang="en-US" sz="1600" b="1" kern="0" spc="400">
                <a:solidFill>
                  <a:srgbClr val="4FC3F7"/>
                </a:solidFill>
                <a:latin typeface="Calibri" pitchFamily="34" charset="0"/>
                <a:ea typeface="Calibri" pitchFamily="34" charset="-122"/>
                <a:cs typeface="Calibri" pitchFamily="34" charset="-120"/>
              </a:rPr>
              <a:t>FRONTIER</a:t>
            </a:r>
            <a:endParaRPr lang="en-US" sz="1600"/>
          </a:p>
        </p:txBody>
      </p:sp>
      <p:sp>
        <p:nvSpPr>
          <p:cNvPr id="8" name="Text 4"/>
          <p:cNvSpPr/>
          <p:nvPr/>
        </p:nvSpPr>
        <p:spPr>
          <a:xfrm>
            <a:off x="5212080" y="3017520"/>
            <a:ext cx="5486400" cy="914400"/>
          </a:xfrm>
          <a:prstGeom prst="rect">
            <a:avLst/>
          </a:prstGeom>
          <a:noFill/>
          <a:ln/>
        </p:spPr>
        <p:txBody>
          <a:bodyPr wrap="square" lIns="0" tIns="0" rIns="0" bIns="0" rtlCol="0" anchor="ctr"/>
          <a:lstStyle/>
          <a:p>
            <a:pPr marL="0" indent="0">
              <a:buNone/>
            </a:pPr>
            <a:r>
              <a:rPr lang="en-US" sz="4400" b="1">
                <a:solidFill>
                  <a:srgbClr val="FFFFFF"/>
                </a:solidFill>
                <a:latin typeface="Calibri" pitchFamily="34" charset="0"/>
                <a:ea typeface="Calibri" pitchFamily="34" charset="-122"/>
                <a:cs typeface="Calibri" pitchFamily="34" charset="-120"/>
              </a:rPr>
              <a:t>Frontier Program</a:t>
            </a:r>
            <a:endParaRPr lang="en-US" sz="4400"/>
          </a:p>
        </p:txBody>
      </p:sp>
      <p:sp>
        <p:nvSpPr>
          <p:cNvPr id="9" name="Text 5"/>
          <p:cNvSpPr/>
          <p:nvPr/>
        </p:nvSpPr>
        <p:spPr>
          <a:xfrm>
            <a:off x="5212080" y="4023360"/>
            <a:ext cx="5486400" cy="731520"/>
          </a:xfrm>
          <a:prstGeom prst="rect">
            <a:avLst/>
          </a:prstGeom>
          <a:noFill/>
          <a:ln/>
        </p:spPr>
        <p:txBody>
          <a:bodyPr wrap="square" lIns="0" tIns="0" rIns="0" bIns="0" rtlCol="0" anchor="ctr"/>
          <a:lstStyle/>
          <a:p>
            <a:pPr marL="0" indent="0">
              <a:buNone/>
            </a:pPr>
            <a:r>
              <a:rPr lang="en-US" sz="1700" i="1">
                <a:solidFill>
                  <a:srgbClr val="EAF2FA"/>
                </a:solidFill>
                <a:latin typeface="Calibri" pitchFamily="34" charset="0"/>
                <a:ea typeface="Calibri" pitchFamily="34" charset="-122"/>
                <a:cs typeface="Calibri" pitchFamily="34" charset="-120"/>
              </a:rPr>
              <a:t>Early access to the latest Copilot features before general availability</a:t>
            </a:r>
            <a:endParaRPr lang="en-US" sz="1700"/>
          </a:p>
        </p:txBody>
      </p:sp>
      <p:sp>
        <p:nvSpPr>
          <p:cNvPr id="10" name="Text 6"/>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a:solidFill>
                  <a:srgbClr val="8FA8C2"/>
                </a:solidFill>
                <a:latin typeface="Calibri" pitchFamily="34" charset="0"/>
                <a:ea typeface="Calibri" pitchFamily="34" charset="-122"/>
                <a:cs typeface="Calibri" pitchFamily="34" charset="-120"/>
              </a:rPr>
              <a:t>28 / 42</a:t>
            </a:r>
            <a:endParaRPr lang="en-US" sz="900"/>
          </a:p>
        </p:txBody>
      </p:sp>
      <p:pic>
        <p:nvPicPr>
          <p:cNvPr id="12" name="Picture 11">
            <a:extLst>
              <a:ext uri="{FF2B5EF4-FFF2-40B4-BE49-F238E27FC236}">
                <a16:creationId xmlns:a16="http://schemas.microsoft.com/office/drawing/2014/main" id="{833E783A-F157-4286-8A3E-4D07AA11A168}"/>
              </a:ext>
            </a:extLst>
          </p:cNvPr>
          <p:cNvPicPr>
            <a:picLocks noChangeAspect="1"/>
          </p:cNvPicPr>
          <p:nvPr/>
        </p:nvPicPr>
        <p:blipFill>
          <a:blip r:embed="rId4"/>
          <a:stretch>
            <a:fillRect/>
          </a:stretch>
        </p:blipFill>
        <p:spPr>
          <a:xfrm>
            <a:off x="667512" y="1737360"/>
            <a:ext cx="3657600" cy="36576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2">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3"/>
          <a:stretch>
            <a:fillRect/>
          </a:stretch>
        </p:blipFill>
        <p:spPr>
          <a:xfrm>
            <a:off x="10268712" y="256032"/>
            <a:ext cx="1554480" cy="249491"/>
          </a:xfrm>
          <a:prstGeom prst="rect">
            <a:avLst/>
          </a:prstGeom>
        </p:spPr>
      </p:pic>
      <p:sp>
        <p:nvSpPr>
          <p:cNvPr id="5" name="Text 1"/>
          <p:cNvSpPr/>
          <p:nvPr/>
        </p:nvSpPr>
        <p:spPr>
          <a:xfrm>
            <a:off x="548640" y="457200"/>
            <a:ext cx="10058400" cy="640080"/>
          </a:xfrm>
          <a:prstGeom prst="rect">
            <a:avLst/>
          </a:prstGeom>
          <a:noFill/>
          <a:ln/>
        </p:spPr>
        <p:txBody>
          <a:bodyPr wrap="square" lIns="0" tIns="0" rIns="0" bIns="0" rtlCol="0" anchor="ctr"/>
          <a:lstStyle/>
          <a:p>
            <a:pPr marL="0" indent="0">
              <a:buNone/>
            </a:pPr>
            <a:r>
              <a:rPr lang="en-US" sz="3200" b="1">
                <a:solidFill>
                  <a:srgbClr val="FFFFFF"/>
                </a:solidFill>
                <a:latin typeface="Calibri" pitchFamily="34" charset="0"/>
                <a:ea typeface="Calibri" pitchFamily="34" charset="-122"/>
                <a:cs typeface="Calibri" pitchFamily="34" charset="-120"/>
              </a:rPr>
              <a:t>Copilot Cowork</a:t>
            </a:r>
            <a:endParaRPr lang="en-US" sz="3200"/>
          </a:p>
        </p:txBody>
      </p:sp>
      <p:sp>
        <p:nvSpPr>
          <p:cNvPr id="6" name="Shape 2"/>
          <p:cNvSpPr/>
          <p:nvPr/>
        </p:nvSpPr>
        <p:spPr>
          <a:xfrm>
            <a:off x="548640" y="1097280"/>
            <a:ext cx="1280160" cy="64008"/>
          </a:xfrm>
          <a:prstGeom prst="rect">
            <a:avLst/>
          </a:prstGeom>
          <a:solidFill>
            <a:srgbClr val="FFB81C"/>
          </a:solidFill>
          <a:ln w="12700">
            <a:solidFill>
              <a:srgbClr val="FFB81C"/>
            </a:solidFill>
            <a:prstDash val="solid"/>
          </a:ln>
        </p:spPr>
        <p:txBody>
          <a:bodyPr/>
          <a:lstStyle/>
          <a:p>
            <a:endParaRPr lang="en-US"/>
          </a:p>
        </p:txBody>
      </p:sp>
      <p:sp>
        <p:nvSpPr>
          <p:cNvPr id="7" name="Shape 3"/>
          <p:cNvSpPr/>
          <p:nvPr/>
        </p:nvSpPr>
        <p:spPr>
          <a:xfrm>
            <a:off x="1920240" y="1097280"/>
            <a:ext cx="640080" cy="64008"/>
          </a:xfrm>
          <a:prstGeom prst="rect">
            <a:avLst/>
          </a:prstGeom>
          <a:solidFill>
            <a:srgbClr val="4FC3F7"/>
          </a:solidFill>
          <a:ln w="12700">
            <a:solidFill>
              <a:srgbClr val="4FC3F7"/>
            </a:solidFill>
            <a:prstDash val="solid"/>
          </a:ln>
        </p:spPr>
        <p:txBody>
          <a:bodyPr/>
          <a:lstStyle/>
          <a:p>
            <a:endParaRPr lang="en-US"/>
          </a:p>
        </p:txBody>
      </p:sp>
      <p:sp>
        <p:nvSpPr>
          <p:cNvPr id="8" name="Text 4"/>
          <p:cNvSpPr/>
          <p:nvPr/>
        </p:nvSpPr>
        <p:spPr>
          <a:xfrm>
            <a:off x="548640" y="1325880"/>
            <a:ext cx="10972800" cy="411480"/>
          </a:xfrm>
          <a:prstGeom prst="rect">
            <a:avLst/>
          </a:prstGeom>
          <a:noFill/>
          <a:ln/>
        </p:spPr>
        <p:txBody>
          <a:bodyPr wrap="square" lIns="0" tIns="0" rIns="0" bIns="0" rtlCol="0" anchor="ctr"/>
          <a:lstStyle/>
          <a:p>
            <a:pPr marL="0" indent="0">
              <a:buNone/>
            </a:pPr>
            <a:r>
              <a:rPr lang="en-US" sz="1400" i="1">
                <a:solidFill>
                  <a:srgbClr val="EAF2FA"/>
                </a:solidFill>
                <a:latin typeface="Calibri" pitchFamily="34" charset="0"/>
                <a:ea typeface="Calibri" pitchFamily="34" charset="-122"/>
                <a:cs typeface="Calibri" pitchFamily="34" charset="-120"/>
              </a:rPr>
              <a:t>Delegate real work to Copilot and get results, not just answers</a:t>
            </a:r>
            <a:endParaRPr lang="en-US" sz="1400"/>
          </a:p>
        </p:txBody>
      </p:sp>
      <p:sp>
        <p:nvSpPr>
          <p:cNvPr id="9" name="Text 5"/>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a:solidFill>
                  <a:srgbClr val="8FA8C2"/>
                </a:solidFill>
                <a:latin typeface="Calibri" pitchFamily="34" charset="0"/>
                <a:ea typeface="Calibri" pitchFamily="34" charset="-122"/>
                <a:cs typeface="Calibri" pitchFamily="34" charset="-120"/>
              </a:rPr>
              <a:t>30 / 41</a:t>
            </a:r>
            <a:endParaRPr lang="en-US" sz="900"/>
          </a:p>
        </p:txBody>
      </p:sp>
      <p:sp>
        <p:nvSpPr>
          <p:cNvPr id="10" name="Shape 6"/>
          <p:cNvSpPr/>
          <p:nvPr/>
        </p:nvSpPr>
        <p:spPr>
          <a:xfrm>
            <a:off x="548640" y="1920240"/>
            <a:ext cx="5029200" cy="4297680"/>
          </a:xfrm>
          <a:prstGeom prst="rect">
            <a:avLst/>
          </a:prstGeom>
          <a:solidFill>
            <a:srgbClr val="0A2A44"/>
          </a:solidFill>
          <a:ln w="6350">
            <a:solidFill>
              <a:srgbClr val="1E3A5C"/>
            </a:solidFill>
            <a:prstDash val="solid"/>
          </a:ln>
        </p:spPr>
        <p:txBody>
          <a:bodyPr/>
          <a:lstStyle/>
          <a:p>
            <a:endParaRPr lang="en-US"/>
          </a:p>
        </p:txBody>
      </p:sp>
      <p:sp>
        <p:nvSpPr>
          <p:cNvPr id="11" name="Text 7"/>
          <p:cNvSpPr/>
          <p:nvPr/>
        </p:nvSpPr>
        <p:spPr>
          <a:xfrm>
            <a:off x="868680" y="2286000"/>
            <a:ext cx="4572000" cy="914400"/>
          </a:xfrm>
          <a:prstGeom prst="rect">
            <a:avLst/>
          </a:prstGeom>
          <a:noFill/>
          <a:ln/>
        </p:spPr>
        <p:txBody>
          <a:bodyPr wrap="square" lIns="0" tIns="0" rIns="0" bIns="0" rtlCol="0" anchor="ctr"/>
          <a:lstStyle/>
          <a:p>
            <a:pPr marL="0" indent="0">
              <a:buNone/>
            </a:pPr>
            <a:r>
              <a:rPr lang="en-US" sz="4400" b="1">
                <a:solidFill>
                  <a:srgbClr val="FFB81C"/>
                </a:solidFill>
                <a:latin typeface="Calibri" pitchFamily="34" charset="0"/>
                <a:ea typeface="Calibri" pitchFamily="34" charset="-122"/>
                <a:cs typeface="Calibri" pitchFamily="34" charset="-120"/>
              </a:rPr>
              <a:t>Delegate</a:t>
            </a:r>
            <a:endParaRPr lang="en-US" sz="4400"/>
          </a:p>
        </p:txBody>
      </p:sp>
      <p:sp>
        <p:nvSpPr>
          <p:cNvPr id="12" name="Text 8"/>
          <p:cNvSpPr/>
          <p:nvPr/>
        </p:nvSpPr>
        <p:spPr>
          <a:xfrm>
            <a:off x="868680" y="3246120"/>
            <a:ext cx="4572000" cy="457200"/>
          </a:xfrm>
          <a:prstGeom prst="rect">
            <a:avLst/>
          </a:prstGeom>
          <a:noFill/>
          <a:ln/>
        </p:spPr>
        <p:txBody>
          <a:bodyPr wrap="square" lIns="0" tIns="0" rIns="0" bIns="0" rtlCol="0" anchor="ctr"/>
          <a:lstStyle/>
          <a:p>
            <a:pPr marL="0" indent="0">
              <a:buNone/>
            </a:pPr>
            <a:r>
              <a:rPr lang="en-US" sz="2200" i="1">
                <a:solidFill>
                  <a:srgbClr val="FFFFFF"/>
                </a:solidFill>
                <a:latin typeface="Calibri" pitchFamily="34" charset="0"/>
                <a:ea typeface="Calibri" pitchFamily="34" charset="-122"/>
                <a:cs typeface="Calibri" pitchFamily="34" charset="-120"/>
              </a:rPr>
              <a:t>entire tasks and take action</a:t>
            </a:r>
            <a:endParaRPr lang="en-US" sz="2200"/>
          </a:p>
        </p:txBody>
      </p:sp>
      <p:sp>
        <p:nvSpPr>
          <p:cNvPr id="13" name="Text 9"/>
          <p:cNvSpPr/>
          <p:nvPr/>
        </p:nvSpPr>
        <p:spPr>
          <a:xfrm>
            <a:off x="868680" y="4023360"/>
            <a:ext cx="4572000" cy="1645920"/>
          </a:xfrm>
          <a:prstGeom prst="rect">
            <a:avLst/>
          </a:prstGeom>
          <a:noFill/>
          <a:ln/>
        </p:spPr>
        <p:txBody>
          <a:bodyPr wrap="square" lIns="0" tIns="0" rIns="0" bIns="0" rtlCol="0" anchor="ctr"/>
          <a:lstStyle/>
          <a:p>
            <a:pPr marL="0" indent="0">
              <a:buNone/>
            </a:pPr>
            <a:r>
              <a:rPr lang="en-US" sz="1400">
                <a:solidFill>
                  <a:srgbClr val="EAF2FA"/>
                </a:solidFill>
                <a:latin typeface="Calibri" pitchFamily="34" charset="0"/>
                <a:ea typeface="Calibri" pitchFamily="34" charset="-122"/>
                <a:cs typeface="Calibri" pitchFamily="34" charset="-120"/>
              </a:rPr>
              <a:t>Cowork goes beyond chat. Describe an outcome and it plans, executes, and delivers real work across your Microsoft 365 environment.</a:t>
            </a:r>
            <a:endParaRPr lang="en-US" sz="1400"/>
          </a:p>
        </p:txBody>
      </p:sp>
      <p:sp>
        <p:nvSpPr>
          <p:cNvPr id="14" name="Shape 10"/>
          <p:cNvSpPr/>
          <p:nvPr/>
        </p:nvSpPr>
        <p:spPr>
          <a:xfrm>
            <a:off x="5852160" y="1920240"/>
            <a:ext cx="5788152" cy="1325880"/>
          </a:xfrm>
          <a:prstGeom prst="rect">
            <a:avLst/>
          </a:prstGeom>
          <a:solidFill>
            <a:srgbClr val="153A5C"/>
          </a:solidFill>
          <a:ln w="6350">
            <a:solidFill>
              <a:srgbClr val="1E3A5C"/>
            </a:solidFill>
            <a:prstDash val="solid"/>
          </a:ln>
        </p:spPr>
        <p:txBody>
          <a:bodyPr/>
          <a:lstStyle/>
          <a:p>
            <a:endParaRPr lang="en-US"/>
          </a:p>
        </p:txBody>
      </p:sp>
      <p:sp>
        <p:nvSpPr>
          <p:cNvPr id="15" name="Shape 11"/>
          <p:cNvSpPr/>
          <p:nvPr/>
        </p:nvSpPr>
        <p:spPr>
          <a:xfrm>
            <a:off x="5852160" y="1920240"/>
            <a:ext cx="91440" cy="1325880"/>
          </a:xfrm>
          <a:prstGeom prst="rect">
            <a:avLst/>
          </a:prstGeom>
          <a:solidFill>
            <a:srgbClr val="FFB81C"/>
          </a:solidFill>
          <a:ln w="12700">
            <a:solidFill>
              <a:srgbClr val="333333"/>
            </a:solidFill>
            <a:prstDash val="solid"/>
          </a:ln>
        </p:spPr>
        <p:txBody>
          <a:bodyPr/>
          <a:lstStyle/>
          <a:p>
            <a:endParaRPr lang="en-US"/>
          </a:p>
        </p:txBody>
      </p:sp>
      <p:sp>
        <p:nvSpPr>
          <p:cNvPr id="16" name="Text 12"/>
          <p:cNvSpPr/>
          <p:nvPr/>
        </p:nvSpPr>
        <p:spPr>
          <a:xfrm>
            <a:off x="6217920" y="2103120"/>
            <a:ext cx="5239512" cy="457200"/>
          </a:xfrm>
          <a:prstGeom prst="rect">
            <a:avLst/>
          </a:prstGeom>
          <a:noFill/>
          <a:ln/>
        </p:spPr>
        <p:txBody>
          <a:bodyPr wrap="square" lIns="0" tIns="0" rIns="0" bIns="0" rtlCol="0" anchor="ctr"/>
          <a:lstStyle/>
          <a:p>
            <a:pPr marL="0" indent="0">
              <a:buNone/>
            </a:pPr>
            <a:r>
              <a:rPr lang="en-US" sz="1600" b="1">
                <a:solidFill>
                  <a:srgbClr val="FFFFFF"/>
                </a:solidFill>
                <a:latin typeface="Calibri" pitchFamily="34" charset="0"/>
                <a:ea typeface="Calibri" pitchFamily="34" charset="-122"/>
                <a:cs typeface="Calibri" pitchFamily="34" charset="-120"/>
              </a:rPr>
              <a:t>Describe the outcome</a:t>
            </a:r>
            <a:endParaRPr lang="en-US" sz="1600"/>
          </a:p>
        </p:txBody>
      </p:sp>
      <p:sp>
        <p:nvSpPr>
          <p:cNvPr id="17" name="Text 13"/>
          <p:cNvSpPr/>
          <p:nvPr/>
        </p:nvSpPr>
        <p:spPr>
          <a:xfrm>
            <a:off x="6217920" y="2560320"/>
            <a:ext cx="5239512" cy="548640"/>
          </a:xfrm>
          <a:prstGeom prst="rect">
            <a:avLst/>
          </a:prstGeom>
          <a:noFill/>
          <a:ln/>
        </p:spPr>
        <p:txBody>
          <a:bodyPr wrap="square" lIns="0" tIns="0" rIns="0" bIns="0" rtlCol="0" anchor="ctr"/>
          <a:lstStyle/>
          <a:p>
            <a:pPr marL="0" indent="0">
              <a:buNone/>
            </a:pPr>
            <a:r>
              <a:rPr lang="en-US" sz="1200">
                <a:solidFill>
                  <a:srgbClr val="EAF2FA"/>
                </a:solidFill>
                <a:latin typeface="Calibri" pitchFamily="34" charset="0"/>
                <a:ea typeface="Calibri" pitchFamily="34" charset="-122"/>
                <a:cs typeface="Calibri" pitchFamily="34" charset="-120"/>
              </a:rPr>
              <a:t>Tell Cowork what you need in plain language. It builds a plan, executes across your apps, and checks in along the way.</a:t>
            </a:r>
            <a:endParaRPr lang="en-US" sz="1200"/>
          </a:p>
        </p:txBody>
      </p:sp>
      <p:sp>
        <p:nvSpPr>
          <p:cNvPr id="18" name="Shape 14"/>
          <p:cNvSpPr/>
          <p:nvPr/>
        </p:nvSpPr>
        <p:spPr>
          <a:xfrm>
            <a:off x="5852160" y="3383280"/>
            <a:ext cx="5788152" cy="1325880"/>
          </a:xfrm>
          <a:prstGeom prst="rect">
            <a:avLst/>
          </a:prstGeom>
          <a:solidFill>
            <a:srgbClr val="153A5C"/>
          </a:solidFill>
          <a:ln w="6350">
            <a:solidFill>
              <a:srgbClr val="1E3A5C"/>
            </a:solidFill>
            <a:prstDash val="solid"/>
          </a:ln>
        </p:spPr>
        <p:txBody>
          <a:bodyPr/>
          <a:lstStyle/>
          <a:p>
            <a:endParaRPr lang="en-US"/>
          </a:p>
        </p:txBody>
      </p:sp>
      <p:sp>
        <p:nvSpPr>
          <p:cNvPr id="19" name="Shape 15"/>
          <p:cNvSpPr/>
          <p:nvPr/>
        </p:nvSpPr>
        <p:spPr>
          <a:xfrm>
            <a:off x="5852160" y="3383280"/>
            <a:ext cx="91440" cy="1325880"/>
          </a:xfrm>
          <a:prstGeom prst="rect">
            <a:avLst/>
          </a:prstGeom>
          <a:solidFill>
            <a:srgbClr val="4FC3F7"/>
          </a:solidFill>
          <a:ln w="12700">
            <a:solidFill>
              <a:srgbClr val="333333"/>
            </a:solidFill>
            <a:prstDash val="solid"/>
          </a:ln>
        </p:spPr>
        <p:txBody>
          <a:bodyPr/>
          <a:lstStyle/>
          <a:p>
            <a:endParaRPr lang="en-US"/>
          </a:p>
        </p:txBody>
      </p:sp>
      <p:sp>
        <p:nvSpPr>
          <p:cNvPr id="20" name="Text 16"/>
          <p:cNvSpPr/>
          <p:nvPr/>
        </p:nvSpPr>
        <p:spPr>
          <a:xfrm>
            <a:off x="6217920" y="3566160"/>
            <a:ext cx="5239512" cy="457200"/>
          </a:xfrm>
          <a:prstGeom prst="rect">
            <a:avLst/>
          </a:prstGeom>
          <a:noFill/>
          <a:ln/>
        </p:spPr>
        <p:txBody>
          <a:bodyPr wrap="square" lIns="0" tIns="0" rIns="0" bIns="0" rtlCol="0" anchor="ctr"/>
          <a:lstStyle/>
          <a:p>
            <a:pPr marL="0" indent="0">
              <a:buNone/>
            </a:pPr>
            <a:r>
              <a:rPr lang="en-US" sz="1600" b="1">
                <a:solidFill>
                  <a:srgbClr val="FFFFFF"/>
                </a:solidFill>
                <a:latin typeface="Calibri" pitchFamily="34" charset="0"/>
                <a:ea typeface="Calibri" pitchFamily="34" charset="-122"/>
                <a:cs typeface="Calibri" pitchFamily="34" charset="-120"/>
              </a:rPr>
              <a:t>Works across M365</a:t>
            </a:r>
            <a:endParaRPr lang="en-US" sz="1600"/>
          </a:p>
        </p:txBody>
      </p:sp>
      <p:sp>
        <p:nvSpPr>
          <p:cNvPr id="21" name="Text 17"/>
          <p:cNvSpPr/>
          <p:nvPr/>
        </p:nvSpPr>
        <p:spPr>
          <a:xfrm>
            <a:off x="6217920" y="4023360"/>
            <a:ext cx="5239512" cy="548640"/>
          </a:xfrm>
          <a:prstGeom prst="rect">
            <a:avLst/>
          </a:prstGeom>
          <a:noFill/>
          <a:ln/>
        </p:spPr>
        <p:txBody>
          <a:bodyPr wrap="square" lIns="0" tIns="0" rIns="0" bIns="0" rtlCol="0" anchor="ctr"/>
          <a:lstStyle/>
          <a:p>
            <a:pPr marL="0" indent="0">
              <a:buNone/>
            </a:pPr>
            <a:r>
              <a:rPr lang="en-US" sz="1200">
                <a:solidFill>
                  <a:srgbClr val="EAF2FA"/>
                </a:solidFill>
                <a:latin typeface="Calibri" pitchFamily="34" charset="0"/>
                <a:ea typeface="Calibri" pitchFamily="34" charset="-122"/>
                <a:cs typeface="Calibri" pitchFamily="34" charset="-120"/>
              </a:rPr>
              <a:t>Powered by Work IQ, Cowork draws on signals from Outlook, Teams, Excel and SharePoint to act with full context.</a:t>
            </a:r>
            <a:endParaRPr lang="en-US" sz="1200"/>
          </a:p>
        </p:txBody>
      </p:sp>
      <p:sp>
        <p:nvSpPr>
          <p:cNvPr id="22" name="Shape 18"/>
          <p:cNvSpPr/>
          <p:nvPr/>
        </p:nvSpPr>
        <p:spPr>
          <a:xfrm>
            <a:off x="5852160" y="4846320"/>
            <a:ext cx="5788152" cy="1325880"/>
          </a:xfrm>
          <a:prstGeom prst="rect">
            <a:avLst/>
          </a:prstGeom>
          <a:solidFill>
            <a:srgbClr val="153A5C"/>
          </a:solidFill>
          <a:ln w="6350">
            <a:solidFill>
              <a:srgbClr val="1E3A5C"/>
            </a:solidFill>
            <a:prstDash val="solid"/>
          </a:ln>
        </p:spPr>
        <p:txBody>
          <a:bodyPr/>
          <a:lstStyle/>
          <a:p>
            <a:endParaRPr lang="en-US"/>
          </a:p>
        </p:txBody>
      </p:sp>
      <p:sp>
        <p:nvSpPr>
          <p:cNvPr id="23" name="Shape 19"/>
          <p:cNvSpPr/>
          <p:nvPr/>
        </p:nvSpPr>
        <p:spPr>
          <a:xfrm>
            <a:off x="5852160" y="4846320"/>
            <a:ext cx="91440" cy="1325880"/>
          </a:xfrm>
          <a:prstGeom prst="rect">
            <a:avLst/>
          </a:prstGeom>
          <a:solidFill>
            <a:srgbClr val="FFB81C"/>
          </a:solidFill>
          <a:ln w="12700">
            <a:solidFill>
              <a:srgbClr val="333333"/>
            </a:solidFill>
            <a:prstDash val="solid"/>
          </a:ln>
        </p:spPr>
        <p:txBody>
          <a:bodyPr/>
          <a:lstStyle/>
          <a:p>
            <a:endParaRPr lang="en-US"/>
          </a:p>
        </p:txBody>
      </p:sp>
      <p:sp>
        <p:nvSpPr>
          <p:cNvPr id="24" name="Text 20"/>
          <p:cNvSpPr/>
          <p:nvPr/>
        </p:nvSpPr>
        <p:spPr>
          <a:xfrm>
            <a:off x="6217920" y="5029200"/>
            <a:ext cx="5239512" cy="457200"/>
          </a:xfrm>
          <a:prstGeom prst="rect">
            <a:avLst/>
          </a:prstGeom>
          <a:noFill/>
          <a:ln/>
        </p:spPr>
        <p:txBody>
          <a:bodyPr wrap="square" lIns="0" tIns="0" rIns="0" bIns="0" rtlCol="0" anchor="ctr"/>
          <a:lstStyle/>
          <a:p>
            <a:pPr marL="0" indent="0">
              <a:buNone/>
            </a:pPr>
            <a:r>
              <a:rPr lang="en-US" sz="1600" b="1">
                <a:solidFill>
                  <a:srgbClr val="FFFFFF"/>
                </a:solidFill>
                <a:latin typeface="Calibri" pitchFamily="34" charset="0"/>
                <a:ea typeface="Calibri" pitchFamily="34" charset="-122"/>
                <a:cs typeface="Calibri" pitchFamily="34" charset="-120"/>
              </a:rPr>
              <a:t>You stay in control</a:t>
            </a:r>
            <a:endParaRPr lang="en-US" sz="1600"/>
          </a:p>
        </p:txBody>
      </p:sp>
      <p:sp>
        <p:nvSpPr>
          <p:cNvPr id="25" name="Text 21"/>
          <p:cNvSpPr/>
          <p:nvPr/>
        </p:nvSpPr>
        <p:spPr>
          <a:xfrm>
            <a:off x="6217920" y="5486400"/>
            <a:ext cx="5239512" cy="548640"/>
          </a:xfrm>
          <a:prstGeom prst="rect">
            <a:avLst/>
          </a:prstGeom>
          <a:noFill/>
          <a:ln/>
        </p:spPr>
        <p:txBody>
          <a:bodyPr wrap="square" lIns="0" tIns="0" rIns="0" bIns="0" rtlCol="0" anchor="ctr"/>
          <a:lstStyle/>
          <a:p>
            <a:pPr marL="0" indent="0">
              <a:buNone/>
            </a:pPr>
            <a:r>
              <a:rPr lang="en-US" sz="1200">
                <a:solidFill>
                  <a:srgbClr val="EAF2FA"/>
                </a:solidFill>
                <a:latin typeface="Calibri" pitchFamily="34" charset="0"/>
                <a:ea typeface="Calibri" pitchFamily="34" charset="-122"/>
                <a:cs typeface="Calibri" pitchFamily="34" charset="-120"/>
              </a:rPr>
              <a:t>Clear checkpoints let you confirm progress, steer direction, or approve actions before anything is sent or changed.</a:t>
            </a:r>
            <a:endParaRPr lang="en-US" sz="12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App Builder</a:t>
            </a:r>
            <a:endParaRPr lang="en-US" sz="3200" dirty="0"/>
          </a:p>
        </p:txBody>
      </p:sp>
      <p:sp>
        <p:nvSpPr>
          <p:cNvPr id="6" name="Shape 2"/>
          <p:cNvSpPr/>
          <p:nvPr/>
        </p:nvSpPr>
        <p:spPr>
          <a:xfrm>
            <a:off x="548640" y="1097280"/>
            <a:ext cx="1280160" cy="64008"/>
          </a:xfrm>
          <a:prstGeom prst="rect">
            <a:avLst/>
          </a:prstGeom>
          <a:solidFill>
            <a:srgbClr val="FFB81C"/>
          </a:solidFill>
          <a:ln w="12700">
            <a:solidFill>
              <a:srgbClr val="FFB81C"/>
            </a:solidFill>
            <a:prstDash val="solid"/>
          </a:ln>
        </p:spPr>
        <p:txBody>
          <a:bodyPr/>
          <a:lstStyle/>
          <a:p>
            <a:endParaRPr lang="en-US"/>
          </a:p>
        </p:txBody>
      </p:sp>
      <p:sp>
        <p:nvSpPr>
          <p:cNvPr id="7" name="Shape 3"/>
          <p:cNvSpPr/>
          <p:nvPr/>
        </p:nvSpPr>
        <p:spPr>
          <a:xfrm>
            <a:off x="1920240" y="1097280"/>
            <a:ext cx="640080" cy="64008"/>
          </a:xfrm>
          <a:prstGeom prst="rect">
            <a:avLst/>
          </a:prstGeom>
          <a:solidFill>
            <a:srgbClr val="4FC3F7"/>
          </a:solidFill>
          <a:ln w="12700">
            <a:solidFill>
              <a:srgbClr val="4FC3F7"/>
            </a:solidFill>
            <a:prstDash val="solid"/>
          </a:ln>
        </p:spPr>
        <p:txBody>
          <a:bodyPr/>
          <a:lstStyle/>
          <a:p>
            <a:endParaRPr lang="en-US"/>
          </a:p>
        </p:txBody>
      </p:sp>
      <p:sp>
        <p:nvSpPr>
          <p:cNvPr id="8" name="Text 4"/>
          <p:cNvSpPr/>
          <p:nvPr/>
        </p:nvSpPr>
        <p:spPr>
          <a:xfrm>
            <a:off x="548640" y="1325880"/>
            <a:ext cx="10972800" cy="411480"/>
          </a:xfrm>
          <a:prstGeom prst="rect">
            <a:avLst/>
          </a:prstGeom>
          <a:noFill/>
          <a:ln/>
        </p:spPr>
        <p:txBody>
          <a:bodyPr wrap="square" lIns="0" tIns="0" rIns="0" bIns="0" rtlCol="0" anchor="ctr"/>
          <a:lstStyle/>
          <a:p>
            <a:pPr marL="0" indent="0">
              <a:buNone/>
            </a:pPr>
            <a:r>
              <a:rPr lang="en-US" sz="1400" i="1" dirty="0">
                <a:solidFill>
                  <a:srgbClr val="EAF2FA"/>
                </a:solidFill>
                <a:latin typeface="Calibri" pitchFamily="34" charset="0"/>
                <a:ea typeface="Calibri" pitchFamily="34" charset="-122"/>
                <a:cs typeface="Calibri" pitchFamily="34" charset="-120"/>
              </a:rPr>
              <a:t>Empower people to build the apps they need, when they need them</a:t>
            </a:r>
            <a:endParaRPr lang="en-US" sz="1400" dirty="0"/>
          </a:p>
        </p:txBody>
      </p:sp>
      <p:sp>
        <p:nvSpPr>
          <p:cNvPr id="9" name="Text 5"/>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29 / 40</a:t>
            </a:r>
            <a:endParaRPr lang="en-US" sz="900" dirty="0"/>
          </a:p>
        </p:txBody>
      </p:sp>
      <p:sp>
        <p:nvSpPr>
          <p:cNvPr id="10" name="Shape 6"/>
          <p:cNvSpPr/>
          <p:nvPr/>
        </p:nvSpPr>
        <p:spPr>
          <a:xfrm>
            <a:off x="548640" y="1920240"/>
            <a:ext cx="5029200" cy="4297680"/>
          </a:xfrm>
          <a:prstGeom prst="rect">
            <a:avLst/>
          </a:prstGeom>
          <a:solidFill>
            <a:srgbClr val="0A2A44"/>
          </a:solidFill>
          <a:ln w="6350">
            <a:solidFill>
              <a:srgbClr val="1E3A5C"/>
            </a:solidFill>
            <a:prstDash val="solid"/>
          </a:ln>
        </p:spPr>
        <p:txBody>
          <a:bodyPr/>
          <a:lstStyle/>
          <a:p>
            <a:endParaRPr lang="en-US"/>
          </a:p>
        </p:txBody>
      </p:sp>
      <p:sp>
        <p:nvSpPr>
          <p:cNvPr id="11" name="Text 7"/>
          <p:cNvSpPr/>
          <p:nvPr/>
        </p:nvSpPr>
        <p:spPr>
          <a:xfrm>
            <a:off x="868680" y="2286000"/>
            <a:ext cx="4572000" cy="914400"/>
          </a:xfrm>
          <a:prstGeom prst="rect">
            <a:avLst/>
          </a:prstGeom>
          <a:noFill/>
          <a:ln/>
        </p:spPr>
        <p:txBody>
          <a:bodyPr wrap="square" lIns="0" tIns="0" rIns="0" bIns="0" rtlCol="0" anchor="ctr"/>
          <a:lstStyle/>
          <a:p>
            <a:pPr marL="0" indent="0">
              <a:buNone/>
            </a:pPr>
            <a:r>
              <a:rPr lang="en-US" sz="5600" b="1" dirty="0">
                <a:solidFill>
                  <a:srgbClr val="FFB81C"/>
                </a:solidFill>
                <a:latin typeface="Calibri" pitchFamily="34" charset="0"/>
                <a:ea typeface="Calibri" pitchFamily="34" charset="-122"/>
                <a:cs typeface="Calibri" pitchFamily="34" charset="-120"/>
              </a:rPr>
              <a:t>No-code</a:t>
            </a:r>
            <a:endParaRPr lang="en-US" sz="5600" dirty="0"/>
          </a:p>
        </p:txBody>
      </p:sp>
      <p:sp>
        <p:nvSpPr>
          <p:cNvPr id="12" name="Text 8"/>
          <p:cNvSpPr/>
          <p:nvPr/>
        </p:nvSpPr>
        <p:spPr>
          <a:xfrm>
            <a:off x="868680" y="3246120"/>
            <a:ext cx="4572000" cy="457200"/>
          </a:xfrm>
          <a:prstGeom prst="rect">
            <a:avLst/>
          </a:prstGeom>
          <a:noFill/>
          <a:ln/>
        </p:spPr>
        <p:txBody>
          <a:bodyPr wrap="square" lIns="0" tIns="0" rIns="0" bIns="0" rtlCol="0" anchor="ctr"/>
          <a:lstStyle/>
          <a:p>
            <a:pPr marL="0" indent="0">
              <a:buNone/>
            </a:pPr>
            <a:r>
              <a:rPr lang="en-US" sz="2200" i="1" dirty="0">
                <a:solidFill>
                  <a:srgbClr val="FFFFFF"/>
                </a:solidFill>
                <a:latin typeface="Calibri" pitchFamily="34" charset="0"/>
                <a:ea typeface="Calibri" pitchFamily="34" charset="-122"/>
                <a:cs typeface="Calibri" pitchFamily="34" charset="-120"/>
              </a:rPr>
              <a:t>apps in minutes</a:t>
            </a:r>
            <a:endParaRPr lang="en-US" sz="2200" dirty="0"/>
          </a:p>
        </p:txBody>
      </p:sp>
      <p:sp>
        <p:nvSpPr>
          <p:cNvPr id="13" name="Text 9"/>
          <p:cNvSpPr/>
          <p:nvPr/>
        </p:nvSpPr>
        <p:spPr>
          <a:xfrm>
            <a:off x="868680" y="4023360"/>
            <a:ext cx="4572000" cy="164592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Describe what you want in plain language. App Builder generates an interactive app you can share like a document.</a:t>
            </a:r>
            <a:endParaRPr lang="en-US" sz="1400" dirty="0"/>
          </a:p>
        </p:txBody>
      </p:sp>
      <p:sp>
        <p:nvSpPr>
          <p:cNvPr id="14" name="Shape 10"/>
          <p:cNvSpPr/>
          <p:nvPr/>
        </p:nvSpPr>
        <p:spPr>
          <a:xfrm>
            <a:off x="5852160" y="1920240"/>
            <a:ext cx="5788152" cy="1325880"/>
          </a:xfrm>
          <a:prstGeom prst="rect">
            <a:avLst/>
          </a:prstGeom>
          <a:solidFill>
            <a:srgbClr val="153A5C"/>
          </a:solidFill>
          <a:ln w="6350">
            <a:solidFill>
              <a:srgbClr val="1E3A5C"/>
            </a:solidFill>
            <a:prstDash val="solid"/>
          </a:ln>
        </p:spPr>
        <p:txBody>
          <a:bodyPr/>
          <a:lstStyle/>
          <a:p>
            <a:endParaRPr lang="en-US"/>
          </a:p>
        </p:txBody>
      </p:sp>
      <p:sp>
        <p:nvSpPr>
          <p:cNvPr id="15" name="Shape 11"/>
          <p:cNvSpPr/>
          <p:nvPr/>
        </p:nvSpPr>
        <p:spPr>
          <a:xfrm>
            <a:off x="5852160" y="1920240"/>
            <a:ext cx="91440" cy="1325880"/>
          </a:xfrm>
          <a:prstGeom prst="rect">
            <a:avLst/>
          </a:prstGeom>
          <a:solidFill>
            <a:srgbClr val="FFB81C"/>
          </a:solidFill>
          <a:ln w="12700">
            <a:solidFill>
              <a:srgbClr val="333333"/>
            </a:solidFill>
            <a:prstDash val="solid"/>
          </a:ln>
        </p:spPr>
        <p:txBody>
          <a:bodyPr/>
          <a:lstStyle/>
          <a:p>
            <a:endParaRPr lang="en-US"/>
          </a:p>
        </p:txBody>
      </p:sp>
      <p:sp>
        <p:nvSpPr>
          <p:cNvPr id="16" name="Text 12"/>
          <p:cNvSpPr/>
          <p:nvPr/>
        </p:nvSpPr>
        <p:spPr>
          <a:xfrm>
            <a:off x="6217920" y="2103120"/>
            <a:ext cx="5239512"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Build interactive apps in minutes</a:t>
            </a:r>
            <a:endParaRPr lang="en-US" sz="1600" dirty="0"/>
          </a:p>
        </p:txBody>
      </p:sp>
      <p:sp>
        <p:nvSpPr>
          <p:cNvPr id="17" name="Text 13"/>
          <p:cNvSpPr/>
          <p:nvPr/>
        </p:nvSpPr>
        <p:spPr>
          <a:xfrm>
            <a:off x="6217920" y="2560320"/>
            <a:ext cx="5239512" cy="548640"/>
          </a:xfrm>
          <a:prstGeom prst="rect">
            <a:avLst/>
          </a:prstGeom>
          <a:noFill/>
          <a:ln/>
        </p:spPr>
        <p:txBody>
          <a:bodyPr wrap="square" lIns="0" tIns="0" rIns="0" bIns="0" rtlCol="0" anchor="ctr"/>
          <a:lstStyle/>
          <a:p>
            <a:pPr marL="0" indent="0">
              <a:buNone/>
            </a:pPr>
            <a:r>
              <a:rPr lang="en-US" sz="1200" dirty="0">
                <a:solidFill>
                  <a:srgbClr val="EAF2FA"/>
                </a:solidFill>
                <a:latin typeface="Calibri" pitchFamily="34" charset="0"/>
                <a:ea typeface="Calibri" pitchFamily="34" charset="-122"/>
                <a:cs typeface="Calibri" pitchFamily="34" charset="-120"/>
              </a:rPr>
              <a:t>Boost personal and team productivity without writing code.</a:t>
            </a:r>
            <a:endParaRPr lang="en-US" sz="1200" dirty="0"/>
          </a:p>
        </p:txBody>
      </p:sp>
      <p:sp>
        <p:nvSpPr>
          <p:cNvPr id="18" name="Shape 14"/>
          <p:cNvSpPr/>
          <p:nvPr/>
        </p:nvSpPr>
        <p:spPr>
          <a:xfrm>
            <a:off x="5852160" y="3383280"/>
            <a:ext cx="5788152" cy="1325880"/>
          </a:xfrm>
          <a:prstGeom prst="rect">
            <a:avLst/>
          </a:prstGeom>
          <a:solidFill>
            <a:srgbClr val="153A5C"/>
          </a:solidFill>
          <a:ln w="6350">
            <a:solidFill>
              <a:srgbClr val="1E3A5C"/>
            </a:solidFill>
            <a:prstDash val="solid"/>
          </a:ln>
        </p:spPr>
        <p:txBody>
          <a:bodyPr/>
          <a:lstStyle/>
          <a:p>
            <a:endParaRPr lang="en-US"/>
          </a:p>
        </p:txBody>
      </p:sp>
      <p:sp>
        <p:nvSpPr>
          <p:cNvPr id="19" name="Shape 15"/>
          <p:cNvSpPr/>
          <p:nvPr/>
        </p:nvSpPr>
        <p:spPr>
          <a:xfrm>
            <a:off x="5852160" y="3383280"/>
            <a:ext cx="91440" cy="1325880"/>
          </a:xfrm>
          <a:prstGeom prst="rect">
            <a:avLst/>
          </a:prstGeom>
          <a:solidFill>
            <a:srgbClr val="4FC3F7"/>
          </a:solidFill>
          <a:ln w="12700">
            <a:solidFill>
              <a:srgbClr val="333333"/>
            </a:solidFill>
            <a:prstDash val="solid"/>
          </a:ln>
        </p:spPr>
        <p:txBody>
          <a:bodyPr/>
          <a:lstStyle/>
          <a:p>
            <a:endParaRPr lang="en-US"/>
          </a:p>
        </p:txBody>
      </p:sp>
      <p:sp>
        <p:nvSpPr>
          <p:cNvPr id="20" name="Text 16"/>
          <p:cNvSpPr/>
          <p:nvPr/>
        </p:nvSpPr>
        <p:spPr>
          <a:xfrm>
            <a:off x="6217920" y="3566160"/>
            <a:ext cx="5239512"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Use the data you already have</a:t>
            </a:r>
            <a:endParaRPr lang="en-US" sz="1600" dirty="0"/>
          </a:p>
        </p:txBody>
      </p:sp>
      <p:sp>
        <p:nvSpPr>
          <p:cNvPr id="21" name="Text 17"/>
          <p:cNvSpPr/>
          <p:nvPr/>
        </p:nvSpPr>
        <p:spPr>
          <a:xfrm>
            <a:off x="6217920" y="4023360"/>
            <a:ext cx="5239512" cy="548640"/>
          </a:xfrm>
          <a:prstGeom prst="rect">
            <a:avLst/>
          </a:prstGeom>
          <a:noFill/>
          <a:ln/>
        </p:spPr>
        <p:txBody>
          <a:bodyPr wrap="square" lIns="0" tIns="0" rIns="0" bIns="0" rtlCol="0" anchor="ctr"/>
          <a:lstStyle/>
          <a:p>
            <a:pPr marL="0" indent="0">
              <a:buNone/>
            </a:pPr>
            <a:r>
              <a:rPr lang="en-US" sz="1200" dirty="0">
                <a:solidFill>
                  <a:srgbClr val="EAF2FA"/>
                </a:solidFill>
                <a:latin typeface="Calibri" pitchFamily="34" charset="0"/>
                <a:ea typeface="Calibri" pitchFamily="34" charset="-122"/>
                <a:cs typeface="Calibri" pitchFamily="34" charset="-120"/>
              </a:rPr>
              <a:t>Start quickly using your existing Microsoft Graph data and documents.</a:t>
            </a:r>
            <a:endParaRPr lang="en-US" sz="1200" dirty="0"/>
          </a:p>
        </p:txBody>
      </p:sp>
      <p:sp>
        <p:nvSpPr>
          <p:cNvPr id="22" name="Shape 18"/>
          <p:cNvSpPr/>
          <p:nvPr/>
        </p:nvSpPr>
        <p:spPr>
          <a:xfrm>
            <a:off x="5852160" y="4846320"/>
            <a:ext cx="5788152" cy="1325880"/>
          </a:xfrm>
          <a:prstGeom prst="rect">
            <a:avLst/>
          </a:prstGeom>
          <a:solidFill>
            <a:srgbClr val="153A5C"/>
          </a:solidFill>
          <a:ln w="6350">
            <a:solidFill>
              <a:srgbClr val="1E3A5C"/>
            </a:solidFill>
            <a:prstDash val="solid"/>
          </a:ln>
        </p:spPr>
        <p:txBody>
          <a:bodyPr/>
          <a:lstStyle/>
          <a:p>
            <a:endParaRPr lang="en-US"/>
          </a:p>
        </p:txBody>
      </p:sp>
      <p:sp>
        <p:nvSpPr>
          <p:cNvPr id="23" name="Shape 19"/>
          <p:cNvSpPr/>
          <p:nvPr/>
        </p:nvSpPr>
        <p:spPr>
          <a:xfrm>
            <a:off x="5852160" y="4846320"/>
            <a:ext cx="91440" cy="1325880"/>
          </a:xfrm>
          <a:prstGeom prst="rect">
            <a:avLst/>
          </a:prstGeom>
          <a:solidFill>
            <a:srgbClr val="FFB81C"/>
          </a:solidFill>
          <a:ln w="12700">
            <a:solidFill>
              <a:srgbClr val="333333"/>
            </a:solidFill>
            <a:prstDash val="solid"/>
          </a:ln>
        </p:spPr>
        <p:txBody>
          <a:bodyPr/>
          <a:lstStyle/>
          <a:p>
            <a:endParaRPr lang="en-US"/>
          </a:p>
        </p:txBody>
      </p:sp>
      <p:sp>
        <p:nvSpPr>
          <p:cNvPr id="24" name="Text 20"/>
          <p:cNvSpPr/>
          <p:nvPr/>
        </p:nvSpPr>
        <p:spPr>
          <a:xfrm>
            <a:off x="6217920" y="5029200"/>
            <a:ext cx="5239512"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Share and launch in M365 Copilot</a:t>
            </a:r>
            <a:endParaRPr lang="en-US" sz="1600" dirty="0"/>
          </a:p>
        </p:txBody>
      </p:sp>
      <p:sp>
        <p:nvSpPr>
          <p:cNvPr id="25" name="Text 21"/>
          <p:cNvSpPr/>
          <p:nvPr/>
        </p:nvSpPr>
        <p:spPr>
          <a:xfrm>
            <a:off x="6217920" y="5486400"/>
            <a:ext cx="5239512" cy="548640"/>
          </a:xfrm>
          <a:prstGeom prst="rect">
            <a:avLst/>
          </a:prstGeom>
          <a:noFill/>
          <a:ln/>
        </p:spPr>
        <p:txBody>
          <a:bodyPr wrap="square" lIns="0" tIns="0" rIns="0" bIns="0" rtlCol="0" anchor="ctr"/>
          <a:lstStyle/>
          <a:p>
            <a:pPr marL="0" indent="0">
              <a:buNone/>
            </a:pPr>
            <a:r>
              <a:rPr lang="en-US" sz="1200" dirty="0">
                <a:solidFill>
                  <a:srgbClr val="EAF2FA"/>
                </a:solidFill>
                <a:latin typeface="Calibri" pitchFamily="34" charset="0"/>
                <a:ea typeface="Calibri" pitchFamily="34" charset="-122"/>
                <a:cs typeface="Calibri" pitchFamily="34" charset="-120"/>
              </a:rPr>
              <a:t>Share with coworkers like a document; launch directly inside Copilot.</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Workflows</a:t>
            </a:r>
            <a:endParaRPr lang="en-US" sz="3200" dirty="0"/>
          </a:p>
        </p:txBody>
      </p:sp>
      <p:sp>
        <p:nvSpPr>
          <p:cNvPr id="6" name="Shape 2"/>
          <p:cNvSpPr/>
          <p:nvPr/>
        </p:nvSpPr>
        <p:spPr>
          <a:xfrm>
            <a:off x="548640" y="1097280"/>
            <a:ext cx="1280160" cy="64008"/>
          </a:xfrm>
          <a:prstGeom prst="rect">
            <a:avLst/>
          </a:prstGeom>
          <a:solidFill>
            <a:srgbClr val="FFB81C"/>
          </a:solidFill>
          <a:ln w="12700">
            <a:solidFill>
              <a:srgbClr val="FFB81C"/>
            </a:solidFill>
            <a:prstDash val="solid"/>
          </a:ln>
        </p:spPr>
        <p:txBody>
          <a:bodyPr/>
          <a:lstStyle/>
          <a:p>
            <a:endParaRPr lang="en-US"/>
          </a:p>
        </p:txBody>
      </p:sp>
      <p:sp>
        <p:nvSpPr>
          <p:cNvPr id="7" name="Shape 3"/>
          <p:cNvSpPr/>
          <p:nvPr/>
        </p:nvSpPr>
        <p:spPr>
          <a:xfrm>
            <a:off x="1920240" y="1097280"/>
            <a:ext cx="640080" cy="64008"/>
          </a:xfrm>
          <a:prstGeom prst="rect">
            <a:avLst/>
          </a:prstGeom>
          <a:solidFill>
            <a:srgbClr val="4FC3F7"/>
          </a:solidFill>
          <a:ln w="12700">
            <a:solidFill>
              <a:srgbClr val="4FC3F7"/>
            </a:solidFill>
            <a:prstDash val="solid"/>
          </a:ln>
        </p:spPr>
        <p:txBody>
          <a:bodyPr/>
          <a:lstStyle/>
          <a:p>
            <a:endParaRPr lang="en-US"/>
          </a:p>
        </p:txBody>
      </p:sp>
      <p:sp>
        <p:nvSpPr>
          <p:cNvPr id="8" name="Text 4"/>
          <p:cNvSpPr/>
          <p:nvPr/>
        </p:nvSpPr>
        <p:spPr>
          <a:xfrm>
            <a:off x="548640" y="1325880"/>
            <a:ext cx="10972800" cy="411480"/>
          </a:xfrm>
          <a:prstGeom prst="rect">
            <a:avLst/>
          </a:prstGeom>
          <a:noFill/>
          <a:ln/>
        </p:spPr>
        <p:txBody>
          <a:bodyPr wrap="square" lIns="0" tIns="0" rIns="0" bIns="0" rtlCol="0" anchor="ctr"/>
          <a:lstStyle/>
          <a:p>
            <a:pPr marL="0" indent="0">
              <a:buNone/>
            </a:pPr>
            <a:r>
              <a:rPr lang="en-US" sz="1400" i="1" dirty="0">
                <a:solidFill>
                  <a:srgbClr val="EAF2FA"/>
                </a:solidFill>
                <a:latin typeface="Calibri" pitchFamily="34" charset="0"/>
                <a:ea typeface="Calibri" pitchFamily="34" charset="-122"/>
                <a:cs typeface="Calibri" pitchFamily="34" charset="-120"/>
              </a:rPr>
              <a:t>Create automations directly in chat using natural language</a:t>
            </a:r>
            <a:endParaRPr lang="en-US" sz="1400" dirty="0"/>
          </a:p>
        </p:txBody>
      </p:sp>
      <p:sp>
        <p:nvSpPr>
          <p:cNvPr id="9" name="Text 5"/>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30 / 40</a:t>
            </a:r>
            <a:endParaRPr lang="en-US" sz="900" dirty="0"/>
          </a:p>
        </p:txBody>
      </p:sp>
      <p:sp>
        <p:nvSpPr>
          <p:cNvPr id="10" name="Shape 6"/>
          <p:cNvSpPr/>
          <p:nvPr/>
        </p:nvSpPr>
        <p:spPr>
          <a:xfrm>
            <a:off x="548640" y="1920240"/>
            <a:ext cx="3514344" cy="4297680"/>
          </a:xfrm>
          <a:prstGeom prst="rect">
            <a:avLst/>
          </a:prstGeom>
          <a:solidFill>
            <a:srgbClr val="0A2A44"/>
          </a:solidFill>
          <a:ln w="6350">
            <a:solidFill>
              <a:srgbClr val="1E3A5C"/>
            </a:solidFill>
            <a:prstDash val="solid"/>
          </a:ln>
        </p:spPr>
        <p:txBody>
          <a:bodyPr/>
          <a:lstStyle/>
          <a:p>
            <a:endParaRPr lang="en-US"/>
          </a:p>
        </p:txBody>
      </p:sp>
      <p:sp>
        <p:nvSpPr>
          <p:cNvPr id="11" name="Shape 7"/>
          <p:cNvSpPr/>
          <p:nvPr/>
        </p:nvSpPr>
        <p:spPr>
          <a:xfrm>
            <a:off x="548640" y="1920240"/>
            <a:ext cx="3514344" cy="73152"/>
          </a:xfrm>
          <a:prstGeom prst="rect">
            <a:avLst/>
          </a:prstGeom>
          <a:solidFill>
            <a:srgbClr val="FFB81C"/>
          </a:solidFill>
          <a:ln w="12700">
            <a:solidFill>
              <a:srgbClr val="333333"/>
            </a:solidFill>
            <a:prstDash val="solid"/>
          </a:ln>
        </p:spPr>
        <p:txBody>
          <a:bodyPr/>
          <a:lstStyle/>
          <a:p>
            <a:endParaRPr lang="en-US"/>
          </a:p>
        </p:txBody>
      </p:sp>
      <p:sp>
        <p:nvSpPr>
          <p:cNvPr id="12" name="Text 8"/>
          <p:cNvSpPr/>
          <p:nvPr/>
        </p:nvSpPr>
        <p:spPr>
          <a:xfrm>
            <a:off x="914400" y="2377440"/>
            <a:ext cx="2782824"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Build in chat</a:t>
            </a:r>
            <a:endParaRPr lang="en-US" sz="2200" dirty="0"/>
          </a:p>
        </p:txBody>
      </p:sp>
      <p:sp>
        <p:nvSpPr>
          <p:cNvPr id="13" name="Text 9"/>
          <p:cNvSpPr/>
          <p:nvPr/>
        </p:nvSpPr>
        <p:spPr>
          <a:xfrm>
            <a:off x="914400" y="3200400"/>
            <a:ext cx="2782824" cy="274320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Describe the automation in natural language — Copilot turns it into a working flow.</a:t>
            </a:r>
            <a:endParaRPr lang="en-US" sz="1400" dirty="0"/>
          </a:p>
        </p:txBody>
      </p:sp>
      <p:sp>
        <p:nvSpPr>
          <p:cNvPr id="14" name="Shape 10"/>
          <p:cNvSpPr/>
          <p:nvPr/>
        </p:nvSpPr>
        <p:spPr>
          <a:xfrm>
            <a:off x="4337304" y="1920240"/>
            <a:ext cx="3514344" cy="4297680"/>
          </a:xfrm>
          <a:prstGeom prst="rect">
            <a:avLst/>
          </a:prstGeom>
          <a:solidFill>
            <a:srgbClr val="0A2A44"/>
          </a:solidFill>
          <a:ln w="6350">
            <a:solidFill>
              <a:srgbClr val="1E3A5C"/>
            </a:solidFill>
            <a:prstDash val="solid"/>
          </a:ln>
        </p:spPr>
        <p:txBody>
          <a:bodyPr/>
          <a:lstStyle/>
          <a:p>
            <a:endParaRPr lang="en-US"/>
          </a:p>
        </p:txBody>
      </p:sp>
      <p:sp>
        <p:nvSpPr>
          <p:cNvPr id="15" name="Shape 11"/>
          <p:cNvSpPr/>
          <p:nvPr/>
        </p:nvSpPr>
        <p:spPr>
          <a:xfrm>
            <a:off x="4337304" y="1920240"/>
            <a:ext cx="3514344" cy="73152"/>
          </a:xfrm>
          <a:prstGeom prst="rect">
            <a:avLst/>
          </a:prstGeom>
          <a:solidFill>
            <a:srgbClr val="4FC3F7"/>
          </a:solidFill>
          <a:ln w="12700">
            <a:solidFill>
              <a:srgbClr val="333333"/>
            </a:solidFill>
            <a:prstDash val="solid"/>
          </a:ln>
        </p:spPr>
        <p:txBody>
          <a:bodyPr/>
          <a:lstStyle/>
          <a:p>
            <a:endParaRPr lang="en-US"/>
          </a:p>
        </p:txBody>
      </p:sp>
      <p:sp>
        <p:nvSpPr>
          <p:cNvPr id="16" name="Text 12"/>
          <p:cNvSpPr/>
          <p:nvPr/>
        </p:nvSpPr>
        <p:spPr>
          <a:xfrm>
            <a:off x="4703064" y="2377440"/>
            <a:ext cx="2782824"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Across Microsoft 365</a:t>
            </a:r>
            <a:endParaRPr lang="en-US" sz="2200" dirty="0"/>
          </a:p>
        </p:txBody>
      </p:sp>
      <p:sp>
        <p:nvSpPr>
          <p:cNvPr id="17" name="Text 13"/>
          <p:cNvSpPr/>
          <p:nvPr/>
        </p:nvSpPr>
        <p:spPr>
          <a:xfrm>
            <a:off x="4703064" y="3200400"/>
            <a:ext cx="2782824" cy="274320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Automate work across Outlook, Teams, SharePoint, Planner and Excel.</a:t>
            </a:r>
            <a:endParaRPr lang="en-US" sz="1400" dirty="0"/>
          </a:p>
        </p:txBody>
      </p:sp>
      <p:sp>
        <p:nvSpPr>
          <p:cNvPr id="18" name="Shape 14"/>
          <p:cNvSpPr/>
          <p:nvPr/>
        </p:nvSpPr>
        <p:spPr>
          <a:xfrm>
            <a:off x="8125968" y="1920240"/>
            <a:ext cx="3514344" cy="4297680"/>
          </a:xfrm>
          <a:prstGeom prst="rect">
            <a:avLst/>
          </a:prstGeom>
          <a:solidFill>
            <a:srgbClr val="0A2A44"/>
          </a:solidFill>
          <a:ln w="6350">
            <a:solidFill>
              <a:srgbClr val="1E3A5C"/>
            </a:solidFill>
            <a:prstDash val="solid"/>
          </a:ln>
        </p:spPr>
        <p:txBody>
          <a:bodyPr/>
          <a:lstStyle/>
          <a:p>
            <a:endParaRPr lang="en-US"/>
          </a:p>
        </p:txBody>
      </p:sp>
      <p:sp>
        <p:nvSpPr>
          <p:cNvPr id="19" name="Shape 15"/>
          <p:cNvSpPr/>
          <p:nvPr/>
        </p:nvSpPr>
        <p:spPr>
          <a:xfrm>
            <a:off x="8125968" y="1920240"/>
            <a:ext cx="3514344" cy="73152"/>
          </a:xfrm>
          <a:prstGeom prst="rect">
            <a:avLst/>
          </a:prstGeom>
          <a:solidFill>
            <a:srgbClr val="FFB81C"/>
          </a:solidFill>
          <a:ln w="12700">
            <a:solidFill>
              <a:srgbClr val="333333"/>
            </a:solidFill>
            <a:prstDash val="solid"/>
          </a:ln>
        </p:spPr>
        <p:txBody>
          <a:bodyPr/>
          <a:lstStyle/>
          <a:p>
            <a:endParaRPr lang="en-US"/>
          </a:p>
        </p:txBody>
      </p:sp>
      <p:sp>
        <p:nvSpPr>
          <p:cNvPr id="20" name="Text 16"/>
          <p:cNvSpPr/>
          <p:nvPr/>
        </p:nvSpPr>
        <p:spPr>
          <a:xfrm>
            <a:off x="8491728" y="2377440"/>
            <a:ext cx="2782824" cy="64008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Smart triggers</a:t>
            </a:r>
            <a:endParaRPr lang="en-US" sz="2200" dirty="0"/>
          </a:p>
        </p:txBody>
      </p:sp>
      <p:sp>
        <p:nvSpPr>
          <p:cNvPr id="21" name="Text 17"/>
          <p:cNvSpPr/>
          <p:nvPr/>
        </p:nvSpPr>
        <p:spPr>
          <a:xfrm>
            <a:off x="8491728" y="3200400"/>
            <a:ext cx="2782824" cy="274320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Run on a schedule or on events — new email, meeting, file update, approval request.</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Copilot Studio</a:t>
            </a:r>
            <a:endParaRPr lang="en-US" sz="3200" dirty="0"/>
          </a:p>
        </p:txBody>
      </p:sp>
      <p:sp>
        <p:nvSpPr>
          <p:cNvPr id="6" name="Shape 2"/>
          <p:cNvSpPr/>
          <p:nvPr/>
        </p:nvSpPr>
        <p:spPr>
          <a:xfrm>
            <a:off x="548640" y="1097280"/>
            <a:ext cx="1280160" cy="64008"/>
          </a:xfrm>
          <a:prstGeom prst="rect">
            <a:avLst/>
          </a:prstGeom>
          <a:solidFill>
            <a:srgbClr val="FFB81C"/>
          </a:solidFill>
          <a:ln w="12700">
            <a:solidFill>
              <a:srgbClr val="FFB81C"/>
            </a:solidFill>
            <a:prstDash val="solid"/>
          </a:ln>
        </p:spPr>
        <p:txBody>
          <a:bodyPr/>
          <a:lstStyle/>
          <a:p>
            <a:endParaRPr lang="en-US"/>
          </a:p>
        </p:txBody>
      </p:sp>
      <p:sp>
        <p:nvSpPr>
          <p:cNvPr id="7" name="Shape 3"/>
          <p:cNvSpPr/>
          <p:nvPr/>
        </p:nvSpPr>
        <p:spPr>
          <a:xfrm>
            <a:off x="1920240" y="1097280"/>
            <a:ext cx="640080" cy="64008"/>
          </a:xfrm>
          <a:prstGeom prst="rect">
            <a:avLst/>
          </a:prstGeom>
          <a:solidFill>
            <a:srgbClr val="4FC3F7"/>
          </a:solidFill>
          <a:ln w="12700">
            <a:solidFill>
              <a:srgbClr val="4FC3F7"/>
            </a:solidFill>
            <a:prstDash val="solid"/>
          </a:ln>
        </p:spPr>
        <p:txBody>
          <a:bodyPr/>
          <a:lstStyle/>
          <a:p>
            <a:endParaRPr lang="en-US"/>
          </a:p>
        </p:txBody>
      </p:sp>
      <p:sp>
        <p:nvSpPr>
          <p:cNvPr id="8" name="Text 4"/>
          <p:cNvSpPr/>
          <p:nvPr/>
        </p:nvSpPr>
        <p:spPr>
          <a:xfrm>
            <a:off x="548640" y="1325880"/>
            <a:ext cx="10972800" cy="411480"/>
          </a:xfrm>
          <a:prstGeom prst="rect">
            <a:avLst/>
          </a:prstGeom>
          <a:noFill/>
          <a:ln/>
        </p:spPr>
        <p:txBody>
          <a:bodyPr wrap="square" lIns="0" tIns="0" rIns="0" bIns="0" rtlCol="0" anchor="ctr"/>
          <a:lstStyle/>
          <a:p>
            <a:pPr marL="0" indent="0">
              <a:buNone/>
            </a:pPr>
            <a:r>
              <a:rPr lang="en-US" sz="1400" i="1" dirty="0">
                <a:solidFill>
                  <a:srgbClr val="EAF2FA"/>
                </a:solidFill>
                <a:latin typeface="Calibri" pitchFamily="34" charset="0"/>
                <a:ea typeface="Calibri" pitchFamily="34" charset="-122"/>
                <a:cs typeface="Calibri" pitchFamily="34" charset="-120"/>
              </a:rPr>
              <a:t>The platform for building, customising and managing your AI agents</a:t>
            </a:r>
            <a:endParaRPr lang="en-US" sz="1400" dirty="0"/>
          </a:p>
        </p:txBody>
      </p:sp>
      <p:sp>
        <p:nvSpPr>
          <p:cNvPr id="9" name="Text 5"/>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31 / 40</a:t>
            </a:r>
            <a:endParaRPr lang="en-US" sz="900" dirty="0"/>
          </a:p>
        </p:txBody>
      </p:sp>
      <p:sp>
        <p:nvSpPr>
          <p:cNvPr id="10" name="Shape 6"/>
          <p:cNvSpPr/>
          <p:nvPr/>
        </p:nvSpPr>
        <p:spPr>
          <a:xfrm>
            <a:off x="548640" y="1920240"/>
            <a:ext cx="3514344" cy="4297680"/>
          </a:xfrm>
          <a:prstGeom prst="rect">
            <a:avLst/>
          </a:prstGeom>
          <a:solidFill>
            <a:srgbClr val="0A2A44"/>
          </a:solidFill>
          <a:ln w="6350">
            <a:solidFill>
              <a:srgbClr val="1E3A5C"/>
            </a:solidFill>
            <a:prstDash val="solid"/>
          </a:ln>
        </p:spPr>
        <p:txBody>
          <a:bodyPr/>
          <a:lstStyle/>
          <a:p>
            <a:endParaRPr lang="en-US"/>
          </a:p>
        </p:txBody>
      </p:sp>
      <p:sp>
        <p:nvSpPr>
          <p:cNvPr id="11" name="Text 7"/>
          <p:cNvSpPr/>
          <p:nvPr/>
        </p:nvSpPr>
        <p:spPr>
          <a:xfrm>
            <a:off x="914400" y="2377440"/>
            <a:ext cx="2782824" cy="548640"/>
          </a:xfrm>
          <a:prstGeom prst="rect">
            <a:avLst/>
          </a:prstGeom>
          <a:noFill/>
          <a:ln/>
        </p:spPr>
        <p:txBody>
          <a:bodyPr wrap="square" lIns="0" tIns="0" rIns="0" bIns="0" rtlCol="0" anchor="ctr"/>
          <a:lstStyle/>
          <a:p>
            <a:pPr marL="0" indent="0">
              <a:buNone/>
            </a:pPr>
            <a:r>
              <a:rPr lang="en-US" sz="2200" b="1" dirty="0">
                <a:solidFill>
                  <a:srgbClr val="FFB81C"/>
                </a:solidFill>
                <a:latin typeface="Calibri" pitchFamily="34" charset="0"/>
                <a:ea typeface="Calibri" pitchFamily="34" charset="-122"/>
                <a:cs typeface="Calibri" pitchFamily="34" charset="-120"/>
              </a:rPr>
              <a:t>Transform processes with low code agents</a:t>
            </a:r>
            <a:endParaRPr lang="en-US" sz="2200" dirty="0"/>
          </a:p>
        </p:txBody>
      </p:sp>
      <p:sp>
        <p:nvSpPr>
          <p:cNvPr id="12" name="Shape 8"/>
          <p:cNvSpPr/>
          <p:nvPr/>
        </p:nvSpPr>
        <p:spPr>
          <a:xfrm>
            <a:off x="914400" y="3017520"/>
            <a:ext cx="457200" cy="45720"/>
          </a:xfrm>
          <a:prstGeom prst="rect">
            <a:avLst/>
          </a:prstGeom>
          <a:solidFill>
            <a:srgbClr val="FFB81C"/>
          </a:solidFill>
          <a:ln w="12700">
            <a:solidFill>
              <a:srgbClr val="333333"/>
            </a:solidFill>
            <a:prstDash val="solid"/>
          </a:ln>
        </p:spPr>
        <p:txBody>
          <a:bodyPr/>
          <a:lstStyle/>
          <a:p>
            <a:endParaRPr lang="en-US"/>
          </a:p>
        </p:txBody>
      </p:sp>
      <p:sp>
        <p:nvSpPr>
          <p:cNvPr id="13" name="Text 9"/>
          <p:cNvSpPr/>
          <p:nvPr/>
        </p:nvSpPr>
        <p:spPr>
          <a:xfrm>
            <a:off x="914400" y="3246120"/>
            <a:ext cx="2782824" cy="274320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Choose from 1,500+ connectors, data sources, actions and channels to handle your business processes.</a:t>
            </a:r>
            <a:endParaRPr lang="en-US" sz="1400" dirty="0"/>
          </a:p>
        </p:txBody>
      </p:sp>
      <p:sp>
        <p:nvSpPr>
          <p:cNvPr id="14" name="Shape 10"/>
          <p:cNvSpPr/>
          <p:nvPr/>
        </p:nvSpPr>
        <p:spPr>
          <a:xfrm>
            <a:off x="4337304" y="1920240"/>
            <a:ext cx="3514344" cy="4297680"/>
          </a:xfrm>
          <a:prstGeom prst="rect">
            <a:avLst/>
          </a:prstGeom>
          <a:solidFill>
            <a:srgbClr val="0A2A44"/>
          </a:solidFill>
          <a:ln w="6350">
            <a:solidFill>
              <a:srgbClr val="1E3A5C"/>
            </a:solidFill>
            <a:prstDash val="solid"/>
          </a:ln>
        </p:spPr>
        <p:txBody>
          <a:bodyPr/>
          <a:lstStyle/>
          <a:p>
            <a:endParaRPr lang="en-US"/>
          </a:p>
        </p:txBody>
      </p:sp>
      <p:sp>
        <p:nvSpPr>
          <p:cNvPr id="15" name="Text 11"/>
          <p:cNvSpPr/>
          <p:nvPr/>
        </p:nvSpPr>
        <p:spPr>
          <a:xfrm>
            <a:off x="4703064" y="2377440"/>
            <a:ext cx="2782824" cy="548640"/>
          </a:xfrm>
          <a:prstGeom prst="rect">
            <a:avLst/>
          </a:prstGeom>
          <a:noFill/>
          <a:ln/>
        </p:spPr>
        <p:txBody>
          <a:bodyPr wrap="square" lIns="0" tIns="0" rIns="0" bIns="0" rtlCol="0" anchor="ctr"/>
          <a:lstStyle/>
          <a:p>
            <a:pPr marL="0" indent="0">
              <a:buNone/>
            </a:pPr>
            <a:r>
              <a:rPr lang="en-US" sz="2200" b="1" dirty="0">
                <a:solidFill>
                  <a:srgbClr val="4FC3F7"/>
                </a:solidFill>
                <a:latin typeface="Calibri" pitchFamily="34" charset="0"/>
                <a:ea typeface="Calibri" pitchFamily="34" charset="-122"/>
                <a:cs typeface="Calibri" pitchFamily="34" charset="-120"/>
              </a:rPr>
              <a:t>Add deterministic workflows</a:t>
            </a:r>
            <a:endParaRPr lang="en-US" sz="2200" dirty="0"/>
          </a:p>
        </p:txBody>
      </p:sp>
      <p:sp>
        <p:nvSpPr>
          <p:cNvPr id="16" name="Shape 12"/>
          <p:cNvSpPr/>
          <p:nvPr/>
        </p:nvSpPr>
        <p:spPr>
          <a:xfrm>
            <a:off x="4703064" y="3017520"/>
            <a:ext cx="457200" cy="45720"/>
          </a:xfrm>
          <a:prstGeom prst="rect">
            <a:avLst/>
          </a:prstGeom>
          <a:solidFill>
            <a:srgbClr val="4FC3F7"/>
          </a:solidFill>
          <a:ln w="12700">
            <a:solidFill>
              <a:srgbClr val="333333"/>
            </a:solidFill>
            <a:prstDash val="solid"/>
          </a:ln>
        </p:spPr>
        <p:txBody>
          <a:bodyPr/>
          <a:lstStyle/>
          <a:p>
            <a:endParaRPr lang="en-US"/>
          </a:p>
        </p:txBody>
      </p:sp>
      <p:sp>
        <p:nvSpPr>
          <p:cNvPr id="17" name="Text 13"/>
          <p:cNvSpPr/>
          <p:nvPr/>
        </p:nvSpPr>
        <p:spPr>
          <a:xfrm>
            <a:off x="4703064" y="3246120"/>
            <a:ext cx="2782824" cy="274320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Eliminate repetitive tasks with rules-based workflows - standalone, or embedded inside an agent.</a:t>
            </a:r>
            <a:endParaRPr lang="en-US" sz="1400" dirty="0"/>
          </a:p>
        </p:txBody>
      </p:sp>
      <p:sp>
        <p:nvSpPr>
          <p:cNvPr id="18" name="Shape 14"/>
          <p:cNvSpPr/>
          <p:nvPr/>
        </p:nvSpPr>
        <p:spPr>
          <a:xfrm>
            <a:off x="8125968" y="1920240"/>
            <a:ext cx="3514344" cy="4297680"/>
          </a:xfrm>
          <a:prstGeom prst="rect">
            <a:avLst/>
          </a:prstGeom>
          <a:solidFill>
            <a:srgbClr val="0A2A44"/>
          </a:solidFill>
          <a:ln w="6350">
            <a:solidFill>
              <a:srgbClr val="1E3A5C"/>
            </a:solidFill>
            <a:prstDash val="solid"/>
          </a:ln>
        </p:spPr>
        <p:txBody>
          <a:bodyPr/>
          <a:lstStyle/>
          <a:p>
            <a:endParaRPr lang="en-US"/>
          </a:p>
        </p:txBody>
      </p:sp>
      <p:sp>
        <p:nvSpPr>
          <p:cNvPr id="19" name="Text 15"/>
          <p:cNvSpPr/>
          <p:nvPr/>
        </p:nvSpPr>
        <p:spPr>
          <a:xfrm>
            <a:off x="8491728" y="2377440"/>
            <a:ext cx="2782824" cy="548640"/>
          </a:xfrm>
          <a:prstGeom prst="rect">
            <a:avLst/>
          </a:prstGeom>
          <a:noFill/>
          <a:ln/>
        </p:spPr>
        <p:txBody>
          <a:bodyPr wrap="square" lIns="0" tIns="0" rIns="0" bIns="0" rtlCol="0" anchor="ctr"/>
          <a:lstStyle/>
          <a:p>
            <a:pPr marL="0" indent="0">
              <a:buNone/>
            </a:pPr>
            <a:r>
              <a:rPr lang="en-US" sz="2200" b="1" dirty="0">
                <a:solidFill>
                  <a:srgbClr val="FFB81C"/>
                </a:solidFill>
                <a:latin typeface="Calibri" pitchFamily="34" charset="0"/>
                <a:ea typeface="Calibri" pitchFamily="34" charset="-122"/>
                <a:cs typeface="Calibri" pitchFamily="34" charset="-120"/>
              </a:rPr>
              <a:t>Manage and secure at scale</a:t>
            </a:r>
            <a:endParaRPr lang="en-US" sz="2200" dirty="0"/>
          </a:p>
        </p:txBody>
      </p:sp>
      <p:sp>
        <p:nvSpPr>
          <p:cNvPr id="20" name="Shape 16"/>
          <p:cNvSpPr/>
          <p:nvPr/>
        </p:nvSpPr>
        <p:spPr>
          <a:xfrm>
            <a:off x="8491728" y="3017520"/>
            <a:ext cx="457200" cy="45720"/>
          </a:xfrm>
          <a:prstGeom prst="rect">
            <a:avLst/>
          </a:prstGeom>
          <a:solidFill>
            <a:srgbClr val="FFB81C"/>
          </a:solidFill>
          <a:ln w="12700">
            <a:solidFill>
              <a:srgbClr val="333333"/>
            </a:solidFill>
            <a:prstDash val="solid"/>
          </a:ln>
        </p:spPr>
        <p:txBody>
          <a:bodyPr/>
          <a:lstStyle/>
          <a:p>
            <a:endParaRPr lang="en-US"/>
          </a:p>
        </p:txBody>
      </p:sp>
      <p:sp>
        <p:nvSpPr>
          <p:cNvPr id="21" name="Text 17"/>
          <p:cNvSpPr/>
          <p:nvPr/>
        </p:nvSpPr>
        <p:spPr>
          <a:xfrm>
            <a:off x="8491728" y="3246120"/>
            <a:ext cx="2782824" cy="2743200"/>
          </a:xfrm>
          <a:prstGeom prst="rect">
            <a:avLst/>
          </a:prstGeom>
          <a:noFill/>
          <a:ln/>
        </p:spPr>
        <p:txBody>
          <a:bodyPr wrap="square" lIns="0" tIns="0" rIns="0" bIns="0" rtlCol="0" anchor="ctr"/>
          <a:lstStyle/>
          <a:p>
            <a:pPr marL="0" indent="0">
              <a:buNone/>
            </a:pPr>
            <a:r>
              <a:rPr lang="en-US" sz="1400" dirty="0">
                <a:solidFill>
                  <a:srgbClr val="EAF2FA"/>
                </a:solidFill>
                <a:latin typeface="Calibri" pitchFamily="34" charset="0"/>
                <a:ea typeface="Calibri" pitchFamily="34" charset="-122"/>
                <a:cs typeface="Calibri" pitchFamily="34" charset="-120"/>
              </a:rPr>
              <a:t>IT keeps full visibility, security and compliance controls across every agent in the organisation.</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1463040"/>
            <a:ext cx="3657600" cy="3657600"/>
          </a:xfrm>
          <a:prstGeom prst="rect">
            <a:avLst/>
          </a:prstGeom>
          <a:noFill/>
          <a:ln/>
        </p:spPr>
        <p:txBody>
          <a:bodyPr wrap="square" lIns="0" tIns="0" rIns="0" bIns="0" rtlCol="0" anchor="t"/>
          <a:lstStyle/>
          <a:p>
            <a:pPr marL="0" indent="0">
              <a:buNone/>
            </a:pPr>
            <a:r>
              <a:rPr lang="en-US" sz="28000" b="1" dirty="0">
                <a:solidFill>
                  <a:srgbClr val="FFB81C"/>
                </a:solidFill>
                <a:latin typeface="Calibri" pitchFamily="34" charset="0"/>
                <a:ea typeface="Calibri" pitchFamily="34" charset="-122"/>
                <a:cs typeface="Calibri" pitchFamily="34" charset="-120"/>
              </a:rPr>
              <a:t>03</a:t>
            </a:r>
            <a:endParaRPr lang="en-US" sz="28000" dirty="0"/>
          </a:p>
        </p:txBody>
      </p:sp>
      <p:sp>
        <p:nvSpPr>
          <p:cNvPr id="6" name="Shape 2"/>
          <p:cNvSpPr/>
          <p:nvPr/>
        </p:nvSpPr>
        <p:spPr>
          <a:xfrm>
            <a:off x="4937760" y="2560320"/>
            <a:ext cx="36576" cy="1828800"/>
          </a:xfrm>
          <a:prstGeom prst="rect">
            <a:avLst/>
          </a:prstGeom>
          <a:solidFill>
            <a:srgbClr val="4FC3F7"/>
          </a:solidFill>
          <a:ln w="12700">
            <a:solidFill>
              <a:srgbClr val="333333"/>
            </a:solidFill>
            <a:prstDash val="solid"/>
          </a:ln>
        </p:spPr>
        <p:txBody>
          <a:bodyPr/>
          <a:lstStyle/>
          <a:p>
            <a:endParaRPr lang="en-US"/>
          </a:p>
        </p:txBody>
      </p:sp>
      <p:sp>
        <p:nvSpPr>
          <p:cNvPr id="7" name="Text 3"/>
          <p:cNvSpPr/>
          <p:nvPr/>
        </p:nvSpPr>
        <p:spPr>
          <a:xfrm>
            <a:off x="5212080" y="2606040"/>
            <a:ext cx="6400800" cy="365760"/>
          </a:xfrm>
          <a:prstGeom prst="rect">
            <a:avLst/>
          </a:prstGeom>
          <a:noFill/>
          <a:ln/>
        </p:spPr>
        <p:txBody>
          <a:bodyPr wrap="square" lIns="0" tIns="0" rIns="0" bIns="0" rtlCol="0" anchor="ctr"/>
          <a:lstStyle/>
          <a:p>
            <a:pPr marL="0" indent="0">
              <a:buNone/>
            </a:pPr>
            <a:r>
              <a:rPr lang="en-US" sz="1600" b="1" kern="0" spc="400" dirty="0">
                <a:solidFill>
                  <a:srgbClr val="4FC3F7"/>
                </a:solidFill>
                <a:latin typeface="Calibri" pitchFamily="34" charset="0"/>
                <a:ea typeface="Calibri" pitchFamily="34" charset="-122"/>
                <a:cs typeface="Calibri" pitchFamily="34" charset="-120"/>
              </a:rPr>
              <a:t>SECTION 03</a:t>
            </a:r>
            <a:endParaRPr lang="en-US" sz="1600" dirty="0"/>
          </a:p>
        </p:txBody>
      </p:sp>
      <p:sp>
        <p:nvSpPr>
          <p:cNvPr id="8" name="Text 4"/>
          <p:cNvSpPr/>
          <p:nvPr/>
        </p:nvSpPr>
        <p:spPr>
          <a:xfrm>
            <a:off x="5212080" y="3017520"/>
            <a:ext cx="5486400" cy="91440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Innovation Lab</a:t>
            </a:r>
            <a:endParaRPr lang="en-US" sz="4400" dirty="0"/>
          </a:p>
        </p:txBody>
      </p:sp>
      <p:sp>
        <p:nvSpPr>
          <p:cNvPr id="9" name="Text 5"/>
          <p:cNvSpPr/>
          <p:nvPr/>
        </p:nvSpPr>
        <p:spPr>
          <a:xfrm>
            <a:off x="5212080" y="4023360"/>
            <a:ext cx="5486400" cy="731520"/>
          </a:xfrm>
          <a:prstGeom prst="rect">
            <a:avLst/>
          </a:prstGeom>
          <a:noFill/>
          <a:ln/>
        </p:spPr>
        <p:txBody>
          <a:bodyPr wrap="square" lIns="0" tIns="0" rIns="0" bIns="0" rtlCol="0" anchor="ctr"/>
          <a:lstStyle/>
          <a:p>
            <a:pPr marL="0" indent="0">
              <a:buNone/>
            </a:pPr>
            <a:r>
              <a:rPr lang="en-US" sz="1700" i="1" dirty="0">
                <a:solidFill>
                  <a:srgbClr val="EAF2FA"/>
                </a:solidFill>
                <a:latin typeface="Calibri" pitchFamily="34" charset="0"/>
                <a:ea typeface="Calibri" pitchFamily="34" charset="-122"/>
                <a:cs typeface="Calibri" pitchFamily="34" charset="-120"/>
              </a:rPr>
              <a:t>Choose your own adventure and build something real!</a:t>
            </a:r>
            <a:endParaRPr lang="en-US" sz="1700" dirty="0"/>
          </a:p>
        </p:txBody>
      </p:sp>
      <p:sp>
        <p:nvSpPr>
          <p:cNvPr id="10" name="Text 6"/>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32 / 40</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100584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Copilot Innovation Lab</a:t>
            </a:r>
            <a:endParaRPr lang="en-US" sz="3200" dirty="0"/>
          </a:p>
        </p:txBody>
      </p:sp>
      <p:sp>
        <p:nvSpPr>
          <p:cNvPr id="6" name="Shape 2"/>
          <p:cNvSpPr/>
          <p:nvPr/>
        </p:nvSpPr>
        <p:spPr>
          <a:xfrm>
            <a:off x="548640" y="1143000"/>
            <a:ext cx="1280160" cy="73152"/>
          </a:xfrm>
          <a:prstGeom prst="rect">
            <a:avLst/>
          </a:prstGeom>
          <a:solidFill>
            <a:srgbClr val="FFB81C"/>
          </a:solidFill>
          <a:ln w="12700">
            <a:solidFill>
              <a:srgbClr val="FFB81C"/>
            </a:solidFill>
            <a:prstDash val="solid"/>
          </a:ln>
        </p:spPr>
        <p:txBody>
          <a:bodyPr/>
          <a:lstStyle/>
          <a:p>
            <a:endParaRPr lang="en-US"/>
          </a:p>
        </p:txBody>
      </p:sp>
      <p:sp>
        <p:nvSpPr>
          <p:cNvPr id="7" name="Shape 3"/>
          <p:cNvSpPr/>
          <p:nvPr/>
        </p:nvSpPr>
        <p:spPr>
          <a:xfrm>
            <a:off x="1920240" y="1143000"/>
            <a:ext cx="640080" cy="73152"/>
          </a:xfrm>
          <a:prstGeom prst="rect">
            <a:avLst/>
          </a:prstGeom>
          <a:solidFill>
            <a:srgbClr val="4FC3F7"/>
          </a:solidFill>
          <a:ln w="12700">
            <a:solidFill>
              <a:srgbClr val="4FC3F7"/>
            </a:solidFill>
            <a:prstDash val="solid"/>
          </a:ln>
        </p:spPr>
        <p:txBody>
          <a:bodyPr/>
          <a:lstStyle/>
          <a:p>
            <a:endParaRPr lang="en-US"/>
          </a:p>
        </p:txBody>
      </p:sp>
      <p:sp>
        <p:nvSpPr>
          <p:cNvPr id="8" name="Text 4"/>
          <p:cNvSpPr/>
          <p:nvPr/>
        </p:nvSpPr>
        <p:spPr>
          <a:xfrm>
            <a:off x="548640" y="1417320"/>
            <a:ext cx="10972800" cy="914400"/>
          </a:xfrm>
          <a:prstGeom prst="rect">
            <a:avLst/>
          </a:prstGeom>
          <a:noFill/>
          <a:ln/>
        </p:spPr>
        <p:txBody>
          <a:bodyPr wrap="square" lIns="0" tIns="0" rIns="0" bIns="0" rtlCol="0" anchor="ctr"/>
          <a:lstStyle/>
          <a:p>
            <a:pPr marL="0" indent="0">
              <a:buNone/>
            </a:pPr>
            <a:r>
              <a:rPr lang="en-US" sz="1600" i="1" dirty="0">
                <a:solidFill>
                  <a:srgbClr val="EAF2FA"/>
                </a:solidFill>
                <a:latin typeface="Calibri" pitchFamily="34" charset="0"/>
                <a:ea typeface="Calibri" pitchFamily="34" charset="-122"/>
                <a:cs typeface="Calibri" pitchFamily="34" charset="-120"/>
              </a:rPr>
              <a:t>The Innovation Lab is where prompting becomes practice. You'll combine GCSE prompting with Copilot Chat, Notebooks, and Agents to build solutions you can take back to your council on Monday.</a:t>
            </a:r>
            <a:endParaRPr lang="en-US" sz="1600" dirty="0"/>
          </a:p>
        </p:txBody>
      </p:sp>
      <p:sp>
        <p:nvSpPr>
          <p:cNvPr id="9" name="Shape 5"/>
          <p:cNvSpPr/>
          <p:nvPr/>
        </p:nvSpPr>
        <p:spPr>
          <a:xfrm>
            <a:off x="548640" y="2468880"/>
            <a:ext cx="5431536" cy="1760220"/>
          </a:xfrm>
          <a:prstGeom prst="rect">
            <a:avLst/>
          </a:prstGeom>
          <a:solidFill>
            <a:srgbClr val="0A2A44"/>
          </a:solidFill>
          <a:ln w="6350">
            <a:solidFill>
              <a:srgbClr val="1E3A5C"/>
            </a:solidFill>
            <a:prstDash val="solid"/>
          </a:ln>
        </p:spPr>
        <p:txBody>
          <a:bodyPr/>
          <a:lstStyle/>
          <a:p>
            <a:endParaRPr lang="en-US"/>
          </a:p>
        </p:txBody>
      </p:sp>
      <p:sp>
        <p:nvSpPr>
          <p:cNvPr id="10" name="Shape 6"/>
          <p:cNvSpPr/>
          <p:nvPr/>
        </p:nvSpPr>
        <p:spPr>
          <a:xfrm>
            <a:off x="548640" y="2468880"/>
            <a:ext cx="91440" cy="1760220"/>
          </a:xfrm>
          <a:prstGeom prst="rect">
            <a:avLst/>
          </a:prstGeom>
          <a:solidFill>
            <a:srgbClr val="FFB81C"/>
          </a:solidFill>
          <a:ln w="12700">
            <a:solidFill>
              <a:srgbClr val="333333"/>
            </a:solidFill>
            <a:prstDash val="solid"/>
          </a:ln>
        </p:spPr>
        <p:txBody>
          <a:bodyPr/>
          <a:lstStyle/>
          <a:p>
            <a:endParaRPr lang="en-US"/>
          </a:p>
        </p:txBody>
      </p:sp>
      <p:sp>
        <p:nvSpPr>
          <p:cNvPr id="11" name="Text 7"/>
          <p:cNvSpPr/>
          <p:nvPr/>
        </p:nvSpPr>
        <p:spPr>
          <a:xfrm>
            <a:off x="914400" y="2743200"/>
            <a:ext cx="4882896" cy="457200"/>
          </a:xfrm>
          <a:prstGeom prst="rect">
            <a:avLst/>
          </a:prstGeom>
          <a:noFill/>
          <a:ln/>
        </p:spPr>
        <p:txBody>
          <a:bodyPr wrap="square" lIns="0" tIns="0" rIns="0" bIns="0" rtlCol="0" anchor="ctr"/>
          <a:lstStyle/>
          <a:p>
            <a:pPr marL="0" indent="0">
              <a:buNone/>
            </a:pPr>
            <a:r>
              <a:rPr lang="en-US" sz="2000" b="1" dirty="0">
                <a:solidFill>
                  <a:srgbClr val="FFB81C"/>
                </a:solidFill>
                <a:latin typeface="Calibri" pitchFamily="34" charset="0"/>
                <a:ea typeface="Calibri" pitchFamily="34" charset="-122"/>
                <a:cs typeface="Calibri" pitchFamily="34" charset="-120"/>
              </a:rPr>
              <a:t>Prompt with intent</a:t>
            </a:r>
            <a:endParaRPr lang="en-US" sz="2000" dirty="0"/>
          </a:p>
        </p:txBody>
      </p:sp>
      <p:sp>
        <p:nvSpPr>
          <p:cNvPr id="12" name="Text 8"/>
          <p:cNvSpPr/>
          <p:nvPr/>
        </p:nvSpPr>
        <p:spPr>
          <a:xfrm>
            <a:off x="914400" y="3246120"/>
            <a:ext cx="4882896" cy="845820"/>
          </a:xfrm>
          <a:prstGeom prst="rect">
            <a:avLst/>
          </a:prstGeom>
          <a:noFill/>
          <a:ln/>
        </p:spPr>
        <p:txBody>
          <a:bodyPr wrap="square" lIns="0" tIns="0" rIns="0" bIns="0" rtlCol="0" anchor="ctr"/>
          <a:lstStyle/>
          <a:p>
            <a:pPr marL="0" indent="0">
              <a:buNone/>
            </a:pPr>
            <a:r>
              <a:rPr lang="en-US" sz="1300" dirty="0">
                <a:solidFill>
                  <a:srgbClr val="EAF2FA"/>
                </a:solidFill>
                <a:latin typeface="Calibri" pitchFamily="34" charset="0"/>
                <a:ea typeface="Calibri" pitchFamily="34" charset="-122"/>
                <a:cs typeface="Calibri" pitchFamily="34" charset="-120"/>
              </a:rPr>
              <a:t>Apply GCSE to every interaction. Improve, refine, repeat, until the output earns its place in your work.</a:t>
            </a:r>
            <a:endParaRPr lang="en-US" sz="1300" dirty="0"/>
          </a:p>
        </p:txBody>
      </p:sp>
      <p:sp>
        <p:nvSpPr>
          <p:cNvPr id="13" name="Shape 9"/>
          <p:cNvSpPr/>
          <p:nvPr/>
        </p:nvSpPr>
        <p:spPr>
          <a:xfrm>
            <a:off x="6208776" y="2468880"/>
            <a:ext cx="5431536" cy="1760220"/>
          </a:xfrm>
          <a:prstGeom prst="rect">
            <a:avLst/>
          </a:prstGeom>
          <a:solidFill>
            <a:srgbClr val="0A2A44"/>
          </a:solidFill>
          <a:ln w="6350">
            <a:solidFill>
              <a:srgbClr val="1E3A5C"/>
            </a:solidFill>
            <a:prstDash val="solid"/>
          </a:ln>
        </p:spPr>
        <p:txBody>
          <a:bodyPr/>
          <a:lstStyle/>
          <a:p>
            <a:endParaRPr lang="en-US"/>
          </a:p>
        </p:txBody>
      </p:sp>
      <p:sp>
        <p:nvSpPr>
          <p:cNvPr id="14" name="Shape 10"/>
          <p:cNvSpPr/>
          <p:nvPr/>
        </p:nvSpPr>
        <p:spPr>
          <a:xfrm>
            <a:off x="6208776" y="2468880"/>
            <a:ext cx="91440" cy="1760220"/>
          </a:xfrm>
          <a:prstGeom prst="rect">
            <a:avLst/>
          </a:prstGeom>
          <a:solidFill>
            <a:srgbClr val="4FC3F7"/>
          </a:solidFill>
          <a:ln w="12700">
            <a:solidFill>
              <a:srgbClr val="333333"/>
            </a:solidFill>
            <a:prstDash val="solid"/>
          </a:ln>
        </p:spPr>
        <p:txBody>
          <a:bodyPr/>
          <a:lstStyle/>
          <a:p>
            <a:endParaRPr lang="en-US"/>
          </a:p>
        </p:txBody>
      </p:sp>
      <p:sp>
        <p:nvSpPr>
          <p:cNvPr id="15" name="Text 11"/>
          <p:cNvSpPr/>
          <p:nvPr/>
        </p:nvSpPr>
        <p:spPr>
          <a:xfrm>
            <a:off x="6574536" y="2743200"/>
            <a:ext cx="4882896" cy="457200"/>
          </a:xfrm>
          <a:prstGeom prst="rect">
            <a:avLst/>
          </a:prstGeom>
          <a:noFill/>
          <a:ln/>
        </p:spPr>
        <p:txBody>
          <a:bodyPr wrap="square" lIns="0" tIns="0" rIns="0" bIns="0" rtlCol="0" anchor="ctr"/>
          <a:lstStyle/>
          <a:p>
            <a:pPr marL="0" indent="0">
              <a:buNone/>
            </a:pPr>
            <a:r>
              <a:rPr lang="en-US" sz="2000" b="1" dirty="0">
                <a:solidFill>
                  <a:srgbClr val="4FC3F7"/>
                </a:solidFill>
                <a:latin typeface="Calibri" pitchFamily="34" charset="0"/>
                <a:ea typeface="Calibri" pitchFamily="34" charset="-122"/>
                <a:cs typeface="Calibri" pitchFamily="34" charset="-120"/>
              </a:rPr>
              <a:t>Combine capabilities</a:t>
            </a:r>
            <a:endParaRPr lang="en-US" sz="2000" dirty="0"/>
          </a:p>
        </p:txBody>
      </p:sp>
      <p:sp>
        <p:nvSpPr>
          <p:cNvPr id="16" name="Text 12"/>
          <p:cNvSpPr/>
          <p:nvPr/>
        </p:nvSpPr>
        <p:spPr>
          <a:xfrm>
            <a:off x="6574536" y="3246120"/>
            <a:ext cx="4882896" cy="845820"/>
          </a:xfrm>
          <a:prstGeom prst="rect">
            <a:avLst/>
          </a:prstGeom>
          <a:noFill/>
          <a:ln/>
        </p:spPr>
        <p:txBody>
          <a:bodyPr wrap="square" lIns="0" tIns="0" rIns="0" bIns="0" rtlCol="0" anchor="ctr"/>
          <a:lstStyle/>
          <a:p>
            <a:pPr marL="0" indent="0">
              <a:buNone/>
            </a:pPr>
            <a:r>
              <a:rPr lang="en-US" sz="1300" dirty="0">
                <a:solidFill>
                  <a:srgbClr val="EAF2FA"/>
                </a:solidFill>
                <a:latin typeface="Calibri" pitchFamily="34" charset="0"/>
                <a:ea typeface="Calibri" pitchFamily="34" charset="-122"/>
                <a:cs typeface="Calibri" pitchFamily="34" charset="-120"/>
              </a:rPr>
              <a:t>Pull Notebooks, Chat, SharePoint and Agents together. The real magic is in the combinations, not any single tool.</a:t>
            </a:r>
            <a:endParaRPr lang="en-US" sz="1300" dirty="0"/>
          </a:p>
        </p:txBody>
      </p:sp>
      <p:sp>
        <p:nvSpPr>
          <p:cNvPr id="17" name="Shape 13"/>
          <p:cNvSpPr/>
          <p:nvPr/>
        </p:nvSpPr>
        <p:spPr>
          <a:xfrm>
            <a:off x="548640" y="4457700"/>
            <a:ext cx="5431536" cy="1760220"/>
          </a:xfrm>
          <a:prstGeom prst="rect">
            <a:avLst/>
          </a:prstGeom>
          <a:solidFill>
            <a:srgbClr val="0A2A44"/>
          </a:solidFill>
          <a:ln w="6350">
            <a:solidFill>
              <a:srgbClr val="1E3A5C"/>
            </a:solidFill>
            <a:prstDash val="solid"/>
          </a:ln>
        </p:spPr>
        <p:txBody>
          <a:bodyPr/>
          <a:lstStyle/>
          <a:p>
            <a:endParaRPr lang="en-US"/>
          </a:p>
        </p:txBody>
      </p:sp>
      <p:sp>
        <p:nvSpPr>
          <p:cNvPr id="18" name="Shape 14"/>
          <p:cNvSpPr/>
          <p:nvPr/>
        </p:nvSpPr>
        <p:spPr>
          <a:xfrm>
            <a:off x="548640" y="4457700"/>
            <a:ext cx="91440" cy="1760220"/>
          </a:xfrm>
          <a:prstGeom prst="rect">
            <a:avLst/>
          </a:prstGeom>
          <a:solidFill>
            <a:srgbClr val="FFB81C"/>
          </a:solidFill>
          <a:ln w="12700">
            <a:solidFill>
              <a:srgbClr val="333333"/>
            </a:solidFill>
            <a:prstDash val="solid"/>
          </a:ln>
        </p:spPr>
        <p:txBody>
          <a:bodyPr/>
          <a:lstStyle/>
          <a:p>
            <a:endParaRPr lang="en-US"/>
          </a:p>
        </p:txBody>
      </p:sp>
      <p:sp>
        <p:nvSpPr>
          <p:cNvPr id="19" name="Text 15"/>
          <p:cNvSpPr/>
          <p:nvPr/>
        </p:nvSpPr>
        <p:spPr>
          <a:xfrm>
            <a:off x="914400" y="4732020"/>
            <a:ext cx="4882896" cy="457200"/>
          </a:xfrm>
          <a:prstGeom prst="rect">
            <a:avLst/>
          </a:prstGeom>
          <a:noFill/>
          <a:ln/>
        </p:spPr>
        <p:txBody>
          <a:bodyPr wrap="square" lIns="0" tIns="0" rIns="0" bIns="0" rtlCol="0" anchor="ctr"/>
          <a:lstStyle/>
          <a:p>
            <a:pPr marL="0" indent="0">
              <a:buNone/>
            </a:pPr>
            <a:r>
              <a:rPr lang="en-US" sz="2000" b="1" dirty="0">
                <a:solidFill>
                  <a:srgbClr val="FFB81C"/>
                </a:solidFill>
                <a:latin typeface="Calibri" pitchFamily="34" charset="0"/>
                <a:ea typeface="Calibri" pitchFamily="34" charset="-122"/>
                <a:cs typeface="Calibri" pitchFamily="34" charset="-120"/>
              </a:rPr>
              <a:t>Build something real</a:t>
            </a:r>
            <a:endParaRPr lang="en-US" sz="2000" dirty="0"/>
          </a:p>
        </p:txBody>
      </p:sp>
      <p:sp>
        <p:nvSpPr>
          <p:cNvPr id="20" name="Text 16"/>
          <p:cNvSpPr/>
          <p:nvPr/>
        </p:nvSpPr>
        <p:spPr>
          <a:xfrm>
            <a:off x="914400" y="5234940"/>
            <a:ext cx="4882896" cy="845820"/>
          </a:xfrm>
          <a:prstGeom prst="rect">
            <a:avLst/>
          </a:prstGeom>
          <a:noFill/>
          <a:ln/>
        </p:spPr>
        <p:txBody>
          <a:bodyPr wrap="square" lIns="0" tIns="0" rIns="0" bIns="0" rtlCol="0" anchor="ctr"/>
          <a:lstStyle/>
          <a:p>
            <a:pPr marL="0" indent="0">
              <a:buNone/>
            </a:pPr>
            <a:r>
              <a:rPr lang="en-US" sz="1300" dirty="0">
                <a:solidFill>
                  <a:srgbClr val="EAF2FA"/>
                </a:solidFill>
                <a:latin typeface="Calibri" pitchFamily="34" charset="0"/>
                <a:ea typeface="Calibri" pitchFamily="34" charset="-122"/>
                <a:cs typeface="Calibri" pitchFamily="34" charset="-120"/>
              </a:rPr>
              <a:t>Don't just experiment - finish a deliverable. A briefing, an agent, a workflow your team can actually use.</a:t>
            </a:r>
            <a:endParaRPr lang="en-US" sz="1300" dirty="0"/>
          </a:p>
        </p:txBody>
      </p:sp>
      <p:sp>
        <p:nvSpPr>
          <p:cNvPr id="21" name="Shape 17"/>
          <p:cNvSpPr/>
          <p:nvPr/>
        </p:nvSpPr>
        <p:spPr>
          <a:xfrm>
            <a:off x="6208776" y="4457700"/>
            <a:ext cx="5431536" cy="1760220"/>
          </a:xfrm>
          <a:prstGeom prst="rect">
            <a:avLst/>
          </a:prstGeom>
          <a:solidFill>
            <a:srgbClr val="0A2A44"/>
          </a:solidFill>
          <a:ln w="6350">
            <a:solidFill>
              <a:srgbClr val="1E3A5C"/>
            </a:solidFill>
            <a:prstDash val="solid"/>
          </a:ln>
        </p:spPr>
        <p:txBody>
          <a:bodyPr/>
          <a:lstStyle/>
          <a:p>
            <a:endParaRPr lang="en-US"/>
          </a:p>
        </p:txBody>
      </p:sp>
      <p:sp>
        <p:nvSpPr>
          <p:cNvPr id="22" name="Shape 18"/>
          <p:cNvSpPr/>
          <p:nvPr/>
        </p:nvSpPr>
        <p:spPr>
          <a:xfrm>
            <a:off x="6208776" y="4457700"/>
            <a:ext cx="91440" cy="1760220"/>
          </a:xfrm>
          <a:prstGeom prst="rect">
            <a:avLst/>
          </a:prstGeom>
          <a:solidFill>
            <a:srgbClr val="4FC3F7"/>
          </a:solidFill>
          <a:ln w="12700">
            <a:solidFill>
              <a:srgbClr val="333333"/>
            </a:solidFill>
            <a:prstDash val="solid"/>
          </a:ln>
        </p:spPr>
        <p:txBody>
          <a:bodyPr/>
          <a:lstStyle/>
          <a:p>
            <a:endParaRPr lang="en-US"/>
          </a:p>
        </p:txBody>
      </p:sp>
      <p:sp>
        <p:nvSpPr>
          <p:cNvPr id="23" name="Text 19"/>
          <p:cNvSpPr/>
          <p:nvPr/>
        </p:nvSpPr>
        <p:spPr>
          <a:xfrm>
            <a:off x="6574536" y="4732020"/>
            <a:ext cx="4882896" cy="457200"/>
          </a:xfrm>
          <a:prstGeom prst="rect">
            <a:avLst/>
          </a:prstGeom>
          <a:noFill/>
          <a:ln/>
        </p:spPr>
        <p:txBody>
          <a:bodyPr wrap="square" lIns="0" tIns="0" rIns="0" bIns="0" rtlCol="0" anchor="ctr"/>
          <a:lstStyle/>
          <a:p>
            <a:pPr marL="0" indent="0">
              <a:buNone/>
            </a:pPr>
            <a:r>
              <a:rPr lang="en-US" sz="2000" b="1" dirty="0">
                <a:solidFill>
                  <a:srgbClr val="4FC3F7"/>
                </a:solidFill>
                <a:latin typeface="Calibri" pitchFamily="34" charset="0"/>
                <a:ea typeface="Calibri" pitchFamily="34" charset="-122"/>
                <a:cs typeface="Calibri" pitchFamily="34" charset="-120"/>
              </a:rPr>
              <a:t>Share what you learn</a:t>
            </a:r>
            <a:endParaRPr lang="en-US" sz="2000" dirty="0"/>
          </a:p>
        </p:txBody>
      </p:sp>
      <p:sp>
        <p:nvSpPr>
          <p:cNvPr id="24" name="Text 20"/>
          <p:cNvSpPr/>
          <p:nvPr/>
        </p:nvSpPr>
        <p:spPr>
          <a:xfrm>
            <a:off x="6574536" y="5234940"/>
            <a:ext cx="4882896" cy="845820"/>
          </a:xfrm>
          <a:prstGeom prst="rect">
            <a:avLst/>
          </a:prstGeom>
          <a:noFill/>
          <a:ln/>
        </p:spPr>
        <p:txBody>
          <a:bodyPr wrap="square" lIns="0" tIns="0" rIns="0" bIns="0" rtlCol="0" anchor="ctr"/>
          <a:lstStyle/>
          <a:p>
            <a:pPr marL="0" indent="0">
              <a:buNone/>
            </a:pPr>
            <a:r>
              <a:rPr lang="en-US" sz="1300" dirty="0">
                <a:solidFill>
                  <a:srgbClr val="EAF2FA"/>
                </a:solidFill>
                <a:latin typeface="Calibri" pitchFamily="34" charset="0"/>
                <a:ea typeface="Calibri" pitchFamily="34" charset="-122"/>
                <a:cs typeface="Calibri" pitchFamily="34" charset="-120"/>
              </a:rPr>
              <a:t>We finish the day with show-and-tell. Bring back what worked, what didn't, and what you'll keep using.</a:t>
            </a:r>
            <a:endParaRPr lang="en-US" sz="1300" dirty="0"/>
          </a:p>
        </p:txBody>
      </p:sp>
      <p:sp>
        <p:nvSpPr>
          <p:cNvPr id="25" name="Text 21"/>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33 / 40</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4">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10058400" cy="64008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Choose your challenge</a:t>
            </a:r>
            <a:endParaRPr lang="en-US" sz="3600" dirty="0"/>
          </a:p>
        </p:txBody>
      </p:sp>
      <p:sp>
        <p:nvSpPr>
          <p:cNvPr id="6" name="Shape 2"/>
          <p:cNvSpPr/>
          <p:nvPr/>
        </p:nvSpPr>
        <p:spPr>
          <a:xfrm>
            <a:off x="548640" y="1143000"/>
            <a:ext cx="1280160" cy="73152"/>
          </a:xfrm>
          <a:prstGeom prst="rect">
            <a:avLst/>
          </a:prstGeom>
          <a:solidFill>
            <a:srgbClr val="FFB81C"/>
          </a:solidFill>
          <a:ln w="12700">
            <a:solidFill>
              <a:srgbClr val="FFB81C"/>
            </a:solidFill>
            <a:prstDash val="solid"/>
          </a:ln>
        </p:spPr>
        <p:txBody>
          <a:bodyPr/>
          <a:lstStyle/>
          <a:p>
            <a:endParaRPr lang="en-US"/>
          </a:p>
        </p:txBody>
      </p:sp>
      <p:sp>
        <p:nvSpPr>
          <p:cNvPr id="7" name="Shape 3"/>
          <p:cNvSpPr/>
          <p:nvPr/>
        </p:nvSpPr>
        <p:spPr>
          <a:xfrm>
            <a:off x="1920240" y="1143000"/>
            <a:ext cx="640080" cy="73152"/>
          </a:xfrm>
          <a:prstGeom prst="rect">
            <a:avLst/>
          </a:prstGeom>
          <a:solidFill>
            <a:srgbClr val="4FC3F7"/>
          </a:solidFill>
          <a:ln w="12700">
            <a:solidFill>
              <a:srgbClr val="4FC3F7"/>
            </a:solidFill>
            <a:prstDash val="solid"/>
          </a:ln>
        </p:spPr>
        <p:txBody>
          <a:bodyPr/>
          <a:lstStyle/>
          <a:p>
            <a:endParaRPr lang="en-US"/>
          </a:p>
        </p:txBody>
      </p:sp>
      <p:sp>
        <p:nvSpPr>
          <p:cNvPr id="8" name="Text 4"/>
          <p:cNvSpPr/>
          <p:nvPr/>
        </p:nvSpPr>
        <p:spPr>
          <a:xfrm>
            <a:off x="548640" y="1417320"/>
            <a:ext cx="10972800" cy="457200"/>
          </a:xfrm>
          <a:prstGeom prst="rect">
            <a:avLst/>
          </a:prstGeom>
          <a:noFill/>
          <a:ln/>
        </p:spPr>
        <p:txBody>
          <a:bodyPr wrap="square" lIns="0" tIns="0" rIns="0" bIns="0" rtlCol="0" anchor="ctr"/>
          <a:lstStyle/>
          <a:p>
            <a:pPr marL="0" indent="0">
              <a:buNone/>
            </a:pPr>
            <a:r>
              <a:rPr lang="en-US" sz="1500" i="1" dirty="0">
                <a:solidFill>
                  <a:srgbClr val="EAF2FA"/>
                </a:solidFill>
                <a:latin typeface="Calibri" pitchFamily="34" charset="0"/>
                <a:ea typeface="Calibri" pitchFamily="34" charset="-122"/>
                <a:cs typeface="Calibri" pitchFamily="34" charset="-120"/>
              </a:rPr>
              <a:t>75 minutes to build, 15 minutes to share. Pick the scenario closest to your day job.</a:t>
            </a:r>
            <a:endParaRPr lang="en-US" sz="1500" dirty="0"/>
          </a:p>
        </p:txBody>
      </p:sp>
      <p:sp>
        <p:nvSpPr>
          <p:cNvPr id="9" name="Shape 5"/>
          <p:cNvSpPr/>
          <p:nvPr/>
        </p:nvSpPr>
        <p:spPr>
          <a:xfrm>
            <a:off x="548640" y="1874520"/>
            <a:ext cx="10058400" cy="777240"/>
          </a:xfrm>
          <a:prstGeom prst="rect">
            <a:avLst/>
          </a:prstGeom>
          <a:solidFill>
            <a:srgbClr val="0A2A44"/>
          </a:solidFill>
          <a:ln w="6350">
            <a:solidFill>
              <a:srgbClr val="1E3A5C"/>
            </a:solidFill>
            <a:prstDash val="solid"/>
          </a:ln>
        </p:spPr>
        <p:txBody>
          <a:bodyPr/>
          <a:lstStyle/>
          <a:p>
            <a:endParaRPr lang="en-US"/>
          </a:p>
        </p:txBody>
      </p:sp>
      <p:sp>
        <p:nvSpPr>
          <p:cNvPr id="10" name="Shape 6"/>
          <p:cNvSpPr/>
          <p:nvPr/>
        </p:nvSpPr>
        <p:spPr>
          <a:xfrm>
            <a:off x="548640" y="1874520"/>
            <a:ext cx="777240" cy="777240"/>
          </a:xfrm>
          <a:prstGeom prst="rect">
            <a:avLst/>
          </a:prstGeom>
          <a:solidFill>
            <a:srgbClr val="00111F"/>
          </a:solidFill>
          <a:ln w="12700">
            <a:solidFill>
              <a:srgbClr val="333333"/>
            </a:solidFill>
            <a:prstDash val="solid"/>
          </a:ln>
        </p:spPr>
        <p:txBody>
          <a:bodyPr/>
          <a:lstStyle/>
          <a:p>
            <a:endParaRPr lang="en-US"/>
          </a:p>
        </p:txBody>
      </p:sp>
      <p:sp>
        <p:nvSpPr>
          <p:cNvPr id="11" name="Text 7"/>
          <p:cNvSpPr/>
          <p:nvPr/>
        </p:nvSpPr>
        <p:spPr>
          <a:xfrm>
            <a:off x="548640" y="1874520"/>
            <a:ext cx="777240" cy="777240"/>
          </a:xfrm>
          <a:prstGeom prst="rect">
            <a:avLst/>
          </a:prstGeom>
          <a:noFill/>
          <a:ln/>
        </p:spPr>
        <p:txBody>
          <a:bodyPr wrap="square" lIns="0" tIns="0" rIns="0" bIns="0" rtlCol="0" anchor="ctr"/>
          <a:lstStyle/>
          <a:p>
            <a:pPr marL="0" indent="0" algn="ctr">
              <a:buNone/>
            </a:pPr>
            <a:r>
              <a:rPr lang="en-US" sz="2600" b="1" dirty="0">
                <a:solidFill>
                  <a:srgbClr val="FFB81C"/>
                </a:solidFill>
                <a:latin typeface="Calibri" pitchFamily="34" charset="0"/>
                <a:ea typeface="Calibri" pitchFamily="34" charset="-122"/>
                <a:cs typeface="Calibri" pitchFamily="34" charset="-120"/>
              </a:rPr>
              <a:t>01</a:t>
            </a:r>
            <a:endParaRPr lang="en-US" sz="2600" dirty="0"/>
          </a:p>
        </p:txBody>
      </p:sp>
      <p:sp>
        <p:nvSpPr>
          <p:cNvPr id="12" name="Text 8"/>
          <p:cNvSpPr/>
          <p:nvPr/>
        </p:nvSpPr>
        <p:spPr>
          <a:xfrm>
            <a:off x="1463040" y="1984248"/>
            <a:ext cx="384048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Contract Reviews</a:t>
            </a:r>
            <a:endParaRPr lang="en-US" sz="1700" dirty="0"/>
          </a:p>
        </p:txBody>
      </p:sp>
      <p:sp>
        <p:nvSpPr>
          <p:cNvPr id="13" name="Text 9"/>
          <p:cNvSpPr/>
          <p:nvPr/>
        </p:nvSpPr>
        <p:spPr>
          <a:xfrm>
            <a:off x="1463040" y="2331720"/>
            <a:ext cx="5120640" cy="365760"/>
          </a:xfrm>
          <a:prstGeom prst="rect">
            <a:avLst/>
          </a:prstGeom>
          <a:noFill/>
          <a:ln/>
        </p:spPr>
        <p:txBody>
          <a:bodyPr wrap="square" lIns="0" tIns="0" rIns="0" bIns="0" rtlCol="0" anchor="ctr"/>
          <a:lstStyle/>
          <a:p>
            <a:pPr marL="0" indent="0">
              <a:buNone/>
            </a:pPr>
            <a:r>
              <a:rPr lang="en-US" sz="1200" dirty="0">
                <a:solidFill>
                  <a:srgbClr val="EAF2FA"/>
                </a:solidFill>
                <a:latin typeface="Calibri" pitchFamily="34" charset="0"/>
                <a:ea typeface="Calibri" pitchFamily="34" charset="-122"/>
                <a:cs typeface="Calibri" pitchFamily="34" charset="-120"/>
              </a:rPr>
              <a:t>Analyse supplier contracts and produce an approval brief.</a:t>
            </a:r>
            <a:endParaRPr lang="en-US" sz="1200" dirty="0"/>
          </a:p>
        </p:txBody>
      </p:sp>
      <p:sp>
        <p:nvSpPr>
          <p:cNvPr id="14" name="Shape 10"/>
          <p:cNvSpPr/>
          <p:nvPr/>
        </p:nvSpPr>
        <p:spPr>
          <a:xfrm>
            <a:off x="6858000" y="2121408"/>
            <a:ext cx="1783080" cy="384048"/>
          </a:xfrm>
          <a:prstGeom prst="rect">
            <a:avLst/>
          </a:prstGeom>
          <a:solidFill>
            <a:srgbClr val="00111F"/>
          </a:solidFill>
          <a:ln w="6350">
            <a:solidFill>
              <a:srgbClr val="4FC3F7"/>
            </a:solidFill>
            <a:prstDash val="solid"/>
          </a:ln>
        </p:spPr>
        <p:txBody>
          <a:bodyPr/>
          <a:lstStyle/>
          <a:p>
            <a:endParaRPr lang="en-US"/>
          </a:p>
        </p:txBody>
      </p:sp>
      <p:sp>
        <p:nvSpPr>
          <p:cNvPr id="15" name="Text 11"/>
          <p:cNvSpPr/>
          <p:nvPr/>
        </p:nvSpPr>
        <p:spPr>
          <a:xfrm>
            <a:off x="6858000" y="2121408"/>
            <a:ext cx="1783080" cy="384048"/>
          </a:xfrm>
          <a:prstGeom prst="rect">
            <a:avLst/>
          </a:prstGeom>
          <a:noFill/>
          <a:ln/>
        </p:spPr>
        <p:txBody>
          <a:bodyPr wrap="square" lIns="0" tIns="0" rIns="0" bIns="0" rtlCol="0" anchor="ctr"/>
          <a:lstStyle/>
          <a:p>
            <a:pPr marL="0" indent="0" algn="ctr">
              <a:buNone/>
            </a:pPr>
            <a:r>
              <a:rPr lang="en-US" sz="1000" dirty="0">
                <a:solidFill>
                  <a:srgbClr val="EAF2FA"/>
                </a:solidFill>
                <a:latin typeface="Calibri" pitchFamily="34" charset="0"/>
                <a:ea typeface="Calibri" pitchFamily="34" charset="-122"/>
                <a:cs typeface="Calibri" pitchFamily="34" charset="-120"/>
              </a:rPr>
              <a:t>M365 Copilot Chat</a:t>
            </a:r>
            <a:endParaRPr lang="en-US" sz="1000" dirty="0"/>
          </a:p>
        </p:txBody>
      </p:sp>
      <p:sp>
        <p:nvSpPr>
          <p:cNvPr id="16" name="Shape 12"/>
          <p:cNvSpPr/>
          <p:nvPr/>
        </p:nvSpPr>
        <p:spPr>
          <a:xfrm>
            <a:off x="8778240" y="2121408"/>
            <a:ext cx="1828800" cy="384048"/>
          </a:xfrm>
          <a:prstGeom prst="rect">
            <a:avLst/>
          </a:prstGeom>
          <a:solidFill>
            <a:srgbClr val="FFB81C"/>
          </a:solidFill>
          <a:ln w="12700">
            <a:solidFill>
              <a:srgbClr val="333333"/>
            </a:solidFill>
            <a:prstDash val="solid"/>
          </a:ln>
        </p:spPr>
        <p:txBody>
          <a:bodyPr/>
          <a:lstStyle/>
          <a:p>
            <a:endParaRPr lang="en-US"/>
          </a:p>
        </p:txBody>
      </p:sp>
      <p:sp>
        <p:nvSpPr>
          <p:cNvPr id="17" name="Text 13"/>
          <p:cNvSpPr/>
          <p:nvPr/>
        </p:nvSpPr>
        <p:spPr>
          <a:xfrm>
            <a:off x="8778240" y="2121408"/>
            <a:ext cx="1828800" cy="384048"/>
          </a:xfrm>
          <a:prstGeom prst="rect">
            <a:avLst/>
          </a:prstGeom>
          <a:noFill/>
          <a:ln/>
        </p:spPr>
        <p:txBody>
          <a:bodyPr wrap="square" lIns="0" tIns="0" rIns="0" bIns="0" rtlCol="0" anchor="ctr"/>
          <a:lstStyle/>
          <a:p>
            <a:pPr marL="0" indent="0" algn="ctr">
              <a:buNone/>
            </a:pPr>
            <a:r>
              <a:rPr lang="en-US" sz="1000" b="1" dirty="0">
                <a:solidFill>
                  <a:srgbClr val="001F33"/>
                </a:solidFill>
                <a:latin typeface="Calibri" pitchFamily="34" charset="0"/>
                <a:ea typeface="Calibri" pitchFamily="34" charset="-122"/>
                <a:cs typeface="Calibri" pitchFamily="34" charset="-120"/>
              </a:rPr>
              <a:t>Beginner</a:t>
            </a:r>
            <a:endParaRPr lang="en-US" sz="1000" dirty="0"/>
          </a:p>
        </p:txBody>
      </p:sp>
      <p:sp>
        <p:nvSpPr>
          <p:cNvPr id="18" name="Shape 14"/>
          <p:cNvSpPr/>
          <p:nvPr/>
        </p:nvSpPr>
        <p:spPr>
          <a:xfrm>
            <a:off x="548640" y="2743200"/>
            <a:ext cx="10058400" cy="777240"/>
          </a:xfrm>
          <a:prstGeom prst="rect">
            <a:avLst/>
          </a:prstGeom>
          <a:solidFill>
            <a:srgbClr val="0A2A44"/>
          </a:solidFill>
          <a:ln w="6350">
            <a:solidFill>
              <a:srgbClr val="1E3A5C"/>
            </a:solidFill>
            <a:prstDash val="solid"/>
          </a:ln>
        </p:spPr>
        <p:txBody>
          <a:bodyPr/>
          <a:lstStyle/>
          <a:p>
            <a:endParaRPr lang="en-US"/>
          </a:p>
        </p:txBody>
      </p:sp>
      <p:sp>
        <p:nvSpPr>
          <p:cNvPr id="19" name="Shape 15"/>
          <p:cNvSpPr/>
          <p:nvPr/>
        </p:nvSpPr>
        <p:spPr>
          <a:xfrm>
            <a:off x="548640" y="2743200"/>
            <a:ext cx="777240" cy="777240"/>
          </a:xfrm>
          <a:prstGeom prst="rect">
            <a:avLst/>
          </a:prstGeom>
          <a:solidFill>
            <a:srgbClr val="00111F"/>
          </a:solidFill>
          <a:ln w="12700">
            <a:solidFill>
              <a:srgbClr val="333333"/>
            </a:solidFill>
            <a:prstDash val="solid"/>
          </a:ln>
        </p:spPr>
        <p:txBody>
          <a:bodyPr/>
          <a:lstStyle/>
          <a:p>
            <a:endParaRPr lang="en-US"/>
          </a:p>
        </p:txBody>
      </p:sp>
      <p:sp>
        <p:nvSpPr>
          <p:cNvPr id="20" name="Text 16"/>
          <p:cNvSpPr/>
          <p:nvPr/>
        </p:nvSpPr>
        <p:spPr>
          <a:xfrm>
            <a:off x="548640" y="2743200"/>
            <a:ext cx="777240" cy="777240"/>
          </a:xfrm>
          <a:prstGeom prst="rect">
            <a:avLst/>
          </a:prstGeom>
          <a:noFill/>
          <a:ln/>
        </p:spPr>
        <p:txBody>
          <a:bodyPr wrap="square" lIns="0" tIns="0" rIns="0" bIns="0" rtlCol="0" anchor="ctr"/>
          <a:lstStyle/>
          <a:p>
            <a:pPr marL="0" indent="0" algn="ctr">
              <a:buNone/>
            </a:pPr>
            <a:r>
              <a:rPr lang="en-US" sz="2600" b="1" dirty="0">
                <a:solidFill>
                  <a:srgbClr val="FFB81C"/>
                </a:solidFill>
                <a:latin typeface="Calibri" pitchFamily="34" charset="0"/>
                <a:ea typeface="Calibri" pitchFamily="34" charset="-122"/>
                <a:cs typeface="Calibri" pitchFamily="34" charset="-120"/>
              </a:rPr>
              <a:t>02</a:t>
            </a:r>
            <a:endParaRPr lang="en-US" sz="2600" dirty="0"/>
          </a:p>
        </p:txBody>
      </p:sp>
      <p:sp>
        <p:nvSpPr>
          <p:cNvPr id="21" name="Text 17"/>
          <p:cNvSpPr/>
          <p:nvPr/>
        </p:nvSpPr>
        <p:spPr>
          <a:xfrm>
            <a:off x="1463040" y="2852928"/>
            <a:ext cx="384048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SharePoint Agent</a:t>
            </a:r>
            <a:endParaRPr lang="en-US" sz="1700" dirty="0"/>
          </a:p>
        </p:txBody>
      </p:sp>
      <p:sp>
        <p:nvSpPr>
          <p:cNvPr id="22" name="Text 18"/>
          <p:cNvSpPr/>
          <p:nvPr/>
        </p:nvSpPr>
        <p:spPr>
          <a:xfrm>
            <a:off x="1463040" y="3200400"/>
            <a:ext cx="5120640" cy="365760"/>
          </a:xfrm>
          <a:prstGeom prst="rect">
            <a:avLst/>
          </a:prstGeom>
          <a:noFill/>
          <a:ln/>
        </p:spPr>
        <p:txBody>
          <a:bodyPr wrap="square" lIns="0" tIns="0" rIns="0" bIns="0" rtlCol="0" anchor="ctr"/>
          <a:lstStyle/>
          <a:p>
            <a:pPr marL="0" indent="0">
              <a:buNone/>
            </a:pPr>
            <a:r>
              <a:rPr lang="en-US" sz="1200" dirty="0">
                <a:solidFill>
                  <a:srgbClr val="EAF2FA"/>
                </a:solidFill>
                <a:latin typeface="Calibri" pitchFamily="34" charset="0"/>
                <a:ea typeface="Calibri" pitchFamily="34" charset="-122"/>
                <a:cs typeface="Calibri" pitchFamily="34" charset="-120"/>
              </a:rPr>
              <a:t>Build an agent that answers questions from your SharePoint policies.</a:t>
            </a:r>
            <a:endParaRPr lang="en-US" sz="1200" dirty="0"/>
          </a:p>
        </p:txBody>
      </p:sp>
      <p:sp>
        <p:nvSpPr>
          <p:cNvPr id="23" name="Shape 19"/>
          <p:cNvSpPr/>
          <p:nvPr/>
        </p:nvSpPr>
        <p:spPr>
          <a:xfrm>
            <a:off x="6858000" y="2990088"/>
            <a:ext cx="1783080" cy="384048"/>
          </a:xfrm>
          <a:prstGeom prst="rect">
            <a:avLst/>
          </a:prstGeom>
          <a:solidFill>
            <a:srgbClr val="00111F"/>
          </a:solidFill>
          <a:ln w="6350">
            <a:solidFill>
              <a:srgbClr val="4FC3F7"/>
            </a:solidFill>
            <a:prstDash val="solid"/>
          </a:ln>
        </p:spPr>
        <p:txBody>
          <a:bodyPr/>
          <a:lstStyle/>
          <a:p>
            <a:endParaRPr lang="en-US"/>
          </a:p>
        </p:txBody>
      </p:sp>
      <p:sp>
        <p:nvSpPr>
          <p:cNvPr id="24" name="Text 20"/>
          <p:cNvSpPr/>
          <p:nvPr/>
        </p:nvSpPr>
        <p:spPr>
          <a:xfrm>
            <a:off x="6858000" y="2990088"/>
            <a:ext cx="1783080" cy="384048"/>
          </a:xfrm>
          <a:prstGeom prst="rect">
            <a:avLst/>
          </a:prstGeom>
          <a:noFill/>
          <a:ln/>
        </p:spPr>
        <p:txBody>
          <a:bodyPr wrap="square" lIns="0" tIns="0" rIns="0" bIns="0" rtlCol="0" anchor="ctr"/>
          <a:lstStyle/>
          <a:p>
            <a:pPr marL="0" indent="0" algn="ctr">
              <a:buNone/>
            </a:pPr>
            <a:r>
              <a:rPr lang="en-US" sz="1000" dirty="0">
                <a:solidFill>
                  <a:srgbClr val="EAF2FA"/>
                </a:solidFill>
                <a:latin typeface="Calibri" pitchFamily="34" charset="0"/>
                <a:ea typeface="Calibri" pitchFamily="34" charset="-122"/>
                <a:cs typeface="Calibri" pitchFamily="34" charset="-120"/>
              </a:rPr>
              <a:t>M365 Copilot Chat</a:t>
            </a:r>
            <a:endParaRPr lang="en-US" sz="1000" dirty="0"/>
          </a:p>
        </p:txBody>
      </p:sp>
      <p:sp>
        <p:nvSpPr>
          <p:cNvPr id="25" name="Shape 21"/>
          <p:cNvSpPr/>
          <p:nvPr/>
        </p:nvSpPr>
        <p:spPr>
          <a:xfrm>
            <a:off x="8778240" y="2990088"/>
            <a:ext cx="1828800" cy="384048"/>
          </a:xfrm>
          <a:prstGeom prst="rect">
            <a:avLst/>
          </a:prstGeom>
          <a:solidFill>
            <a:srgbClr val="FFB81C"/>
          </a:solidFill>
          <a:ln w="12700">
            <a:solidFill>
              <a:srgbClr val="333333"/>
            </a:solidFill>
            <a:prstDash val="solid"/>
          </a:ln>
        </p:spPr>
        <p:txBody>
          <a:bodyPr/>
          <a:lstStyle/>
          <a:p>
            <a:endParaRPr lang="en-US"/>
          </a:p>
        </p:txBody>
      </p:sp>
      <p:sp>
        <p:nvSpPr>
          <p:cNvPr id="26" name="Text 22"/>
          <p:cNvSpPr/>
          <p:nvPr/>
        </p:nvSpPr>
        <p:spPr>
          <a:xfrm>
            <a:off x="8778240" y="2990088"/>
            <a:ext cx="1828800" cy="384048"/>
          </a:xfrm>
          <a:prstGeom prst="rect">
            <a:avLst/>
          </a:prstGeom>
          <a:noFill/>
          <a:ln/>
        </p:spPr>
        <p:txBody>
          <a:bodyPr wrap="square" lIns="0" tIns="0" rIns="0" bIns="0" rtlCol="0" anchor="ctr"/>
          <a:lstStyle/>
          <a:p>
            <a:pPr marL="0" indent="0" algn="ctr">
              <a:buNone/>
            </a:pPr>
            <a:r>
              <a:rPr lang="en-US" sz="1000" b="1" dirty="0">
                <a:solidFill>
                  <a:srgbClr val="001F33"/>
                </a:solidFill>
                <a:latin typeface="Calibri" pitchFamily="34" charset="0"/>
                <a:ea typeface="Calibri" pitchFamily="34" charset="-122"/>
                <a:cs typeface="Calibri" pitchFamily="34" charset="-120"/>
              </a:rPr>
              <a:t>Beginner</a:t>
            </a:r>
            <a:endParaRPr lang="en-US" sz="1000" dirty="0"/>
          </a:p>
        </p:txBody>
      </p:sp>
      <p:sp>
        <p:nvSpPr>
          <p:cNvPr id="27" name="Shape 23"/>
          <p:cNvSpPr/>
          <p:nvPr/>
        </p:nvSpPr>
        <p:spPr>
          <a:xfrm>
            <a:off x="548640" y="3611880"/>
            <a:ext cx="10058400" cy="777240"/>
          </a:xfrm>
          <a:prstGeom prst="rect">
            <a:avLst/>
          </a:prstGeom>
          <a:solidFill>
            <a:srgbClr val="0A2A44"/>
          </a:solidFill>
          <a:ln w="6350">
            <a:solidFill>
              <a:srgbClr val="1E3A5C"/>
            </a:solidFill>
            <a:prstDash val="solid"/>
          </a:ln>
        </p:spPr>
        <p:txBody>
          <a:bodyPr/>
          <a:lstStyle/>
          <a:p>
            <a:endParaRPr lang="en-US"/>
          </a:p>
        </p:txBody>
      </p:sp>
      <p:sp>
        <p:nvSpPr>
          <p:cNvPr id="28" name="Shape 24"/>
          <p:cNvSpPr/>
          <p:nvPr/>
        </p:nvSpPr>
        <p:spPr>
          <a:xfrm>
            <a:off x="548640" y="3611880"/>
            <a:ext cx="777240" cy="777240"/>
          </a:xfrm>
          <a:prstGeom prst="rect">
            <a:avLst/>
          </a:prstGeom>
          <a:solidFill>
            <a:srgbClr val="00111F"/>
          </a:solidFill>
          <a:ln w="12700">
            <a:solidFill>
              <a:srgbClr val="333333"/>
            </a:solidFill>
            <a:prstDash val="solid"/>
          </a:ln>
        </p:spPr>
        <p:txBody>
          <a:bodyPr/>
          <a:lstStyle/>
          <a:p>
            <a:endParaRPr lang="en-US"/>
          </a:p>
        </p:txBody>
      </p:sp>
      <p:sp>
        <p:nvSpPr>
          <p:cNvPr id="29" name="Text 25"/>
          <p:cNvSpPr/>
          <p:nvPr/>
        </p:nvSpPr>
        <p:spPr>
          <a:xfrm>
            <a:off x="548640" y="3611880"/>
            <a:ext cx="777240" cy="777240"/>
          </a:xfrm>
          <a:prstGeom prst="rect">
            <a:avLst/>
          </a:prstGeom>
          <a:noFill/>
          <a:ln/>
        </p:spPr>
        <p:txBody>
          <a:bodyPr wrap="square" lIns="0" tIns="0" rIns="0" bIns="0" rtlCol="0" anchor="ctr"/>
          <a:lstStyle/>
          <a:p>
            <a:pPr marL="0" indent="0" algn="ctr">
              <a:buNone/>
            </a:pPr>
            <a:r>
              <a:rPr lang="en-US" sz="2600" b="1" dirty="0">
                <a:solidFill>
                  <a:srgbClr val="FFB81C"/>
                </a:solidFill>
                <a:latin typeface="Calibri" pitchFamily="34" charset="0"/>
                <a:ea typeface="Calibri" pitchFamily="34" charset="-122"/>
                <a:cs typeface="Calibri" pitchFamily="34" charset="-120"/>
              </a:rPr>
              <a:t>03</a:t>
            </a:r>
            <a:endParaRPr lang="en-US" sz="2600" dirty="0"/>
          </a:p>
        </p:txBody>
      </p:sp>
      <p:sp>
        <p:nvSpPr>
          <p:cNvPr id="30" name="Text 26"/>
          <p:cNvSpPr/>
          <p:nvPr/>
        </p:nvSpPr>
        <p:spPr>
          <a:xfrm>
            <a:off x="1463040" y="3721608"/>
            <a:ext cx="384048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Copilot Notebook</a:t>
            </a:r>
            <a:endParaRPr lang="en-US" sz="1700" dirty="0"/>
          </a:p>
        </p:txBody>
      </p:sp>
      <p:sp>
        <p:nvSpPr>
          <p:cNvPr id="31" name="Text 27"/>
          <p:cNvSpPr/>
          <p:nvPr/>
        </p:nvSpPr>
        <p:spPr>
          <a:xfrm>
            <a:off x="1463040" y="4069080"/>
            <a:ext cx="5120640" cy="365760"/>
          </a:xfrm>
          <a:prstGeom prst="rect">
            <a:avLst/>
          </a:prstGeom>
          <a:noFill/>
          <a:ln/>
        </p:spPr>
        <p:txBody>
          <a:bodyPr wrap="square" lIns="0" tIns="0" rIns="0" bIns="0" rtlCol="0" anchor="ctr"/>
          <a:lstStyle/>
          <a:p>
            <a:pPr marL="0" indent="0">
              <a:buNone/>
            </a:pPr>
            <a:r>
              <a:rPr lang="en-US" sz="1200" dirty="0">
                <a:solidFill>
                  <a:srgbClr val="EAF2FA"/>
                </a:solidFill>
                <a:latin typeface="Calibri" pitchFamily="34" charset="0"/>
                <a:ea typeface="Calibri" pitchFamily="34" charset="-122"/>
                <a:cs typeface="Calibri" pitchFamily="34" charset="-120"/>
              </a:rPr>
              <a:t>Assess a Development Application against the planning scheme.</a:t>
            </a:r>
            <a:endParaRPr lang="en-US" sz="1200" dirty="0"/>
          </a:p>
        </p:txBody>
      </p:sp>
      <p:sp>
        <p:nvSpPr>
          <p:cNvPr id="32" name="Shape 28"/>
          <p:cNvSpPr/>
          <p:nvPr/>
        </p:nvSpPr>
        <p:spPr>
          <a:xfrm>
            <a:off x="6858000" y="3858768"/>
            <a:ext cx="1783080" cy="384048"/>
          </a:xfrm>
          <a:prstGeom prst="rect">
            <a:avLst/>
          </a:prstGeom>
          <a:solidFill>
            <a:srgbClr val="00111F"/>
          </a:solidFill>
          <a:ln w="6350">
            <a:solidFill>
              <a:srgbClr val="4FC3F7"/>
            </a:solidFill>
            <a:prstDash val="solid"/>
          </a:ln>
        </p:spPr>
        <p:txBody>
          <a:bodyPr/>
          <a:lstStyle/>
          <a:p>
            <a:endParaRPr lang="en-US"/>
          </a:p>
        </p:txBody>
      </p:sp>
      <p:sp>
        <p:nvSpPr>
          <p:cNvPr id="33" name="Text 29"/>
          <p:cNvSpPr/>
          <p:nvPr/>
        </p:nvSpPr>
        <p:spPr>
          <a:xfrm>
            <a:off x="6858000" y="3858768"/>
            <a:ext cx="1783080" cy="384048"/>
          </a:xfrm>
          <a:prstGeom prst="rect">
            <a:avLst/>
          </a:prstGeom>
          <a:noFill/>
          <a:ln/>
        </p:spPr>
        <p:txBody>
          <a:bodyPr wrap="square" lIns="0" tIns="0" rIns="0" bIns="0" rtlCol="0" anchor="ctr"/>
          <a:lstStyle/>
          <a:p>
            <a:pPr marL="0" indent="0" algn="ctr">
              <a:buNone/>
            </a:pPr>
            <a:r>
              <a:rPr lang="en-US" sz="1000" dirty="0">
                <a:solidFill>
                  <a:srgbClr val="EAF2FA"/>
                </a:solidFill>
                <a:latin typeface="Calibri" pitchFamily="34" charset="0"/>
                <a:ea typeface="Calibri" pitchFamily="34" charset="-122"/>
                <a:cs typeface="Calibri" pitchFamily="34" charset="-120"/>
              </a:rPr>
              <a:t>M365 Copilot Chat</a:t>
            </a:r>
            <a:endParaRPr lang="en-US" sz="1000" dirty="0"/>
          </a:p>
        </p:txBody>
      </p:sp>
      <p:sp>
        <p:nvSpPr>
          <p:cNvPr id="34" name="Shape 30"/>
          <p:cNvSpPr/>
          <p:nvPr/>
        </p:nvSpPr>
        <p:spPr>
          <a:xfrm>
            <a:off x="8778240" y="3858768"/>
            <a:ext cx="1828800" cy="384048"/>
          </a:xfrm>
          <a:prstGeom prst="rect">
            <a:avLst/>
          </a:prstGeom>
          <a:solidFill>
            <a:srgbClr val="FFB81C"/>
          </a:solidFill>
          <a:ln w="12700">
            <a:solidFill>
              <a:srgbClr val="333333"/>
            </a:solidFill>
            <a:prstDash val="solid"/>
          </a:ln>
        </p:spPr>
        <p:txBody>
          <a:bodyPr/>
          <a:lstStyle/>
          <a:p>
            <a:endParaRPr lang="en-US"/>
          </a:p>
        </p:txBody>
      </p:sp>
      <p:sp>
        <p:nvSpPr>
          <p:cNvPr id="35" name="Text 31"/>
          <p:cNvSpPr/>
          <p:nvPr/>
        </p:nvSpPr>
        <p:spPr>
          <a:xfrm>
            <a:off x="8778240" y="3858768"/>
            <a:ext cx="1828800" cy="384048"/>
          </a:xfrm>
          <a:prstGeom prst="rect">
            <a:avLst/>
          </a:prstGeom>
          <a:noFill/>
          <a:ln/>
        </p:spPr>
        <p:txBody>
          <a:bodyPr wrap="square" lIns="0" tIns="0" rIns="0" bIns="0" rtlCol="0" anchor="ctr"/>
          <a:lstStyle/>
          <a:p>
            <a:pPr marL="0" indent="0" algn="ctr">
              <a:buNone/>
            </a:pPr>
            <a:r>
              <a:rPr lang="en-US" sz="1000" b="1" dirty="0">
                <a:solidFill>
                  <a:srgbClr val="001F33"/>
                </a:solidFill>
                <a:latin typeface="Calibri" pitchFamily="34" charset="0"/>
                <a:ea typeface="Calibri" pitchFamily="34" charset="-122"/>
                <a:cs typeface="Calibri" pitchFamily="34" charset="-120"/>
              </a:rPr>
              <a:t>Beginner</a:t>
            </a:r>
            <a:endParaRPr lang="en-US" sz="1000" dirty="0"/>
          </a:p>
        </p:txBody>
      </p:sp>
      <p:sp>
        <p:nvSpPr>
          <p:cNvPr id="36" name="Shape 32"/>
          <p:cNvSpPr/>
          <p:nvPr/>
        </p:nvSpPr>
        <p:spPr>
          <a:xfrm>
            <a:off x="548640" y="4480560"/>
            <a:ext cx="10058400" cy="777240"/>
          </a:xfrm>
          <a:prstGeom prst="rect">
            <a:avLst/>
          </a:prstGeom>
          <a:solidFill>
            <a:srgbClr val="0A2A44"/>
          </a:solidFill>
          <a:ln w="6350">
            <a:solidFill>
              <a:srgbClr val="1E3A5C"/>
            </a:solidFill>
            <a:prstDash val="solid"/>
          </a:ln>
        </p:spPr>
        <p:txBody>
          <a:bodyPr/>
          <a:lstStyle/>
          <a:p>
            <a:endParaRPr lang="en-US"/>
          </a:p>
        </p:txBody>
      </p:sp>
      <p:sp>
        <p:nvSpPr>
          <p:cNvPr id="37" name="Shape 33"/>
          <p:cNvSpPr/>
          <p:nvPr/>
        </p:nvSpPr>
        <p:spPr>
          <a:xfrm>
            <a:off x="548640" y="4480560"/>
            <a:ext cx="777240" cy="777240"/>
          </a:xfrm>
          <a:prstGeom prst="rect">
            <a:avLst/>
          </a:prstGeom>
          <a:solidFill>
            <a:srgbClr val="00111F"/>
          </a:solidFill>
          <a:ln w="12700">
            <a:solidFill>
              <a:srgbClr val="333333"/>
            </a:solidFill>
            <a:prstDash val="solid"/>
          </a:ln>
        </p:spPr>
        <p:txBody>
          <a:bodyPr/>
          <a:lstStyle/>
          <a:p>
            <a:endParaRPr lang="en-US"/>
          </a:p>
        </p:txBody>
      </p:sp>
      <p:sp>
        <p:nvSpPr>
          <p:cNvPr id="38" name="Text 34"/>
          <p:cNvSpPr/>
          <p:nvPr/>
        </p:nvSpPr>
        <p:spPr>
          <a:xfrm>
            <a:off x="548640" y="4480560"/>
            <a:ext cx="777240" cy="777240"/>
          </a:xfrm>
          <a:prstGeom prst="rect">
            <a:avLst/>
          </a:prstGeom>
          <a:noFill/>
          <a:ln/>
        </p:spPr>
        <p:txBody>
          <a:bodyPr wrap="square" lIns="0" tIns="0" rIns="0" bIns="0" rtlCol="0" anchor="ctr"/>
          <a:lstStyle/>
          <a:p>
            <a:pPr marL="0" indent="0" algn="ctr">
              <a:buNone/>
            </a:pPr>
            <a:r>
              <a:rPr lang="en-US" sz="2600" b="1" dirty="0">
                <a:solidFill>
                  <a:srgbClr val="FFB81C"/>
                </a:solidFill>
                <a:latin typeface="Calibri" pitchFamily="34" charset="0"/>
                <a:ea typeface="Calibri" pitchFamily="34" charset="-122"/>
                <a:cs typeface="Calibri" pitchFamily="34" charset="-120"/>
              </a:rPr>
              <a:t>04</a:t>
            </a:r>
            <a:endParaRPr lang="en-US" sz="2600" dirty="0"/>
          </a:p>
        </p:txBody>
      </p:sp>
      <p:sp>
        <p:nvSpPr>
          <p:cNvPr id="39" name="Text 35"/>
          <p:cNvSpPr/>
          <p:nvPr/>
        </p:nvSpPr>
        <p:spPr>
          <a:xfrm>
            <a:off x="1463040" y="4590288"/>
            <a:ext cx="384048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Road Rules Explainer</a:t>
            </a:r>
            <a:endParaRPr lang="en-US" sz="1700" dirty="0"/>
          </a:p>
        </p:txBody>
      </p:sp>
      <p:sp>
        <p:nvSpPr>
          <p:cNvPr id="40" name="Text 36"/>
          <p:cNvSpPr/>
          <p:nvPr/>
        </p:nvSpPr>
        <p:spPr>
          <a:xfrm>
            <a:off x="1463040" y="4937760"/>
            <a:ext cx="5120640" cy="365760"/>
          </a:xfrm>
          <a:prstGeom prst="rect">
            <a:avLst/>
          </a:prstGeom>
          <a:noFill/>
          <a:ln/>
        </p:spPr>
        <p:txBody>
          <a:bodyPr wrap="square" lIns="0" tIns="0" rIns="0" bIns="0" rtlCol="0" anchor="ctr"/>
          <a:lstStyle/>
          <a:p>
            <a:pPr marL="0" indent="0">
              <a:buNone/>
            </a:pPr>
            <a:r>
              <a:rPr lang="en-US" sz="1200" dirty="0">
                <a:solidFill>
                  <a:srgbClr val="EAF2FA"/>
                </a:solidFill>
                <a:latin typeface="Calibri" pitchFamily="34" charset="0"/>
                <a:ea typeface="Calibri" pitchFamily="34" charset="-122"/>
                <a:cs typeface="Calibri" pitchFamily="34" charset="-120"/>
              </a:rPr>
              <a:t>Help citizens understand infringement notices and the rules.</a:t>
            </a:r>
            <a:endParaRPr lang="en-US" sz="1200" dirty="0"/>
          </a:p>
        </p:txBody>
      </p:sp>
      <p:sp>
        <p:nvSpPr>
          <p:cNvPr id="41" name="Shape 37"/>
          <p:cNvSpPr/>
          <p:nvPr/>
        </p:nvSpPr>
        <p:spPr>
          <a:xfrm>
            <a:off x="6858000" y="4727448"/>
            <a:ext cx="1783080" cy="384048"/>
          </a:xfrm>
          <a:prstGeom prst="rect">
            <a:avLst/>
          </a:prstGeom>
          <a:solidFill>
            <a:srgbClr val="00111F"/>
          </a:solidFill>
          <a:ln w="6350">
            <a:solidFill>
              <a:srgbClr val="4FC3F7"/>
            </a:solidFill>
            <a:prstDash val="solid"/>
          </a:ln>
        </p:spPr>
        <p:txBody>
          <a:bodyPr/>
          <a:lstStyle/>
          <a:p>
            <a:endParaRPr lang="en-US"/>
          </a:p>
        </p:txBody>
      </p:sp>
      <p:sp>
        <p:nvSpPr>
          <p:cNvPr id="42" name="Text 38"/>
          <p:cNvSpPr/>
          <p:nvPr/>
        </p:nvSpPr>
        <p:spPr>
          <a:xfrm>
            <a:off x="6858000" y="4727448"/>
            <a:ext cx="1783080" cy="384048"/>
          </a:xfrm>
          <a:prstGeom prst="rect">
            <a:avLst/>
          </a:prstGeom>
          <a:noFill/>
          <a:ln/>
        </p:spPr>
        <p:txBody>
          <a:bodyPr wrap="square" lIns="0" tIns="0" rIns="0" bIns="0" rtlCol="0" anchor="ctr"/>
          <a:lstStyle/>
          <a:p>
            <a:pPr marL="0" indent="0" algn="ctr">
              <a:buNone/>
            </a:pPr>
            <a:r>
              <a:rPr lang="en-US" sz="1000" dirty="0">
                <a:solidFill>
                  <a:srgbClr val="EAF2FA"/>
                </a:solidFill>
                <a:latin typeface="Calibri" pitchFamily="34" charset="0"/>
                <a:ea typeface="Calibri" pitchFamily="34" charset="-122"/>
                <a:cs typeface="Calibri" pitchFamily="34" charset="-120"/>
              </a:rPr>
              <a:t>Declarative Agent</a:t>
            </a:r>
            <a:endParaRPr lang="en-US" sz="1000" dirty="0"/>
          </a:p>
        </p:txBody>
      </p:sp>
      <p:sp>
        <p:nvSpPr>
          <p:cNvPr id="43" name="Shape 39"/>
          <p:cNvSpPr/>
          <p:nvPr/>
        </p:nvSpPr>
        <p:spPr>
          <a:xfrm>
            <a:off x="8778240" y="4727448"/>
            <a:ext cx="1828800" cy="384048"/>
          </a:xfrm>
          <a:prstGeom prst="rect">
            <a:avLst/>
          </a:prstGeom>
          <a:solidFill>
            <a:srgbClr val="FFB81C"/>
          </a:solidFill>
          <a:ln w="12700">
            <a:solidFill>
              <a:srgbClr val="333333"/>
            </a:solidFill>
            <a:prstDash val="solid"/>
          </a:ln>
        </p:spPr>
        <p:txBody>
          <a:bodyPr/>
          <a:lstStyle/>
          <a:p>
            <a:endParaRPr lang="en-US"/>
          </a:p>
        </p:txBody>
      </p:sp>
      <p:sp>
        <p:nvSpPr>
          <p:cNvPr id="44" name="Text 40"/>
          <p:cNvSpPr/>
          <p:nvPr/>
        </p:nvSpPr>
        <p:spPr>
          <a:xfrm>
            <a:off x="8778240" y="4727448"/>
            <a:ext cx="1828800" cy="384048"/>
          </a:xfrm>
          <a:prstGeom prst="rect">
            <a:avLst/>
          </a:prstGeom>
          <a:noFill/>
          <a:ln/>
        </p:spPr>
        <p:txBody>
          <a:bodyPr wrap="square" lIns="0" tIns="0" rIns="0" bIns="0" rtlCol="0" anchor="ctr"/>
          <a:lstStyle/>
          <a:p>
            <a:pPr marL="0" indent="0" algn="ctr">
              <a:buNone/>
            </a:pPr>
            <a:r>
              <a:rPr lang="en-US" sz="1000" b="1" dirty="0">
                <a:solidFill>
                  <a:srgbClr val="001F33"/>
                </a:solidFill>
                <a:latin typeface="Calibri" pitchFamily="34" charset="0"/>
                <a:ea typeface="Calibri" pitchFamily="34" charset="-122"/>
                <a:cs typeface="Calibri" pitchFamily="34" charset="-120"/>
              </a:rPr>
              <a:t>Intermediate</a:t>
            </a:r>
            <a:endParaRPr lang="en-US" sz="1000" dirty="0"/>
          </a:p>
        </p:txBody>
      </p:sp>
      <p:sp>
        <p:nvSpPr>
          <p:cNvPr id="45" name="Shape 41"/>
          <p:cNvSpPr/>
          <p:nvPr/>
        </p:nvSpPr>
        <p:spPr>
          <a:xfrm>
            <a:off x="548640" y="5349240"/>
            <a:ext cx="10058400" cy="777240"/>
          </a:xfrm>
          <a:prstGeom prst="rect">
            <a:avLst/>
          </a:prstGeom>
          <a:solidFill>
            <a:srgbClr val="0A2A44"/>
          </a:solidFill>
          <a:ln w="6350">
            <a:solidFill>
              <a:srgbClr val="1E3A5C"/>
            </a:solidFill>
            <a:prstDash val="solid"/>
          </a:ln>
        </p:spPr>
        <p:txBody>
          <a:bodyPr/>
          <a:lstStyle/>
          <a:p>
            <a:endParaRPr lang="en-US"/>
          </a:p>
        </p:txBody>
      </p:sp>
      <p:sp>
        <p:nvSpPr>
          <p:cNvPr id="46" name="Shape 42"/>
          <p:cNvSpPr/>
          <p:nvPr/>
        </p:nvSpPr>
        <p:spPr>
          <a:xfrm>
            <a:off x="548640" y="5349240"/>
            <a:ext cx="777240" cy="777240"/>
          </a:xfrm>
          <a:prstGeom prst="rect">
            <a:avLst/>
          </a:prstGeom>
          <a:solidFill>
            <a:srgbClr val="00111F"/>
          </a:solidFill>
          <a:ln w="12700">
            <a:solidFill>
              <a:srgbClr val="333333"/>
            </a:solidFill>
            <a:prstDash val="solid"/>
          </a:ln>
        </p:spPr>
        <p:txBody>
          <a:bodyPr/>
          <a:lstStyle/>
          <a:p>
            <a:endParaRPr lang="en-US"/>
          </a:p>
        </p:txBody>
      </p:sp>
      <p:sp>
        <p:nvSpPr>
          <p:cNvPr id="47" name="Text 43"/>
          <p:cNvSpPr/>
          <p:nvPr/>
        </p:nvSpPr>
        <p:spPr>
          <a:xfrm>
            <a:off x="548640" y="5349240"/>
            <a:ext cx="777240" cy="777240"/>
          </a:xfrm>
          <a:prstGeom prst="rect">
            <a:avLst/>
          </a:prstGeom>
          <a:noFill/>
          <a:ln/>
        </p:spPr>
        <p:txBody>
          <a:bodyPr wrap="square" lIns="0" tIns="0" rIns="0" bIns="0" rtlCol="0" anchor="ctr"/>
          <a:lstStyle/>
          <a:p>
            <a:pPr marL="0" indent="0" algn="ctr">
              <a:buNone/>
            </a:pPr>
            <a:r>
              <a:rPr lang="en-US" sz="2600" b="1" dirty="0">
                <a:solidFill>
                  <a:srgbClr val="FFB81C"/>
                </a:solidFill>
                <a:latin typeface="Calibri" pitchFamily="34" charset="0"/>
                <a:ea typeface="Calibri" pitchFamily="34" charset="-122"/>
                <a:cs typeface="Calibri" pitchFamily="34" charset="-120"/>
              </a:rPr>
              <a:t>05</a:t>
            </a:r>
            <a:endParaRPr lang="en-US" sz="2600" dirty="0"/>
          </a:p>
        </p:txBody>
      </p:sp>
      <p:sp>
        <p:nvSpPr>
          <p:cNvPr id="48" name="Text 44"/>
          <p:cNvSpPr/>
          <p:nvPr/>
        </p:nvSpPr>
        <p:spPr>
          <a:xfrm>
            <a:off x="1463040" y="5458968"/>
            <a:ext cx="384048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HR Recruitment Assistant</a:t>
            </a:r>
            <a:endParaRPr lang="en-US" sz="1700" dirty="0"/>
          </a:p>
        </p:txBody>
      </p:sp>
      <p:sp>
        <p:nvSpPr>
          <p:cNvPr id="49" name="Text 45"/>
          <p:cNvSpPr/>
          <p:nvPr/>
        </p:nvSpPr>
        <p:spPr>
          <a:xfrm>
            <a:off x="1463040" y="5806440"/>
            <a:ext cx="5120640" cy="365760"/>
          </a:xfrm>
          <a:prstGeom prst="rect">
            <a:avLst/>
          </a:prstGeom>
          <a:noFill/>
          <a:ln/>
        </p:spPr>
        <p:txBody>
          <a:bodyPr wrap="square" lIns="0" tIns="0" rIns="0" bIns="0" rtlCol="0" anchor="ctr"/>
          <a:lstStyle/>
          <a:p>
            <a:pPr marL="0" indent="0">
              <a:buNone/>
            </a:pPr>
            <a:r>
              <a:rPr lang="en-US" sz="1200" dirty="0">
                <a:solidFill>
                  <a:srgbClr val="EAF2FA"/>
                </a:solidFill>
                <a:latin typeface="Calibri" pitchFamily="34" charset="0"/>
                <a:ea typeface="Calibri" pitchFamily="34" charset="-122"/>
                <a:cs typeface="Calibri" pitchFamily="34" charset="-120"/>
              </a:rPr>
              <a:t>Evaluate, rank and interview candidates against a job description.</a:t>
            </a:r>
            <a:endParaRPr lang="en-US" sz="1200" dirty="0"/>
          </a:p>
        </p:txBody>
      </p:sp>
      <p:sp>
        <p:nvSpPr>
          <p:cNvPr id="50" name="Shape 46"/>
          <p:cNvSpPr/>
          <p:nvPr/>
        </p:nvSpPr>
        <p:spPr>
          <a:xfrm>
            <a:off x="6858000" y="5596128"/>
            <a:ext cx="1783080" cy="384048"/>
          </a:xfrm>
          <a:prstGeom prst="rect">
            <a:avLst/>
          </a:prstGeom>
          <a:solidFill>
            <a:srgbClr val="00111F"/>
          </a:solidFill>
          <a:ln w="6350">
            <a:solidFill>
              <a:srgbClr val="4FC3F7"/>
            </a:solidFill>
            <a:prstDash val="solid"/>
          </a:ln>
        </p:spPr>
        <p:txBody>
          <a:bodyPr/>
          <a:lstStyle/>
          <a:p>
            <a:endParaRPr lang="en-US"/>
          </a:p>
        </p:txBody>
      </p:sp>
      <p:sp>
        <p:nvSpPr>
          <p:cNvPr id="51" name="Text 47"/>
          <p:cNvSpPr/>
          <p:nvPr/>
        </p:nvSpPr>
        <p:spPr>
          <a:xfrm>
            <a:off x="6858000" y="5596128"/>
            <a:ext cx="1783080" cy="384048"/>
          </a:xfrm>
          <a:prstGeom prst="rect">
            <a:avLst/>
          </a:prstGeom>
          <a:noFill/>
          <a:ln/>
        </p:spPr>
        <p:txBody>
          <a:bodyPr wrap="square" lIns="0" tIns="0" rIns="0" bIns="0" rtlCol="0" anchor="ctr"/>
          <a:lstStyle/>
          <a:p>
            <a:pPr marL="0" indent="0" algn="ctr">
              <a:buNone/>
            </a:pPr>
            <a:r>
              <a:rPr lang="en-US" sz="1000" dirty="0">
                <a:solidFill>
                  <a:srgbClr val="EAF2FA"/>
                </a:solidFill>
                <a:latin typeface="Calibri" pitchFamily="34" charset="0"/>
                <a:ea typeface="Calibri" pitchFamily="34" charset="-122"/>
                <a:cs typeface="Calibri" pitchFamily="34" charset="-120"/>
              </a:rPr>
              <a:t>Declarative Agent</a:t>
            </a:r>
            <a:endParaRPr lang="en-US" sz="1000" dirty="0"/>
          </a:p>
        </p:txBody>
      </p:sp>
      <p:sp>
        <p:nvSpPr>
          <p:cNvPr id="52" name="Shape 48"/>
          <p:cNvSpPr/>
          <p:nvPr/>
        </p:nvSpPr>
        <p:spPr>
          <a:xfrm>
            <a:off x="8778240" y="5596128"/>
            <a:ext cx="1828800" cy="384048"/>
          </a:xfrm>
          <a:prstGeom prst="rect">
            <a:avLst/>
          </a:prstGeom>
          <a:solidFill>
            <a:srgbClr val="FFB81C"/>
          </a:solidFill>
          <a:ln w="12700">
            <a:solidFill>
              <a:srgbClr val="333333"/>
            </a:solidFill>
            <a:prstDash val="solid"/>
          </a:ln>
        </p:spPr>
        <p:txBody>
          <a:bodyPr/>
          <a:lstStyle/>
          <a:p>
            <a:endParaRPr lang="en-US"/>
          </a:p>
        </p:txBody>
      </p:sp>
      <p:sp>
        <p:nvSpPr>
          <p:cNvPr id="53" name="Text 49"/>
          <p:cNvSpPr/>
          <p:nvPr/>
        </p:nvSpPr>
        <p:spPr>
          <a:xfrm>
            <a:off x="8778240" y="5596128"/>
            <a:ext cx="1828800" cy="384048"/>
          </a:xfrm>
          <a:prstGeom prst="rect">
            <a:avLst/>
          </a:prstGeom>
          <a:noFill/>
          <a:ln/>
        </p:spPr>
        <p:txBody>
          <a:bodyPr wrap="square" lIns="0" tIns="0" rIns="0" bIns="0" rtlCol="0" anchor="ctr"/>
          <a:lstStyle/>
          <a:p>
            <a:pPr marL="0" indent="0" algn="ctr">
              <a:buNone/>
            </a:pPr>
            <a:r>
              <a:rPr lang="en-US" sz="1000" b="1" dirty="0">
                <a:solidFill>
                  <a:srgbClr val="001F33"/>
                </a:solidFill>
                <a:latin typeface="Calibri" pitchFamily="34" charset="0"/>
                <a:ea typeface="Calibri" pitchFamily="34" charset="-122"/>
                <a:cs typeface="Calibri" pitchFamily="34" charset="-120"/>
              </a:rPr>
              <a:t>Intermediate</a:t>
            </a:r>
            <a:endParaRPr lang="en-US" sz="1000" dirty="0"/>
          </a:p>
        </p:txBody>
      </p:sp>
      <p:sp>
        <p:nvSpPr>
          <p:cNvPr id="54" name="Text 50"/>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34 / 40</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5">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3657600" cy="365760"/>
          </a:xfrm>
          <a:prstGeom prst="rect">
            <a:avLst/>
          </a:prstGeom>
          <a:noFill/>
          <a:ln/>
        </p:spPr>
        <p:txBody>
          <a:bodyPr wrap="square" lIns="0" tIns="0" rIns="0" bIns="0" rtlCol="0" anchor="ctr"/>
          <a:lstStyle/>
          <a:p>
            <a:pPr marL="0" indent="0">
              <a:buNone/>
            </a:pPr>
            <a:r>
              <a:rPr lang="en-US" sz="1400" b="1" kern="0" spc="400" dirty="0">
                <a:solidFill>
                  <a:srgbClr val="4FC3F7"/>
                </a:solidFill>
                <a:latin typeface="Calibri" pitchFamily="34" charset="0"/>
                <a:ea typeface="Calibri" pitchFamily="34" charset="-122"/>
                <a:cs typeface="Calibri" pitchFamily="34" charset="-120"/>
              </a:rPr>
              <a:t>CHALLENGE</a:t>
            </a:r>
            <a:endParaRPr lang="en-US" sz="1400" dirty="0"/>
          </a:p>
        </p:txBody>
      </p:sp>
      <p:sp>
        <p:nvSpPr>
          <p:cNvPr id="6" name="Text 2"/>
          <p:cNvSpPr/>
          <p:nvPr/>
        </p:nvSpPr>
        <p:spPr>
          <a:xfrm>
            <a:off x="548640" y="777240"/>
            <a:ext cx="2194560" cy="1463040"/>
          </a:xfrm>
          <a:prstGeom prst="rect">
            <a:avLst/>
          </a:prstGeom>
          <a:noFill/>
          <a:ln/>
        </p:spPr>
        <p:txBody>
          <a:bodyPr wrap="square" lIns="0" tIns="0" rIns="0" bIns="0" rtlCol="0" anchor="ctr"/>
          <a:lstStyle/>
          <a:p>
            <a:pPr marL="0" indent="0">
              <a:buNone/>
            </a:pPr>
            <a:r>
              <a:rPr lang="en-US" sz="9600" b="1" dirty="0">
                <a:solidFill>
                  <a:srgbClr val="FFB81C"/>
                </a:solidFill>
                <a:latin typeface="Calibri" pitchFamily="34" charset="0"/>
                <a:ea typeface="Calibri" pitchFamily="34" charset="-122"/>
                <a:cs typeface="Calibri" pitchFamily="34" charset="-120"/>
              </a:rPr>
              <a:t>01</a:t>
            </a:r>
            <a:endParaRPr lang="en-US" sz="9600" dirty="0"/>
          </a:p>
        </p:txBody>
      </p:sp>
      <p:sp>
        <p:nvSpPr>
          <p:cNvPr id="7" name="Text 3"/>
          <p:cNvSpPr/>
          <p:nvPr/>
        </p:nvSpPr>
        <p:spPr>
          <a:xfrm>
            <a:off x="2743200" y="777240"/>
            <a:ext cx="82296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Use Copilot Chat for Contract Reviews</a:t>
            </a:r>
            <a:endParaRPr lang="en-US" sz="3000" dirty="0"/>
          </a:p>
        </p:txBody>
      </p:sp>
      <p:sp>
        <p:nvSpPr>
          <p:cNvPr id="8" name="Shape 4"/>
          <p:cNvSpPr/>
          <p:nvPr/>
        </p:nvSpPr>
        <p:spPr>
          <a:xfrm>
            <a:off x="2743200" y="1691640"/>
            <a:ext cx="2286000" cy="502920"/>
          </a:xfrm>
          <a:prstGeom prst="rect">
            <a:avLst/>
          </a:prstGeom>
          <a:solidFill>
            <a:srgbClr val="153A5C"/>
          </a:solidFill>
          <a:ln w="6350">
            <a:solidFill>
              <a:srgbClr val="1E3A5C"/>
            </a:solidFill>
            <a:prstDash val="solid"/>
          </a:ln>
        </p:spPr>
        <p:txBody>
          <a:bodyPr/>
          <a:lstStyle/>
          <a:p>
            <a:endParaRPr lang="en-US"/>
          </a:p>
        </p:txBody>
      </p:sp>
      <p:sp>
        <p:nvSpPr>
          <p:cNvPr id="9" name="Shape 5"/>
          <p:cNvSpPr/>
          <p:nvPr/>
        </p:nvSpPr>
        <p:spPr>
          <a:xfrm>
            <a:off x="2743200" y="1691640"/>
            <a:ext cx="54864" cy="502920"/>
          </a:xfrm>
          <a:prstGeom prst="rect">
            <a:avLst/>
          </a:prstGeom>
          <a:solidFill>
            <a:srgbClr val="FFB81C"/>
          </a:solidFill>
          <a:ln w="12700">
            <a:solidFill>
              <a:srgbClr val="333333"/>
            </a:solidFill>
            <a:prstDash val="solid"/>
          </a:ln>
        </p:spPr>
        <p:txBody>
          <a:bodyPr/>
          <a:lstStyle/>
          <a:p>
            <a:endParaRPr lang="en-US"/>
          </a:p>
        </p:txBody>
      </p:sp>
      <p:sp>
        <p:nvSpPr>
          <p:cNvPr id="10" name="Text 6"/>
          <p:cNvSpPr/>
          <p:nvPr/>
        </p:nvSpPr>
        <p:spPr>
          <a:xfrm>
            <a:off x="2907792" y="1719072"/>
            <a:ext cx="2057400" cy="201168"/>
          </a:xfrm>
          <a:prstGeom prst="rect">
            <a:avLst/>
          </a:prstGeom>
          <a:noFill/>
          <a:ln/>
        </p:spPr>
        <p:txBody>
          <a:bodyPr wrap="square" lIns="0" tIns="0" rIns="0" bIns="0" rtlCol="0" anchor="ctr"/>
          <a:lstStyle/>
          <a:p>
            <a:pPr marL="0" indent="0">
              <a:buNone/>
            </a:pPr>
            <a:r>
              <a:rPr lang="en-US" sz="900" b="1" kern="0" spc="200" dirty="0">
                <a:solidFill>
                  <a:srgbClr val="8FA8C2"/>
                </a:solidFill>
                <a:latin typeface="Calibri" pitchFamily="34" charset="0"/>
                <a:ea typeface="Calibri" pitchFamily="34" charset="-122"/>
                <a:cs typeface="Calibri" pitchFamily="34" charset="-120"/>
              </a:rPr>
              <a:t>Level</a:t>
            </a:r>
            <a:endParaRPr lang="en-US" sz="900" dirty="0"/>
          </a:p>
        </p:txBody>
      </p:sp>
      <p:sp>
        <p:nvSpPr>
          <p:cNvPr id="11" name="Text 7"/>
          <p:cNvSpPr/>
          <p:nvPr/>
        </p:nvSpPr>
        <p:spPr>
          <a:xfrm>
            <a:off x="2907792" y="1901952"/>
            <a:ext cx="20574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Beginner</a:t>
            </a:r>
            <a:endParaRPr lang="en-US" sz="1300" dirty="0"/>
          </a:p>
        </p:txBody>
      </p:sp>
      <p:sp>
        <p:nvSpPr>
          <p:cNvPr id="12" name="Shape 8"/>
          <p:cNvSpPr/>
          <p:nvPr/>
        </p:nvSpPr>
        <p:spPr>
          <a:xfrm>
            <a:off x="5166360" y="1691640"/>
            <a:ext cx="2286000" cy="502920"/>
          </a:xfrm>
          <a:prstGeom prst="rect">
            <a:avLst/>
          </a:prstGeom>
          <a:solidFill>
            <a:srgbClr val="153A5C"/>
          </a:solidFill>
          <a:ln w="6350">
            <a:solidFill>
              <a:srgbClr val="1E3A5C"/>
            </a:solidFill>
            <a:prstDash val="solid"/>
          </a:ln>
        </p:spPr>
        <p:txBody>
          <a:bodyPr/>
          <a:lstStyle/>
          <a:p>
            <a:endParaRPr lang="en-US"/>
          </a:p>
        </p:txBody>
      </p:sp>
      <p:sp>
        <p:nvSpPr>
          <p:cNvPr id="13" name="Shape 9"/>
          <p:cNvSpPr/>
          <p:nvPr/>
        </p:nvSpPr>
        <p:spPr>
          <a:xfrm>
            <a:off x="5166360" y="1691640"/>
            <a:ext cx="54864" cy="502920"/>
          </a:xfrm>
          <a:prstGeom prst="rect">
            <a:avLst/>
          </a:prstGeom>
          <a:solidFill>
            <a:srgbClr val="4FC3F7"/>
          </a:solidFill>
          <a:ln w="12700">
            <a:solidFill>
              <a:srgbClr val="333333"/>
            </a:solidFill>
            <a:prstDash val="solid"/>
          </a:ln>
        </p:spPr>
        <p:txBody>
          <a:bodyPr/>
          <a:lstStyle/>
          <a:p>
            <a:endParaRPr lang="en-US"/>
          </a:p>
        </p:txBody>
      </p:sp>
      <p:sp>
        <p:nvSpPr>
          <p:cNvPr id="14" name="Text 10"/>
          <p:cNvSpPr/>
          <p:nvPr/>
        </p:nvSpPr>
        <p:spPr>
          <a:xfrm>
            <a:off x="5330952" y="1719072"/>
            <a:ext cx="2057400" cy="201168"/>
          </a:xfrm>
          <a:prstGeom prst="rect">
            <a:avLst/>
          </a:prstGeom>
          <a:noFill/>
          <a:ln/>
        </p:spPr>
        <p:txBody>
          <a:bodyPr wrap="square" lIns="0" tIns="0" rIns="0" bIns="0" rtlCol="0" anchor="ctr"/>
          <a:lstStyle/>
          <a:p>
            <a:pPr marL="0" indent="0">
              <a:buNone/>
            </a:pPr>
            <a:r>
              <a:rPr lang="en-US" sz="900" b="1" kern="0" spc="200" dirty="0">
                <a:solidFill>
                  <a:srgbClr val="8FA8C2"/>
                </a:solidFill>
                <a:latin typeface="Calibri" pitchFamily="34" charset="0"/>
                <a:ea typeface="Calibri" pitchFamily="34" charset="-122"/>
                <a:cs typeface="Calibri" pitchFamily="34" charset="-120"/>
              </a:rPr>
              <a:t>Platform</a:t>
            </a:r>
            <a:endParaRPr lang="en-US" sz="900" dirty="0"/>
          </a:p>
        </p:txBody>
      </p:sp>
      <p:sp>
        <p:nvSpPr>
          <p:cNvPr id="15" name="Text 11"/>
          <p:cNvSpPr/>
          <p:nvPr/>
        </p:nvSpPr>
        <p:spPr>
          <a:xfrm>
            <a:off x="5330952" y="1901952"/>
            <a:ext cx="20574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M365 Copilot Chat</a:t>
            </a:r>
            <a:endParaRPr lang="en-US" sz="1300" dirty="0"/>
          </a:p>
        </p:txBody>
      </p:sp>
      <p:sp>
        <p:nvSpPr>
          <p:cNvPr id="16" name="Shape 12"/>
          <p:cNvSpPr/>
          <p:nvPr/>
        </p:nvSpPr>
        <p:spPr>
          <a:xfrm>
            <a:off x="7589520" y="1691640"/>
            <a:ext cx="2286000" cy="502920"/>
          </a:xfrm>
          <a:prstGeom prst="rect">
            <a:avLst/>
          </a:prstGeom>
          <a:solidFill>
            <a:srgbClr val="153A5C"/>
          </a:solidFill>
          <a:ln w="6350">
            <a:solidFill>
              <a:srgbClr val="1E3A5C"/>
            </a:solidFill>
            <a:prstDash val="solid"/>
          </a:ln>
        </p:spPr>
        <p:txBody>
          <a:bodyPr/>
          <a:lstStyle/>
          <a:p>
            <a:endParaRPr lang="en-US"/>
          </a:p>
        </p:txBody>
      </p:sp>
      <p:sp>
        <p:nvSpPr>
          <p:cNvPr id="17" name="Shape 13"/>
          <p:cNvSpPr/>
          <p:nvPr/>
        </p:nvSpPr>
        <p:spPr>
          <a:xfrm>
            <a:off x="7589520" y="1691640"/>
            <a:ext cx="54864" cy="502920"/>
          </a:xfrm>
          <a:prstGeom prst="rect">
            <a:avLst/>
          </a:prstGeom>
          <a:solidFill>
            <a:srgbClr val="FFB81C"/>
          </a:solidFill>
          <a:ln w="12700">
            <a:solidFill>
              <a:srgbClr val="333333"/>
            </a:solidFill>
            <a:prstDash val="solid"/>
          </a:ln>
        </p:spPr>
        <p:txBody>
          <a:bodyPr/>
          <a:lstStyle/>
          <a:p>
            <a:endParaRPr lang="en-US"/>
          </a:p>
        </p:txBody>
      </p:sp>
      <p:sp>
        <p:nvSpPr>
          <p:cNvPr id="18" name="Text 14"/>
          <p:cNvSpPr/>
          <p:nvPr/>
        </p:nvSpPr>
        <p:spPr>
          <a:xfrm>
            <a:off x="7754112" y="1719072"/>
            <a:ext cx="2057400" cy="201168"/>
          </a:xfrm>
          <a:prstGeom prst="rect">
            <a:avLst/>
          </a:prstGeom>
          <a:noFill/>
          <a:ln/>
        </p:spPr>
        <p:txBody>
          <a:bodyPr wrap="square" lIns="0" tIns="0" rIns="0" bIns="0" rtlCol="0" anchor="ctr"/>
          <a:lstStyle/>
          <a:p>
            <a:pPr marL="0" indent="0">
              <a:buNone/>
            </a:pPr>
            <a:r>
              <a:rPr lang="en-US" sz="900" b="1" kern="0" spc="200" dirty="0">
                <a:solidFill>
                  <a:srgbClr val="8FA8C2"/>
                </a:solidFill>
                <a:latin typeface="Calibri" pitchFamily="34" charset="0"/>
                <a:ea typeface="Calibri" pitchFamily="34" charset="-122"/>
                <a:cs typeface="Calibri" pitchFamily="34" charset="-120"/>
              </a:rPr>
              <a:t>Time</a:t>
            </a:r>
            <a:endParaRPr lang="en-US" sz="900" dirty="0"/>
          </a:p>
        </p:txBody>
      </p:sp>
      <p:sp>
        <p:nvSpPr>
          <p:cNvPr id="19" name="Text 15"/>
          <p:cNvSpPr/>
          <p:nvPr/>
        </p:nvSpPr>
        <p:spPr>
          <a:xfrm>
            <a:off x="7754112" y="1901952"/>
            <a:ext cx="20574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20-30 mins</a:t>
            </a:r>
            <a:endParaRPr lang="en-US" sz="1300" dirty="0"/>
          </a:p>
        </p:txBody>
      </p:sp>
      <p:sp>
        <p:nvSpPr>
          <p:cNvPr id="20" name="Shape 16"/>
          <p:cNvSpPr/>
          <p:nvPr/>
        </p:nvSpPr>
        <p:spPr>
          <a:xfrm>
            <a:off x="548640" y="2468880"/>
            <a:ext cx="10058400" cy="2377440"/>
          </a:xfrm>
          <a:prstGeom prst="rect">
            <a:avLst/>
          </a:prstGeom>
          <a:solidFill>
            <a:srgbClr val="0A2A44"/>
          </a:solidFill>
          <a:ln w="6350">
            <a:solidFill>
              <a:srgbClr val="1E3A5C"/>
            </a:solidFill>
            <a:prstDash val="solid"/>
          </a:ln>
        </p:spPr>
        <p:txBody>
          <a:bodyPr/>
          <a:lstStyle/>
          <a:p>
            <a:endParaRPr lang="en-US"/>
          </a:p>
        </p:txBody>
      </p:sp>
      <p:sp>
        <p:nvSpPr>
          <p:cNvPr id="21" name="Shape 17"/>
          <p:cNvSpPr/>
          <p:nvPr/>
        </p:nvSpPr>
        <p:spPr>
          <a:xfrm>
            <a:off x="548640" y="2468880"/>
            <a:ext cx="91440" cy="2377440"/>
          </a:xfrm>
          <a:prstGeom prst="rect">
            <a:avLst/>
          </a:prstGeom>
          <a:solidFill>
            <a:srgbClr val="FFB81C"/>
          </a:solidFill>
          <a:ln w="12700">
            <a:solidFill>
              <a:srgbClr val="333333"/>
            </a:solidFill>
            <a:prstDash val="solid"/>
          </a:ln>
        </p:spPr>
        <p:txBody>
          <a:bodyPr/>
          <a:lstStyle/>
          <a:p>
            <a:endParaRPr lang="en-US"/>
          </a:p>
        </p:txBody>
      </p:sp>
      <p:sp>
        <p:nvSpPr>
          <p:cNvPr id="22" name="Text 18"/>
          <p:cNvSpPr/>
          <p:nvPr/>
        </p:nvSpPr>
        <p:spPr>
          <a:xfrm>
            <a:off x="777240" y="2651760"/>
            <a:ext cx="3657600" cy="274320"/>
          </a:xfrm>
          <a:prstGeom prst="rect">
            <a:avLst/>
          </a:prstGeom>
          <a:noFill/>
          <a:ln/>
        </p:spPr>
        <p:txBody>
          <a:bodyPr wrap="square" lIns="0" tIns="0" rIns="0" bIns="0" rtlCol="0" anchor="ctr"/>
          <a:lstStyle/>
          <a:p>
            <a:pPr marL="0" indent="0">
              <a:buNone/>
            </a:pPr>
            <a:r>
              <a:rPr lang="en-US" sz="1100" b="1" kern="0" spc="300" dirty="0">
                <a:solidFill>
                  <a:srgbClr val="FFB81C"/>
                </a:solidFill>
                <a:latin typeface="Calibri" pitchFamily="34" charset="0"/>
                <a:ea typeface="Calibri" pitchFamily="34" charset="-122"/>
                <a:cs typeface="Calibri" pitchFamily="34" charset="-120"/>
              </a:rPr>
              <a:t>SCENARIO</a:t>
            </a:r>
            <a:endParaRPr lang="en-US" sz="1100" dirty="0"/>
          </a:p>
        </p:txBody>
      </p:sp>
      <p:sp>
        <p:nvSpPr>
          <p:cNvPr id="23" name="Text 19"/>
          <p:cNvSpPr/>
          <p:nvPr/>
        </p:nvSpPr>
        <p:spPr>
          <a:xfrm>
            <a:off x="777240" y="2971800"/>
            <a:ext cx="9692640" cy="1737360"/>
          </a:xfrm>
          <a:prstGeom prst="rect">
            <a:avLst/>
          </a:prstGeom>
          <a:noFill/>
          <a:ln/>
        </p:spPr>
        <p:txBody>
          <a:bodyPr wrap="square" lIns="0" tIns="0" rIns="0" bIns="0" rtlCol="0" anchor="ctr"/>
          <a:lstStyle/>
          <a:p>
            <a:pPr marL="0" indent="0">
              <a:buNone/>
            </a:pPr>
            <a:r>
              <a:rPr lang="en-US" sz="1300" dirty="0">
                <a:solidFill>
                  <a:srgbClr val="EAF2FA"/>
                </a:solidFill>
                <a:latin typeface="Calibri" pitchFamily="34" charset="0"/>
                <a:ea typeface="Calibri" pitchFamily="34" charset="-122"/>
                <a:cs typeface="Calibri" pitchFamily="34" charset="-120"/>
              </a:rPr>
              <a:t>Greenfield City Council manages a mixed fleet of vehicles used by local laws, parks, community services, waste oversight, facilities and depot operations. To improve uptime and simplify vendor management, the Council is entering a 3-year Fleet Maintenance Services Agreement with Southern Cross FleetCare Pty Ltd. The supplier-authored draft is the basis for negotiation. Procurement &amp; Contract Management need a rapid first-pass risk review before the Steering Committee meets.</a:t>
            </a:r>
            <a:endParaRPr lang="en-US" sz="1300" dirty="0"/>
          </a:p>
        </p:txBody>
      </p:sp>
      <p:sp>
        <p:nvSpPr>
          <p:cNvPr id="24" name="Shape 20"/>
          <p:cNvSpPr/>
          <p:nvPr/>
        </p:nvSpPr>
        <p:spPr>
          <a:xfrm>
            <a:off x="548640" y="4983480"/>
            <a:ext cx="6766560" cy="1554480"/>
          </a:xfrm>
          <a:prstGeom prst="rect">
            <a:avLst/>
          </a:prstGeom>
          <a:solidFill>
            <a:srgbClr val="153A5C"/>
          </a:solidFill>
          <a:ln w="6350">
            <a:solidFill>
              <a:srgbClr val="1E3A5C"/>
            </a:solidFill>
            <a:prstDash val="solid"/>
          </a:ln>
        </p:spPr>
        <p:txBody>
          <a:bodyPr/>
          <a:lstStyle/>
          <a:p>
            <a:endParaRPr lang="en-US"/>
          </a:p>
        </p:txBody>
      </p:sp>
      <p:sp>
        <p:nvSpPr>
          <p:cNvPr id="25" name="Shape 21"/>
          <p:cNvSpPr/>
          <p:nvPr/>
        </p:nvSpPr>
        <p:spPr>
          <a:xfrm>
            <a:off x="548640" y="4983480"/>
            <a:ext cx="91440" cy="1554480"/>
          </a:xfrm>
          <a:prstGeom prst="rect">
            <a:avLst/>
          </a:prstGeom>
          <a:solidFill>
            <a:srgbClr val="4FC3F7"/>
          </a:solidFill>
          <a:ln w="12700">
            <a:solidFill>
              <a:srgbClr val="333333"/>
            </a:solidFill>
            <a:prstDash val="solid"/>
          </a:ln>
        </p:spPr>
        <p:txBody>
          <a:bodyPr/>
          <a:lstStyle/>
          <a:p>
            <a:endParaRPr lang="en-US"/>
          </a:p>
        </p:txBody>
      </p:sp>
      <p:sp>
        <p:nvSpPr>
          <p:cNvPr id="26" name="Text 22"/>
          <p:cNvSpPr/>
          <p:nvPr/>
        </p:nvSpPr>
        <p:spPr>
          <a:xfrm>
            <a:off x="777240" y="5120640"/>
            <a:ext cx="3657600" cy="274320"/>
          </a:xfrm>
          <a:prstGeom prst="rect">
            <a:avLst/>
          </a:prstGeom>
          <a:noFill/>
          <a:ln/>
        </p:spPr>
        <p:txBody>
          <a:bodyPr wrap="square" lIns="0" tIns="0" rIns="0" bIns="0" rtlCol="0" anchor="ctr"/>
          <a:lstStyle/>
          <a:p>
            <a:pPr marL="0" indent="0">
              <a:buNone/>
            </a:pPr>
            <a:r>
              <a:rPr lang="en-US" sz="1100" b="1" kern="0" spc="300" dirty="0">
                <a:solidFill>
                  <a:srgbClr val="4FC3F7"/>
                </a:solidFill>
                <a:latin typeface="Calibri" pitchFamily="34" charset="0"/>
                <a:ea typeface="Calibri" pitchFamily="34" charset="-122"/>
                <a:cs typeface="Calibri" pitchFamily="34" charset="-120"/>
              </a:rPr>
              <a:t>YOUR GOAL</a:t>
            </a:r>
            <a:endParaRPr lang="en-US" sz="1100" dirty="0"/>
          </a:p>
        </p:txBody>
      </p:sp>
      <p:sp>
        <p:nvSpPr>
          <p:cNvPr id="27" name="Text 23"/>
          <p:cNvSpPr/>
          <p:nvPr/>
        </p:nvSpPr>
        <p:spPr>
          <a:xfrm>
            <a:off x="777240" y="5440680"/>
            <a:ext cx="6400800" cy="1005840"/>
          </a:xfrm>
          <a:prstGeom prst="rect">
            <a:avLst/>
          </a:prstGeom>
          <a:noFill/>
          <a:ln/>
        </p:spPr>
        <p:txBody>
          <a:bodyPr wrap="square" lIns="0" tIns="0" rIns="0" bIns="0" rtlCol="0" anchor="ctr"/>
          <a:lstStyle/>
          <a:p>
            <a:pPr marL="0" indent="0">
              <a:buNone/>
            </a:pPr>
            <a:r>
              <a:rPr lang="en-US" sz="1200" dirty="0">
                <a:solidFill>
                  <a:srgbClr val="EAF2FA"/>
                </a:solidFill>
                <a:latin typeface="Calibri" pitchFamily="34" charset="0"/>
                <a:ea typeface="Calibri" pitchFamily="34" charset="-122"/>
                <a:cs typeface="Calibri" pitchFamily="34" charset="-120"/>
              </a:rPr>
              <a:t>Instruct Copilot to summarise the contract — main clauses, key dates, contractual risks. Present the risks in a table with risk area, specific details and recommended ways to address. Then make Copilot draft an approval brief using the council's approval brief template.</a:t>
            </a:r>
            <a:endParaRPr lang="en-US" sz="1200" dirty="0"/>
          </a:p>
        </p:txBody>
      </p:sp>
      <p:sp>
        <p:nvSpPr>
          <p:cNvPr id="28" name="Shape 24"/>
          <p:cNvSpPr/>
          <p:nvPr/>
        </p:nvSpPr>
        <p:spPr>
          <a:xfrm>
            <a:off x="7452360" y="4983480"/>
            <a:ext cx="3154680" cy="1554480"/>
          </a:xfrm>
          <a:prstGeom prst="rect">
            <a:avLst/>
          </a:prstGeom>
          <a:solidFill>
            <a:srgbClr val="153A5C"/>
          </a:solidFill>
          <a:ln w="6350">
            <a:solidFill>
              <a:srgbClr val="1E3A5C"/>
            </a:solidFill>
            <a:prstDash val="solid"/>
          </a:ln>
        </p:spPr>
        <p:txBody>
          <a:bodyPr/>
          <a:lstStyle/>
          <a:p>
            <a:endParaRPr lang="en-US"/>
          </a:p>
        </p:txBody>
      </p:sp>
      <p:sp>
        <p:nvSpPr>
          <p:cNvPr id="29" name="Shape 25"/>
          <p:cNvSpPr/>
          <p:nvPr/>
        </p:nvSpPr>
        <p:spPr>
          <a:xfrm>
            <a:off x="7452360" y="4983480"/>
            <a:ext cx="91440" cy="1554480"/>
          </a:xfrm>
          <a:prstGeom prst="rect">
            <a:avLst/>
          </a:prstGeom>
          <a:solidFill>
            <a:srgbClr val="FFB81C"/>
          </a:solidFill>
          <a:ln w="12700">
            <a:solidFill>
              <a:srgbClr val="333333"/>
            </a:solidFill>
            <a:prstDash val="solid"/>
          </a:ln>
        </p:spPr>
        <p:txBody>
          <a:bodyPr/>
          <a:lstStyle/>
          <a:p>
            <a:endParaRPr lang="en-US"/>
          </a:p>
        </p:txBody>
      </p:sp>
      <p:sp>
        <p:nvSpPr>
          <p:cNvPr id="30" name="Text 26"/>
          <p:cNvSpPr/>
          <p:nvPr/>
        </p:nvSpPr>
        <p:spPr>
          <a:xfrm>
            <a:off x="7680960" y="5120640"/>
            <a:ext cx="3657600" cy="274320"/>
          </a:xfrm>
          <a:prstGeom prst="rect">
            <a:avLst/>
          </a:prstGeom>
          <a:noFill/>
          <a:ln/>
        </p:spPr>
        <p:txBody>
          <a:bodyPr wrap="square" lIns="0" tIns="0" rIns="0" bIns="0" rtlCol="0" anchor="ctr"/>
          <a:lstStyle/>
          <a:p>
            <a:pPr marL="0" indent="0">
              <a:buNone/>
            </a:pPr>
            <a:r>
              <a:rPr lang="en-US" sz="1100" b="1" kern="0" spc="300" dirty="0">
                <a:solidFill>
                  <a:srgbClr val="FFB81C"/>
                </a:solidFill>
                <a:latin typeface="Calibri" pitchFamily="34" charset="0"/>
                <a:ea typeface="Calibri" pitchFamily="34" charset="-122"/>
                <a:cs typeface="Calibri" pitchFamily="34" charset="-120"/>
              </a:rPr>
              <a:t>DATA FILES</a:t>
            </a:r>
            <a:endParaRPr lang="en-US" sz="1100" dirty="0"/>
          </a:p>
        </p:txBody>
      </p:sp>
      <p:sp>
        <p:nvSpPr>
          <p:cNvPr id="31" name="Text 27"/>
          <p:cNvSpPr/>
          <p:nvPr/>
        </p:nvSpPr>
        <p:spPr>
          <a:xfrm>
            <a:off x="7680960" y="5440680"/>
            <a:ext cx="2834640" cy="1005840"/>
          </a:xfrm>
          <a:prstGeom prst="rect">
            <a:avLst/>
          </a:prstGeom>
          <a:noFill/>
          <a:ln/>
        </p:spPr>
        <p:txBody>
          <a:bodyPr wrap="square" lIns="0" tIns="0" rIns="0" bIns="0" rtlCol="0" anchor="ctr"/>
          <a:lstStyle/>
          <a:p>
            <a:pPr marL="342900" indent="-342900">
              <a:buSzPct val="100000"/>
              <a:buChar char="•"/>
            </a:pPr>
            <a:r>
              <a:rPr lang="en-US" sz="1100" dirty="0">
                <a:solidFill>
                  <a:srgbClr val="EAF2FA"/>
                </a:solidFill>
                <a:latin typeface="Calibri" pitchFamily="34" charset="0"/>
                <a:ea typeface="Calibri" pitchFamily="34" charset="-122"/>
                <a:cs typeface="Calibri" pitchFamily="34" charset="-120"/>
              </a:rPr>
              <a:t>Fleet Maintenance Services Agreement</a:t>
            </a:r>
            <a:endParaRPr lang="en-US" sz="1100" dirty="0"/>
          </a:p>
          <a:p>
            <a:pPr marL="342900" indent="-342900">
              <a:buSzPct val="100000"/>
              <a:buChar char="•"/>
            </a:pPr>
            <a:r>
              <a:rPr lang="en-US" sz="1100" dirty="0">
                <a:solidFill>
                  <a:srgbClr val="EAF2FA"/>
                </a:solidFill>
                <a:latin typeface="Calibri" pitchFamily="34" charset="0"/>
                <a:ea typeface="Calibri" pitchFamily="34" charset="-122"/>
                <a:cs typeface="Calibri" pitchFamily="34" charset="-120"/>
              </a:rPr>
              <a:t>Approval Brief Template</a:t>
            </a:r>
            <a:endParaRPr lang="en-US" sz="1100" dirty="0"/>
          </a:p>
        </p:txBody>
      </p:sp>
      <p:sp>
        <p:nvSpPr>
          <p:cNvPr id="32" name="Text 28"/>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35 / 40</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6">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3657600" cy="365760"/>
          </a:xfrm>
          <a:prstGeom prst="rect">
            <a:avLst/>
          </a:prstGeom>
          <a:noFill/>
          <a:ln/>
        </p:spPr>
        <p:txBody>
          <a:bodyPr wrap="square" lIns="0" tIns="0" rIns="0" bIns="0" rtlCol="0" anchor="ctr"/>
          <a:lstStyle/>
          <a:p>
            <a:pPr marL="0" indent="0">
              <a:buNone/>
            </a:pPr>
            <a:r>
              <a:rPr lang="en-US" sz="1400" b="1" kern="0" spc="400" dirty="0">
                <a:solidFill>
                  <a:srgbClr val="4FC3F7"/>
                </a:solidFill>
                <a:latin typeface="Calibri" pitchFamily="34" charset="0"/>
                <a:ea typeface="Calibri" pitchFamily="34" charset="-122"/>
                <a:cs typeface="Calibri" pitchFamily="34" charset="-120"/>
              </a:rPr>
              <a:t>CHALLENGE</a:t>
            </a:r>
            <a:endParaRPr lang="en-US" sz="1400" dirty="0"/>
          </a:p>
        </p:txBody>
      </p:sp>
      <p:sp>
        <p:nvSpPr>
          <p:cNvPr id="6" name="Text 2"/>
          <p:cNvSpPr/>
          <p:nvPr/>
        </p:nvSpPr>
        <p:spPr>
          <a:xfrm>
            <a:off x="548640" y="777240"/>
            <a:ext cx="2194560" cy="1463040"/>
          </a:xfrm>
          <a:prstGeom prst="rect">
            <a:avLst/>
          </a:prstGeom>
          <a:noFill/>
          <a:ln/>
        </p:spPr>
        <p:txBody>
          <a:bodyPr wrap="square" lIns="0" tIns="0" rIns="0" bIns="0" rtlCol="0" anchor="ctr"/>
          <a:lstStyle/>
          <a:p>
            <a:pPr marL="0" indent="0">
              <a:buNone/>
            </a:pPr>
            <a:r>
              <a:rPr lang="en-US" sz="9600" b="1" dirty="0">
                <a:solidFill>
                  <a:srgbClr val="FFB81C"/>
                </a:solidFill>
                <a:latin typeface="Calibri" pitchFamily="34" charset="0"/>
                <a:ea typeface="Calibri" pitchFamily="34" charset="-122"/>
                <a:cs typeface="Calibri" pitchFamily="34" charset="-120"/>
              </a:rPr>
              <a:t>02</a:t>
            </a:r>
            <a:endParaRPr lang="en-US" sz="9600" dirty="0"/>
          </a:p>
        </p:txBody>
      </p:sp>
      <p:sp>
        <p:nvSpPr>
          <p:cNvPr id="7" name="Text 3"/>
          <p:cNvSpPr/>
          <p:nvPr/>
        </p:nvSpPr>
        <p:spPr>
          <a:xfrm>
            <a:off x="2743200" y="777240"/>
            <a:ext cx="82296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SharePoint Agent</a:t>
            </a:r>
            <a:endParaRPr lang="en-US" sz="3000" dirty="0"/>
          </a:p>
        </p:txBody>
      </p:sp>
      <p:sp>
        <p:nvSpPr>
          <p:cNvPr id="8" name="Shape 4"/>
          <p:cNvSpPr/>
          <p:nvPr/>
        </p:nvSpPr>
        <p:spPr>
          <a:xfrm>
            <a:off x="2743200" y="1691640"/>
            <a:ext cx="2286000" cy="502920"/>
          </a:xfrm>
          <a:prstGeom prst="rect">
            <a:avLst/>
          </a:prstGeom>
          <a:solidFill>
            <a:srgbClr val="153A5C"/>
          </a:solidFill>
          <a:ln w="6350">
            <a:solidFill>
              <a:srgbClr val="1E3A5C"/>
            </a:solidFill>
            <a:prstDash val="solid"/>
          </a:ln>
        </p:spPr>
        <p:txBody>
          <a:bodyPr/>
          <a:lstStyle/>
          <a:p>
            <a:endParaRPr lang="en-US"/>
          </a:p>
        </p:txBody>
      </p:sp>
      <p:sp>
        <p:nvSpPr>
          <p:cNvPr id="9" name="Shape 5"/>
          <p:cNvSpPr/>
          <p:nvPr/>
        </p:nvSpPr>
        <p:spPr>
          <a:xfrm>
            <a:off x="2743200" y="1691640"/>
            <a:ext cx="54864" cy="502920"/>
          </a:xfrm>
          <a:prstGeom prst="rect">
            <a:avLst/>
          </a:prstGeom>
          <a:solidFill>
            <a:srgbClr val="FFB81C"/>
          </a:solidFill>
          <a:ln w="12700">
            <a:solidFill>
              <a:srgbClr val="333333"/>
            </a:solidFill>
            <a:prstDash val="solid"/>
          </a:ln>
        </p:spPr>
        <p:txBody>
          <a:bodyPr/>
          <a:lstStyle/>
          <a:p>
            <a:endParaRPr lang="en-US"/>
          </a:p>
        </p:txBody>
      </p:sp>
      <p:sp>
        <p:nvSpPr>
          <p:cNvPr id="10" name="Text 6"/>
          <p:cNvSpPr/>
          <p:nvPr/>
        </p:nvSpPr>
        <p:spPr>
          <a:xfrm>
            <a:off x="2907792" y="1719072"/>
            <a:ext cx="2057400" cy="201168"/>
          </a:xfrm>
          <a:prstGeom prst="rect">
            <a:avLst/>
          </a:prstGeom>
          <a:noFill/>
          <a:ln/>
        </p:spPr>
        <p:txBody>
          <a:bodyPr wrap="square" lIns="0" tIns="0" rIns="0" bIns="0" rtlCol="0" anchor="ctr"/>
          <a:lstStyle/>
          <a:p>
            <a:pPr marL="0" indent="0">
              <a:buNone/>
            </a:pPr>
            <a:r>
              <a:rPr lang="en-US" sz="900" b="1" kern="0" spc="200" dirty="0">
                <a:solidFill>
                  <a:srgbClr val="8FA8C2"/>
                </a:solidFill>
                <a:latin typeface="Calibri" pitchFamily="34" charset="0"/>
                <a:ea typeface="Calibri" pitchFamily="34" charset="-122"/>
                <a:cs typeface="Calibri" pitchFamily="34" charset="-120"/>
              </a:rPr>
              <a:t>Level</a:t>
            </a:r>
            <a:endParaRPr lang="en-US" sz="900" dirty="0"/>
          </a:p>
        </p:txBody>
      </p:sp>
      <p:sp>
        <p:nvSpPr>
          <p:cNvPr id="11" name="Text 7"/>
          <p:cNvSpPr/>
          <p:nvPr/>
        </p:nvSpPr>
        <p:spPr>
          <a:xfrm>
            <a:off x="2907792" y="1901952"/>
            <a:ext cx="20574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Beginner</a:t>
            </a:r>
            <a:endParaRPr lang="en-US" sz="1300" dirty="0"/>
          </a:p>
        </p:txBody>
      </p:sp>
      <p:sp>
        <p:nvSpPr>
          <p:cNvPr id="12" name="Shape 8"/>
          <p:cNvSpPr/>
          <p:nvPr/>
        </p:nvSpPr>
        <p:spPr>
          <a:xfrm>
            <a:off x="5166360" y="1691640"/>
            <a:ext cx="2286000" cy="502920"/>
          </a:xfrm>
          <a:prstGeom prst="rect">
            <a:avLst/>
          </a:prstGeom>
          <a:solidFill>
            <a:srgbClr val="153A5C"/>
          </a:solidFill>
          <a:ln w="6350">
            <a:solidFill>
              <a:srgbClr val="1E3A5C"/>
            </a:solidFill>
            <a:prstDash val="solid"/>
          </a:ln>
        </p:spPr>
        <p:txBody>
          <a:bodyPr/>
          <a:lstStyle/>
          <a:p>
            <a:endParaRPr lang="en-US"/>
          </a:p>
        </p:txBody>
      </p:sp>
      <p:sp>
        <p:nvSpPr>
          <p:cNvPr id="13" name="Shape 9"/>
          <p:cNvSpPr/>
          <p:nvPr/>
        </p:nvSpPr>
        <p:spPr>
          <a:xfrm>
            <a:off x="5166360" y="1691640"/>
            <a:ext cx="54864" cy="502920"/>
          </a:xfrm>
          <a:prstGeom prst="rect">
            <a:avLst/>
          </a:prstGeom>
          <a:solidFill>
            <a:srgbClr val="4FC3F7"/>
          </a:solidFill>
          <a:ln w="12700">
            <a:solidFill>
              <a:srgbClr val="333333"/>
            </a:solidFill>
            <a:prstDash val="solid"/>
          </a:ln>
        </p:spPr>
        <p:txBody>
          <a:bodyPr/>
          <a:lstStyle/>
          <a:p>
            <a:endParaRPr lang="en-US"/>
          </a:p>
        </p:txBody>
      </p:sp>
      <p:sp>
        <p:nvSpPr>
          <p:cNvPr id="14" name="Text 10"/>
          <p:cNvSpPr/>
          <p:nvPr/>
        </p:nvSpPr>
        <p:spPr>
          <a:xfrm>
            <a:off x="5330952" y="1719072"/>
            <a:ext cx="2057400" cy="201168"/>
          </a:xfrm>
          <a:prstGeom prst="rect">
            <a:avLst/>
          </a:prstGeom>
          <a:noFill/>
          <a:ln/>
        </p:spPr>
        <p:txBody>
          <a:bodyPr wrap="square" lIns="0" tIns="0" rIns="0" bIns="0" rtlCol="0" anchor="ctr"/>
          <a:lstStyle/>
          <a:p>
            <a:pPr marL="0" indent="0">
              <a:buNone/>
            </a:pPr>
            <a:r>
              <a:rPr lang="en-US" sz="900" b="1" kern="0" spc="200" dirty="0">
                <a:solidFill>
                  <a:srgbClr val="8FA8C2"/>
                </a:solidFill>
                <a:latin typeface="Calibri" pitchFamily="34" charset="0"/>
                <a:ea typeface="Calibri" pitchFamily="34" charset="-122"/>
                <a:cs typeface="Calibri" pitchFamily="34" charset="-120"/>
              </a:rPr>
              <a:t>Platform</a:t>
            </a:r>
            <a:endParaRPr lang="en-US" sz="900" dirty="0"/>
          </a:p>
        </p:txBody>
      </p:sp>
      <p:sp>
        <p:nvSpPr>
          <p:cNvPr id="15" name="Text 11"/>
          <p:cNvSpPr/>
          <p:nvPr/>
        </p:nvSpPr>
        <p:spPr>
          <a:xfrm>
            <a:off x="5330952" y="1901952"/>
            <a:ext cx="20574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M365 Copilot Chat</a:t>
            </a:r>
            <a:endParaRPr lang="en-US" sz="1300" dirty="0"/>
          </a:p>
        </p:txBody>
      </p:sp>
      <p:sp>
        <p:nvSpPr>
          <p:cNvPr id="16" name="Shape 12"/>
          <p:cNvSpPr/>
          <p:nvPr/>
        </p:nvSpPr>
        <p:spPr>
          <a:xfrm>
            <a:off x="7589520" y="1691640"/>
            <a:ext cx="2286000" cy="502920"/>
          </a:xfrm>
          <a:prstGeom prst="rect">
            <a:avLst/>
          </a:prstGeom>
          <a:solidFill>
            <a:srgbClr val="153A5C"/>
          </a:solidFill>
          <a:ln w="6350">
            <a:solidFill>
              <a:srgbClr val="1E3A5C"/>
            </a:solidFill>
            <a:prstDash val="solid"/>
          </a:ln>
        </p:spPr>
        <p:txBody>
          <a:bodyPr/>
          <a:lstStyle/>
          <a:p>
            <a:endParaRPr lang="en-US"/>
          </a:p>
        </p:txBody>
      </p:sp>
      <p:sp>
        <p:nvSpPr>
          <p:cNvPr id="17" name="Shape 13"/>
          <p:cNvSpPr/>
          <p:nvPr/>
        </p:nvSpPr>
        <p:spPr>
          <a:xfrm>
            <a:off x="7589520" y="1691640"/>
            <a:ext cx="54864" cy="502920"/>
          </a:xfrm>
          <a:prstGeom prst="rect">
            <a:avLst/>
          </a:prstGeom>
          <a:solidFill>
            <a:srgbClr val="FFB81C"/>
          </a:solidFill>
          <a:ln w="12700">
            <a:solidFill>
              <a:srgbClr val="333333"/>
            </a:solidFill>
            <a:prstDash val="solid"/>
          </a:ln>
        </p:spPr>
        <p:txBody>
          <a:bodyPr/>
          <a:lstStyle/>
          <a:p>
            <a:endParaRPr lang="en-US"/>
          </a:p>
        </p:txBody>
      </p:sp>
      <p:sp>
        <p:nvSpPr>
          <p:cNvPr id="18" name="Text 14"/>
          <p:cNvSpPr/>
          <p:nvPr/>
        </p:nvSpPr>
        <p:spPr>
          <a:xfrm>
            <a:off x="7754112" y="1719072"/>
            <a:ext cx="2057400" cy="201168"/>
          </a:xfrm>
          <a:prstGeom prst="rect">
            <a:avLst/>
          </a:prstGeom>
          <a:noFill/>
          <a:ln/>
        </p:spPr>
        <p:txBody>
          <a:bodyPr wrap="square" lIns="0" tIns="0" rIns="0" bIns="0" rtlCol="0" anchor="ctr"/>
          <a:lstStyle/>
          <a:p>
            <a:pPr marL="0" indent="0">
              <a:buNone/>
            </a:pPr>
            <a:r>
              <a:rPr lang="en-US" sz="900" b="1" kern="0" spc="200" dirty="0">
                <a:solidFill>
                  <a:srgbClr val="8FA8C2"/>
                </a:solidFill>
                <a:latin typeface="Calibri" pitchFamily="34" charset="0"/>
                <a:ea typeface="Calibri" pitchFamily="34" charset="-122"/>
                <a:cs typeface="Calibri" pitchFamily="34" charset="-120"/>
              </a:rPr>
              <a:t>Time</a:t>
            </a:r>
            <a:endParaRPr lang="en-US" sz="900" dirty="0"/>
          </a:p>
        </p:txBody>
      </p:sp>
      <p:sp>
        <p:nvSpPr>
          <p:cNvPr id="19" name="Text 15"/>
          <p:cNvSpPr/>
          <p:nvPr/>
        </p:nvSpPr>
        <p:spPr>
          <a:xfrm>
            <a:off x="7754112" y="1901952"/>
            <a:ext cx="20574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20-30 mins</a:t>
            </a:r>
            <a:endParaRPr lang="en-US" sz="1300" dirty="0"/>
          </a:p>
        </p:txBody>
      </p:sp>
      <p:sp>
        <p:nvSpPr>
          <p:cNvPr id="20" name="Shape 16"/>
          <p:cNvSpPr/>
          <p:nvPr/>
        </p:nvSpPr>
        <p:spPr>
          <a:xfrm>
            <a:off x="548640" y="2468880"/>
            <a:ext cx="10058400" cy="2377440"/>
          </a:xfrm>
          <a:prstGeom prst="rect">
            <a:avLst/>
          </a:prstGeom>
          <a:solidFill>
            <a:srgbClr val="0A2A44"/>
          </a:solidFill>
          <a:ln w="6350">
            <a:solidFill>
              <a:srgbClr val="1E3A5C"/>
            </a:solidFill>
            <a:prstDash val="solid"/>
          </a:ln>
        </p:spPr>
        <p:txBody>
          <a:bodyPr/>
          <a:lstStyle/>
          <a:p>
            <a:endParaRPr lang="en-US"/>
          </a:p>
        </p:txBody>
      </p:sp>
      <p:sp>
        <p:nvSpPr>
          <p:cNvPr id="21" name="Shape 17"/>
          <p:cNvSpPr/>
          <p:nvPr/>
        </p:nvSpPr>
        <p:spPr>
          <a:xfrm>
            <a:off x="548640" y="2468880"/>
            <a:ext cx="91440" cy="2377440"/>
          </a:xfrm>
          <a:prstGeom prst="rect">
            <a:avLst/>
          </a:prstGeom>
          <a:solidFill>
            <a:srgbClr val="FFB81C"/>
          </a:solidFill>
          <a:ln w="12700">
            <a:solidFill>
              <a:srgbClr val="333333"/>
            </a:solidFill>
            <a:prstDash val="solid"/>
          </a:ln>
        </p:spPr>
        <p:txBody>
          <a:bodyPr/>
          <a:lstStyle/>
          <a:p>
            <a:endParaRPr lang="en-US"/>
          </a:p>
        </p:txBody>
      </p:sp>
      <p:sp>
        <p:nvSpPr>
          <p:cNvPr id="22" name="Text 18"/>
          <p:cNvSpPr/>
          <p:nvPr/>
        </p:nvSpPr>
        <p:spPr>
          <a:xfrm>
            <a:off x="777240" y="2651760"/>
            <a:ext cx="3657600" cy="274320"/>
          </a:xfrm>
          <a:prstGeom prst="rect">
            <a:avLst/>
          </a:prstGeom>
          <a:noFill/>
          <a:ln/>
        </p:spPr>
        <p:txBody>
          <a:bodyPr wrap="square" lIns="0" tIns="0" rIns="0" bIns="0" rtlCol="0" anchor="ctr"/>
          <a:lstStyle/>
          <a:p>
            <a:pPr marL="0" indent="0">
              <a:buNone/>
            </a:pPr>
            <a:r>
              <a:rPr lang="en-US" sz="1100" b="1" kern="0" spc="300" dirty="0">
                <a:solidFill>
                  <a:srgbClr val="FFB81C"/>
                </a:solidFill>
                <a:latin typeface="Calibri" pitchFamily="34" charset="0"/>
                <a:ea typeface="Calibri" pitchFamily="34" charset="-122"/>
                <a:cs typeface="Calibri" pitchFamily="34" charset="-120"/>
              </a:rPr>
              <a:t>SCENARIO</a:t>
            </a:r>
            <a:endParaRPr lang="en-US" sz="1100" dirty="0"/>
          </a:p>
        </p:txBody>
      </p:sp>
      <p:sp>
        <p:nvSpPr>
          <p:cNvPr id="23" name="Text 19"/>
          <p:cNvSpPr/>
          <p:nvPr/>
        </p:nvSpPr>
        <p:spPr>
          <a:xfrm>
            <a:off x="777240" y="2971800"/>
            <a:ext cx="9692640" cy="1737360"/>
          </a:xfrm>
          <a:prstGeom prst="rect">
            <a:avLst/>
          </a:prstGeom>
          <a:noFill/>
          <a:ln/>
        </p:spPr>
        <p:txBody>
          <a:bodyPr wrap="square" lIns="0" tIns="0" rIns="0" bIns="0" rtlCol="0" anchor="ctr"/>
          <a:lstStyle/>
          <a:p>
            <a:pPr marL="0" indent="0">
              <a:buNone/>
            </a:pPr>
            <a:r>
              <a:rPr lang="en-US" sz="1300" dirty="0">
                <a:solidFill>
                  <a:srgbClr val="EAF2FA"/>
                </a:solidFill>
                <a:latin typeface="Calibri" pitchFamily="34" charset="0"/>
                <a:ea typeface="Calibri" pitchFamily="34" charset="-122"/>
                <a:cs typeface="Calibri" pitchFamily="34" charset="-120"/>
              </a:rPr>
              <a:t>Council teams use SharePoint to store internal policies, work procedures, guidelines and standard templates. Before starting work, staff often need to verify compliance with multiple policy and process documents. Considerable time goes into reviewing these protocols — missed requirements lead to rework or, more seriously, non-compliance.</a:t>
            </a:r>
            <a:endParaRPr lang="en-US" sz="1300" dirty="0"/>
          </a:p>
        </p:txBody>
      </p:sp>
      <p:sp>
        <p:nvSpPr>
          <p:cNvPr id="24" name="Shape 20"/>
          <p:cNvSpPr/>
          <p:nvPr/>
        </p:nvSpPr>
        <p:spPr>
          <a:xfrm>
            <a:off x="548640" y="4983480"/>
            <a:ext cx="6766560" cy="1554480"/>
          </a:xfrm>
          <a:prstGeom prst="rect">
            <a:avLst/>
          </a:prstGeom>
          <a:solidFill>
            <a:srgbClr val="153A5C"/>
          </a:solidFill>
          <a:ln w="6350">
            <a:solidFill>
              <a:srgbClr val="1E3A5C"/>
            </a:solidFill>
            <a:prstDash val="solid"/>
          </a:ln>
        </p:spPr>
        <p:txBody>
          <a:bodyPr/>
          <a:lstStyle/>
          <a:p>
            <a:endParaRPr lang="en-US"/>
          </a:p>
        </p:txBody>
      </p:sp>
      <p:sp>
        <p:nvSpPr>
          <p:cNvPr id="25" name="Shape 21"/>
          <p:cNvSpPr/>
          <p:nvPr/>
        </p:nvSpPr>
        <p:spPr>
          <a:xfrm>
            <a:off x="548640" y="4983480"/>
            <a:ext cx="91440" cy="1554480"/>
          </a:xfrm>
          <a:prstGeom prst="rect">
            <a:avLst/>
          </a:prstGeom>
          <a:solidFill>
            <a:srgbClr val="4FC3F7"/>
          </a:solidFill>
          <a:ln w="12700">
            <a:solidFill>
              <a:srgbClr val="333333"/>
            </a:solidFill>
            <a:prstDash val="solid"/>
          </a:ln>
        </p:spPr>
        <p:txBody>
          <a:bodyPr/>
          <a:lstStyle/>
          <a:p>
            <a:endParaRPr lang="en-US"/>
          </a:p>
        </p:txBody>
      </p:sp>
      <p:sp>
        <p:nvSpPr>
          <p:cNvPr id="26" name="Text 22"/>
          <p:cNvSpPr/>
          <p:nvPr/>
        </p:nvSpPr>
        <p:spPr>
          <a:xfrm>
            <a:off x="777240" y="5120640"/>
            <a:ext cx="3657600" cy="274320"/>
          </a:xfrm>
          <a:prstGeom prst="rect">
            <a:avLst/>
          </a:prstGeom>
          <a:noFill/>
          <a:ln/>
        </p:spPr>
        <p:txBody>
          <a:bodyPr wrap="square" lIns="0" tIns="0" rIns="0" bIns="0" rtlCol="0" anchor="ctr"/>
          <a:lstStyle/>
          <a:p>
            <a:pPr marL="0" indent="0">
              <a:buNone/>
            </a:pPr>
            <a:r>
              <a:rPr lang="en-US" sz="1100" b="1" kern="0" spc="300" dirty="0">
                <a:solidFill>
                  <a:srgbClr val="4FC3F7"/>
                </a:solidFill>
                <a:latin typeface="Calibri" pitchFamily="34" charset="0"/>
                <a:ea typeface="Calibri" pitchFamily="34" charset="-122"/>
                <a:cs typeface="Calibri" pitchFamily="34" charset="-120"/>
              </a:rPr>
              <a:t>YOUR GOAL</a:t>
            </a:r>
            <a:endParaRPr lang="en-US" sz="1100" dirty="0"/>
          </a:p>
        </p:txBody>
      </p:sp>
      <p:sp>
        <p:nvSpPr>
          <p:cNvPr id="27" name="Text 23"/>
          <p:cNvSpPr/>
          <p:nvPr/>
        </p:nvSpPr>
        <p:spPr>
          <a:xfrm>
            <a:off x="777240" y="5440680"/>
            <a:ext cx="6400800" cy="1005840"/>
          </a:xfrm>
          <a:prstGeom prst="rect">
            <a:avLst/>
          </a:prstGeom>
          <a:noFill/>
          <a:ln/>
        </p:spPr>
        <p:txBody>
          <a:bodyPr wrap="square" lIns="0" tIns="0" rIns="0" bIns="0" rtlCol="0" anchor="ctr"/>
          <a:lstStyle/>
          <a:p>
            <a:pPr marL="0" indent="0">
              <a:buNone/>
            </a:pPr>
            <a:r>
              <a:rPr lang="en-US" sz="1200" dirty="0">
                <a:solidFill>
                  <a:srgbClr val="EAF2FA"/>
                </a:solidFill>
                <a:latin typeface="Calibri" pitchFamily="34" charset="0"/>
                <a:ea typeface="Calibri" pitchFamily="34" charset="-122"/>
                <a:cs typeface="Calibri" pitchFamily="34" charset="-120"/>
              </a:rPr>
              <a:t>Pick a workflow in your area where SharePoint is the system of record for knowledge. Build a Copilot Agent that answers questions about the existing processes or policies stored there, so colleagues can self-serve instead of hunting through documents.</a:t>
            </a:r>
            <a:endParaRPr lang="en-US" sz="1200" dirty="0"/>
          </a:p>
        </p:txBody>
      </p:sp>
      <p:sp>
        <p:nvSpPr>
          <p:cNvPr id="28" name="Shape 24"/>
          <p:cNvSpPr/>
          <p:nvPr/>
        </p:nvSpPr>
        <p:spPr>
          <a:xfrm>
            <a:off x="7452360" y="4983480"/>
            <a:ext cx="3154680" cy="1554480"/>
          </a:xfrm>
          <a:prstGeom prst="rect">
            <a:avLst/>
          </a:prstGeom>
          <a:solidFill>
            <a:srgbClr val="153A5C"/>
          </a:solidFill>
          <a:ln w="6350">
            <a:solidFill>
              <a:srgbClr val="1E3A5C"/>
            </a:solidFill>
            <a:prstDash val="solid"/>
          </a:ln>
        </p:spPr>
        <p:txBody>
          <a:bodyPr/>
          <a:lstStyle/>
          <a:p>
            <a:endParaRPr lang="en-US"/>
          </a:p>
        </p:txBody>
      </p:sp>
      <p:sp>
        <p:nvSpPr>
          <p:cNvPr id="29" name="Shape 25"/>
          <p:cNvSpPr/>
          <p:nvPr/>
        </p:nvSpPr>
        <p:spPr>
          <a:xfrm>
            <a:off x="7452360" y="4983480"/>
            <a:ext cx="91440" cy="1554480"/>
          </a:xfrm>
          <a:prstGeom prst="rect">
            <a:avLst/>
          </a:prstGeom>
          <a:solidFill>
            <a:srgbClr val="FFB81C"/>
          </a:solidFill>
          <a:ln w="12700">
            <a:solidFill>
              <a:srgbClr val="333333"/>
            </a:solidFill>
            <a:prstDash val="solid"/>
          </a:ln>
        </p:spPr>
        <p:txBody>
          <a:bodyPr/>
          <a:lstStyle/>
          <a:p>
            <a:endParaRPr lang="en-US"/>
          </a:p>
        </p:txBody>
      </p:sp>
      <p:sp>
        <p:nvSpPr>
          <p:cNvPr id="30" name="Text 26"/>
          <p:cNvSpPr/>
          <p:nvPr/>
        </p:nvSpPr>
        <p:spPr>
          <a:xfrm>
            <a:off x="7680960" y="5120640"/>
            <a:ext cx="3657600" cy="274320"/>
          </a:xfrm>
          <a:prstGeom prst="rect">
            <a:avLst/>
          </a:prstGeom>
          <a:noFill/>
          <a:ln/>
        </p:spPr>
        <p:txBody>
          <a:bodyPr wrap="square" lIns="0" tIns="0" rIns="0" bIns="0" rtlCol="0" anchor="ctr"/>
          <a:lstStyle/>
          <a:p>
            <a:pPr marL="0" indent="0">
              <a:buNone/>
            </a:pPr>
            <a:r>
              <a:rPr lang="en-US" sz="1100" b="1" kern="0" spc="300" dirty="0">
                <a:solidFill>
                  <a:srgbClr val="FFB81C"/>
                </a:solidFill>
                <a:latin typeface="Calibri" pitchFamily="34" charset="0"/>
                <a:ea typeface="Calibri" pitchFamily="34" charset="-122"/>
                <a:cs typeface="Calibri" pitchFamily="34" charset="-120"/>
              </a:rPr>
              <a:t>DATA FILES</a:t>
            </a:r>
            <a:endParaRPr lang="en-US" sz="1100" dirty="0"/>
          </a:p>
        </p:txBody>
      </p:sp>
      <p:sp>
        <p:nvSpPr>
          <p:cNvPr id="31" name="Text 27"/>
          <p:cNvSpPr/>
          <p:nvPr/>
        </p:nvSpPr>
        <p:spPr>
          <a:xfrm>
            <a:off x="7680960" y="5440680"/>
            <a:ext cx="2834640" cy="1005840"/>
          </a:xfrm>
          <a:prstGeom prst="rect">
            <a:avLst/>
          </a:prstGeom>
          <a:noFill/>
          <a:ln/>
        </p:spPr>
        <p:txBody>
          <a:bodyPr wrap="square" lIns="0" tIns="0" rIns="0" bIns="0" rtlCol="0" anchor="ctr"/>
          <a:lstStyle/>
          <a:p>
            <a:pPr marL="342900" indent="-342900">
              <a:buSzPct val="100000"/>
              <a:buChar char="•"/>
            </a:pPr>
            <a:r>
              <a:rPr lang="en-US" sz="1100" dirty="0">
                <a:solidFill>
                  <a:srgbClr val="EAF2FA"/>
                </a:solidFill>
                <a:latin typeface="Calibri" pitchFamily="34" charset="0"/>
                <a:ea typeface="Calibri" pitchFamily="34" charset="-122"/>
                <a:cs typeface="Calibri" pitchFamily="34" charset="-120"/>
              </a:rPr>
              <a:t>Use your own SharePoint site as the knowledge source</a:t>
            </a:r>
            <a:endParaRPr lang="en-US" sz="1100" dirty="0"/>
          </a:p>
        </p:txBody>
      </p:sp>
      <p:sp>
        <p:nvSpPr>
          <p:cNvPr id="32" name="Text 28"/>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36 / 40</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7">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3657600" cy="365760"/>
          </a:xfrm>
          <a:prstGeom prst="rect">
            <a:avLst/>
          </a:prstGeom>
          <a:noFill/>
          <a:ln/>
        </p:spPr>
        <p:txBody>
          <a:bodyPr wrap="square" lIns="0" tIns="0" rIns="0" bIns="0" rtlCol="0" anchor="ctr"/>
          <a:lstStyle/>
          <a:p>
            <a:pPr marL="0" indent="0">
              <a:buNone/>
            </a:pPr>
            <a:r>
              <a:rPr lang="en-US" sz="1400" b="1" kern="0" spc="400" dirty="0">
                <a:solidFill>
                  <a:srgbClr val="4FC3F7"/>
                </a:solidFill>
                <a:latin typeface="Calibri" pitchFamily="34" charset="0"/>
                <a:ea typeface="Calibri" pitchFamily="34" charset="-122"/>
                <a:cs typeface="Calibri" pitchFamily="34" charset="-120"/>
              </a:rPr>
              <a:t>CHALLENGE</a:t>
            </a:r>
            <a:endParaRPr lang="en-US" sz="1400" dirty="0"/>
          </a:p>
        </p:txBody>
      </p:sp>
      <p:sp>
        <p:nvSpPr>
          <p:cNvPr id="6" name="Text 2"/>
          <p:cNvSpPr/>
          <p:nvPr/>
        </p:nvSpPr>
        <p:spPr>
          <a:xfrm>
            <a:off x="548640" y="777240"/>
            <a:ext cx="2194560" cy="1463040"/>
          </a:xfrm>
          <a:prstGeom prst="rect">
            <a:avLst/>
          </a:prstGeom>
          <a:noFill/>
          <a:ln/>
        </p:spPr>
        <p:txBody>
          <a:bodyPr wrap="square" lIns="0" tIns="0" rIns="0" bIns="0" rtlCol="0" anchor="ctr"/>
          <a:lstStyle/>
          <a:p>
            <a:pPr marL="0" indent="0">
              <a:buNone/>
            </a:pPr>
            <a:r>
              <a:rPr lang="en-US" sz="9600" b="1" dirty="0">
                <a:solidFill>
                  <a:srgbClr val="FFB81C"/>
                </a:solidFill>
                <a:latin typeface="Calibri" pitchFamily="34" charset="0"/>
                <a:ea typeface="Calibri" pitchFamily="34" charset="-122"/>
                <a:cs typeface="Calibri" pitchFamily="34" charset="-120"/>
              </a:rPr>
              <a:t>03</a:t>
            </a:r>
            <a:endParaRPr lang="en-US" sz="9600" dirty="0"/>
          </a:p>
        </p:txBody>
      </p:sp>
      <p:sp>
        <p:nvSpPr>
          <p:cNvPr id="7" name="Text 3"/>
          <p:cNvSpPr/>
          <p:nvPr/>
        </p:nvSpPr>
        <p:spPr>
          <a:xfrm>
            <a:off x="2743200" y="777240"/>
            <a:ext cx="82296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Copilot Notebook — Development Application</a:t>
            </a:r>
            <a:endParaRPr lang="en-US" sz="3000" dirty="0"/>
          </a:p>
        </p:txBody>
      </p:sp>
      <p:sp>
        <p:nvSpPr>
          <p:cNvPr id="8" name="Shape 4"/>
          <p:cNvSpPr/>
          <p:nvPr/>
        </p:nvSpPr>
        <p:spPr>
          <a:xfrm>
            <a:off x="2743200" y="1691640"/>
            <a:ext cx="2286000" cy="502920"/>
          </a:xfrm>
          <a:prstGeom prst="rect">
            <a:avLst/>
          </a:prstGeom>
          <a:solidFill>
            <a:srgbClr val="153A5C"/>
          </a:solidFill>
          <a:ln w="6350">
            <a:solidFill>
              <a:srgbClr val="1E3A5C"/>
            </a:solidFill>
            <a:prstDash val="solid"/>
          </a:ln>
        </p:spPr>
        <p:txBody>
          <a:bodyPr/>
          <a:lstStyle/>
          <a:p>
            <a:endParaRPr lang="en-US"/>
          </a:p>
        </p:txBody>
      </p:sp>
      <p:sp>
        <p:nvSpPr>
          <p:cNvPr id="9" name="Shape 5"/>
          <p:cNvSpPr/>
          <p:nvPr/>
        </p:nvSpPr>
        <p:spPr>
          <a:xfrm>
            <a:off x="2743200" y="1691640"/>
            <a:ext cx="54864" cy="502920"/>
          </a:xfrm>
          <a:prstGeom prst="rect">
            <a:avLst/>
          </a:prstGeom>
          <a:solidFill>
            <a:srgbClr val="FFB81C"/>
          </a:solidFill>
          <a:ln w="12700">
            <a:solidFill>
              <a:srgbClr val="333333"/>
            </a:solidFill>
            <a:prstDash val="solid"/>
          </a:ln>
        </p:spPr>
        <p:txBody>
          <a:bodyPr/>
          <a:lstStyle/>
          <a:p>
            <a:endParaRPr lang="en-US"/>
          </a:p>
        </p:txBody>
      </p:sp>
      <p:sp>
        <p:nvSpPr>
          <p:cNvPr id="10" name="Text 6"/>
          <p:cNvSpPr/>
          <p:nvPr/>
        </p:nvSpPr>
        <p:spPr>
          <a:xfrm>
            <a:off x="2907792" y="1719072"/>
            <a:ext cx="2057400" cy="201168"/>
          </a:xfrm>
          <a:prstGeom prst="rect">
            <a:avLst/>
          </a:prstGeom>
          <a:noFill/>
          <a:ln/>
        </p:spPr>
        <p:txBody>
          <a:bodyPr wrap="square" lIns="0" tIns="0" rIns="0" bIns="0" rtlCol="0" anchor="ctr"/>
          <a:lstStyle/>
          <a:p>
            <a:pPr marL="0" indent="0">
              <a:buNone/>
            </a:pPr>
            <a:r>
              <a:rPr lang="en-US" sz="900" b="1" kern="0" spc="200" dirty="0">
                <a:solidFill>
                  <a:srgbClr val="8FA8C2"/>
                </a:solidFill>
                <a:latin typeface="Calibri" pitchFamily="34" charset="0"/>
                <a:ea typeface="Calibri" pitchFamily="34" charset="-122"/>
                <a:cs typeface="Calibri" pitchFamily="34" charset="-120"/>
              </a:rPr>
              <a:t>Level</a:t>
            </a:r>
            <a:endParaRPr lang="en-US" sz="900" dirty="0"/>
          </a:p>
        </p:txBody>
      </p:sp>
      <p:sp>
        <p:nvSpPr>
          <p:cNvPr id="11" name="Text 7"/>
          <p:cNvSpPr/>
          <p:nvPr/>
        </p:nvSpPr>
        <p:spPr>
          <a:xfrm>
            <a:off x="2907792" y="1901952"/>
            <a:ext cx="20574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Beginner</a:t>
            </a:r>
            <a:endParaRPr lang="en-US" sz="1300" dirty="0"/>
          </a:p>
        </p:txBody>
      </p:sp>
      <p:sp>
        <p:nvSpPr>
          <p:cNvPr id="12" name="Shape 8"/>
          <p:cNvSpPr/>
          <p:nvPr/>
        </p:nvSpPr>
        <p:spPr>
          <a:xfrm>
            <a:off x="5166360" y="1691640"/>
            <a:ext cx="2286000" cy="502920"/>
          </a:xfrm>
          <a:prstGeom prst="rect">
            <a:avLst/>
          </a:prstGeom>
          <a:solidFill>
            <a:srgbClr val="153A5C"/>
          </a:solidFill>
          <a:ln w="6350">
            <a:solidFill>
              <a:srgbClr val="1E3A5C"/>
            </a:solidFill>
            <a:prstDash val="solid"/>
          </a:ln>
        </p:spPr>
        <p:txBody>
          <a:bodyPr/>
          <a:lstStyle/>
          <a:p>
            <a:endParaRPr lang="en-US"/>
          </a:p>
        </p:txBody>
      </p:sp>
      <p:sp>
        <p:nvSpPr>
          <p:cNvPr id="13" name="Shape 9"/>
          <p:cNvSpPr/>
          <p:nvPr/>
        </p:nvSpPr>
        <p:spPr>
          <a:xfrm>
            <a:off x="5166360" y="1691640"/>
            <a:ext cx="54864" cy="502920"/>
          </a:xfrm>
          <a:prstGeom prst="rect">
            <a:avLst/>
          </a:prstGeom>
          <a:solidFill>
            <a:srgbClr val="4FC3F7"/>
          </a:solidFill>
          <a:ln w="12700">
            <a:solidFill>
              <a:srgbClr val="333333"/>
            </a:solidFill>
            <a:prstDash val="solid"/>
          </a:ln>
        </p:spPr>
        <p:txBody>
          <a:bodyPr/>
          <a:lstStyle/>
          <a:p>
            <a:endParaRPr lang="en-US"/>
          </a:p>
        </p:txBody>
      </p:sp>
      <p:sp>
        <p:nvSpPr>
          <p:cNvPr id="14" name="Text 10"/>
          <p:cNvSpPr/>
          <p:nvPr/>
        </p:nvSpPr>
        <p:spPr>
          <a:xfrm>
            <a:off x="5330952" y="1719072"/>
            <a:ext cx="2057400" cy="201168"/>
          </a:xfrm>
          <a:prstGeom prst="rect">
            <a:avLst/>
          </a:prstGeom>
          <a:noFill/>
          <a:ln/>
        </p:spPr>
        <p:txBody>
          <a:bodyPr wrap="square" lIns="0" tIns="0" rIns="0" bIns="0" rtlCol="0" anchor="ctr"/>
          <a:lstStyle/>
          <a:p>
            <a:pPr marL="0" indent="0">
              <a:buNone/>
            </a:pPr>
            <a:r>
              <a:rPr lang="en-US" sz="900" b="1" kern="0" spc="200" dirty="0">
                <a:solidFill>
                  <a:srgbClr val="8FA8C2"/>
                </a:solidFill>
                <a:latin typeface="Calibri" pitchFamily="34" charset="0"/>
                <a:ea typeface="Calibri" pitchFamily="34" charset="-122"/>
                <a:cs typeface="Calibri" pitchFamily="34" charset="-120"/>
              </a:rPr>
              <a:t>Platform</a:t>
            </a:r>
            <a:endParaRPr lang="en-US" sz="900" dirty="0"/>
          </a:p>
        </p:txBody>
      </p:sp>
      <p:sp>
        <p:nvSpPr>
          <p:cNvPr id="15" name="Text 11"/>
          <p:cNvSpPr/>
          <p:nvPr/>
        </p:nvSpPr>
        <p:spPr>
          <a:xfrm>
            <a:off x="5330952" y="1901952"/>
            <a:ext cx="20574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M365 Copilot Chat</a:t>
            </a:r>
            <a:endParaRPr lang="en-US" sz="1300" dirty="0"/>
          </a:p>
        </p:txBody>
      </p:sp>
      <p:sp>
        <p:nvSpPr>
          <p:cNvPr id="16" name="Shape 12"/>
          <p:cNvSpPr/>
          <p:nvPr/>
        </p:nvSpPr>
        <p:spPr>
          <a:xfrm>
            <a:off x="7589520" y="1691640"/>
            <a:ext cx="2286000" cy="502920"/>
          </a:xfrm>
          <a:prstGeom prst="rect">
            <a:avLst/>
          </a:prstGeom>
          <a:solidFill>
            <a:srgbClr val="153A5C"/>
          </a:solidFill>
          <a:ln w="6350">
            <a:solidFill>
              <a:srgbClr val="1E3A5C"/>
            </a:solidFill>
            <a:prstDash val="solid"/>
          </a:ln>
        </p:spPr>
        <p:txBody>
          <a:bodyPr/>
          <a:lstStyle/>
          <a:p>
            <a:endParaRPr lang="en-US"/>
          </a:p>
        </p:txBody>
      </p:sp>
      <p:sp>
        <p:nvSpPr>
          <p:cNvPr id="17" name="Shape 13"/>
          <p:cNvSpPr/>
          <p:nvPr/>
        </p:nvSpPr>
        <p:spPr>
          <a:xfrm>
            <a:off x="7589520" y="1691640"/>
            <a:ext cx="54864" cy="502920"/>
          </a:xfrm>
          <a:prstGeom prst="rect">
            <a:avLst/>
          </a:prstGeom>
          <a:solidFill>
            <a:srgbClr val="FFB81C"/>
          </a:solidFill>
          <a:ln w="12700">
            <a:solidFill>
              <a:srgbClr val="333333"/>
            </a:solidFill>
            <a:prstDash val="solid"/>
          </a:ln>
        </p:spPr>
        <p:txBody>
          <a:bodyPr/>
          <a:lstStyle/>
          <a:p>
            <a:endParaRPr lang="en-US"/>
          </a:p>
        </p:txBody>
      </p:sp>
      <p:sp>
        <p:nvSpPr>
          <p:cNvPr id="18" name="Text 14"/>
          <p:cNvSpPr/>
          <p:nvPr/>
        </p:nvSpPr>
        <p:spPr>
          <a:xfrm>
            <a:off x="7754112" y="1719072"/>
            <a:ext cx="2057400" cy="201168"/>
          </a:xfrm>
          <a:prstGeom prst="rect">
            <a:avLst/>
          </a:prstGeom>
          <a:noFill/>
          <a:ln/>
        </p:spPr>
        <p:txBody>
          <a:bodyPr wrap="square" lIns="0" tIns="0" rIns="0" bIns="0" rtlCol="0" anchor="ctr"/>
          <a:lstStyle/>
          <a:p>
            <a:pPr marL="0" indent="0">
              <a:buNone/>
            </a:pPr>
            <a:r>
              <a:rPr lang="en-US" sz="900" b="1" kern="0" spc="200" dirty="0">
                <a:solidFill>
                  <a:srgbClr val="8FA8C2"/>
                </a:solidFill>
                <a:latin typeface="Calibri" pitchFamily="34" charset="0"/>
                <a:ea typeface="Calibri" pitchFamily="34" charset="-122"/>
                <a:cs typeface="Calibri" pitchFamily="34" charset="-120"/>
              </a:rPr>
              <a:t>Time</a:t>
            </a:r>
            <a:endParaRPr lang="en-US" sz="900" dirty="0"/>
          </a:p>
        </p:txBody>
      </p:sp>
      <p:sp>
        <p:nvSpPr>
          <p:cNvPr id="19" name="Text 15"/>
          <p:cNvSpPr/>
          <p:nvPr/>
        </p:nvSpPr>
        <p:spPr>
          <a:xfrm>
            <a:off x="7754112" y="1901952"/>
            <a:ext cx="20574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20-30 mins</a:t>
            </a:r>
            <a:endParaRPr lang="en-US" sz="1300" dirty="0"/>
          </a:p>
        </p:txBody>
      </p:sp>
      <p:sp>
        <p:nvSpPr>
          <p:cNvPr id="20" name="Shape 16"/>
          <p:cNvSpPr/>
          <p:nvPr/>
        </p:nvSpPr>
        <p:spPr>
          <a:xfrm>
            <a:off x="548640" y="2468880"/>
            <a:ext cx="10058400" cy="2377440"/>
          </a:xfrm>
          <a:prstGeom prst="rect">
            <a:avLst/>
          </a:prstGeom>
          <a:solidFill>
            <a:srgbClr val="0A2A44"/>
          </a:solidFill>
          <a:ln w="6350">
            <a:solidFill>
              <a:srgbClr val="1E3A5C"/>
            </a:solidFill>
            <a:prstDash val="solid"/>
          </a:ln>
        </p:spPr>
        <p:txBody>
          <a:bodyPr/>
          <a:lstStyle/>
          <a:p>
            <a:endParaRPr lang="en-US"/>
          </a:p>
        </p:txBody>
      </p:sp>
      <p:sp>
        <p:nvSpPr>
          <p:cNvPr id="21" name="Shape 17"/>
          <p:cNvSpPr/>
          <p:nvPr/>
        </p:nvSpPr>
        <p:spPr>
          <a:xfrm>
            <a:off x="548640" y="2468880"/>
            <a:ext cx="91440" cy="2377440"/>
          </a:xfrm>
          <a:prstGeom prst="rect">
            <a:avLst/>
          </a:prstGeom>
          <a:solidFill>
            <a:srgbClr val="FFB81C"/>
          </a:solidFill>
          <a:ln w="12700">
            <a:solidFill>
              <a:srgbClr val="333333"/>
            </a:solidFill>
            <a:prstDash val="solid"/>
          </a:ln>
        </p:spPr>
        <p:txBody>
          <a:bodyPr/>
          <a:lstStyle/>
          <a:p>
            <a:endParaRPr lang="en-US"/>
          </a:p>
        </p:txBody>
      </p:sp>
      <p:sp>
        <p:nvSpPr>
          <p:cNvPr id="22" name="Text 18"/>
          <p:cNvSpPr/>
          <p:nvPr/>
        </p:nvSpPr>
        <p:spPr>
          <a:xfrm>
            <a:off x="777240" y="2651760"/>
            <a:ext cx="3657600" cy="274320"/>
          </a:xfrm>
          <a:prstGeom prst="rect">
            <a:avLst/>
          </a:prstGeom>
          <a:noFill/>
          <a:ln/>
        </p:spPr>
        <p:txBody>
          <a:bodyPr wrap="square" lIns="0" tIns="0" rIns="0" bIns="0" rtlCol="0" anchor="ctr"/>
          <a:lstStyle/>
          <a:p>
            <a:pPr marL="0" indent="0">
              <a:buNone/>
            </a:pPr>
            <a:r>
              <a:rPr lang="en-US" sz="1100" b="1" kern="0" spc="300" dirty="0">
                <a:solidFill>
                  <a:srgbClr val="FFB81C"/>
                </a:solidFill>
                <a:latin typeface="Calibri" pitchFamily="34" charset="0"/>
                <a:ea typeface="Calibri" pitchFamily="34" charset="-122"/>
                <a:cs typeface="Calibri" pitchFamily="34" charset="-120"/>
              </a:rPr>
              <a:t>SCENARIO</a:t>
            </a:r>
            <a:endParaRPr lang="en-US" sz="1100" dirty="0"/>
          </a:p>
        </p:txBody>
      </p:sp>
      <p:sp>
        <p:nvSpPr>
          <p:cNvPr id="23" name="Text 19"/>
          <p:cNvSpPr/>
          <p:nvPr/>
        </p:nvSpPr>
        <p:spPr>
          <a:xfrm>
            <a:off x="777240" y="2971800"/>
            <a:ext cx="9692640" cy="1737360"/>
          </a:xfrm>
          <a:prstGeom prst="rect">
            <a:avLst/>
          </a:prstGeom>
          <a:noFill/>
          <a:ln/>
        </p:spPr>
        <p:txBody>
          <a:bodyPr wrap="square" lIns="0" tIns="0" rIns="0" bIns="0" rtlCol="0" anchor="ctr"/>
          <a:lstStyle/>
          <a:p>
            <a:pPr marL="0" indent="0">
              <a:buNone/>
            </a:pPr>
            <a:r>
              <a:rPr lang="en-US" sz="1300" dirty="0">
                <a:solidFill>
                  <a:srgbClr val="EAF2FA"/>
                </a:solidFill>
                <a:latin typeface="Calibri" pitchFamily="34" charset="0"/>
                <a:ea typeface="Calibri" pitchFamily="34" charset="-122"/>
                <a:cs typeface="Calibri" pitchFamily="34" charset="-120"/>
              </a:rPr>
              <a:t>You are a Planning Officer at Greenfield City Council, assessing a planning permit application for four double-storey townhouses at 25 Willowbank Road, in a General Residential Zone. The proposal seeks to increase density near services and an activity centre, but includes variations from key planning controls - building height, site coverage, setbacks and overlooking. Multiple residents have objected on neighbourhood character, overshadowing, privacy, traffic and parking.</a:t>
            </a:r>
            <a:endParaRPr lang="en-US" sz="1300" dirty="0"/>
          </a:p>
        </p:txBody>
      </p:sp>
      <p:sp>
        <p:nvSpPr>
          <p:cNvPr id="24" name="Shape 20"/>
          <p:cNvSpPr/>
          <p:nvPr/>
        </p:nvSpPr>
        <p:spPr>
          <a:xfrm>
            <a:off x="548640" y="4983480"/>
            <a:ext cx="6766560" cy="1554480"/>
          </a:xfrm>
          <a:prstGeom prst="rect">
            <a:avLst/>
          </a:prstGeom>
          <a:solidFill>
            <a:srgbClr val="153A5C"/>
          </a:solidFill>
          <a:ln w="6350">
            <a:solidFill>
              <a:srgbClr val="1E3A5C"/>
            </a:solidFill>
            <a:prstDash val="solid"/>
          </a:ln>
        </p:spPr>
        <p:txBody>
          <a:bodyPr/>
          <a:lstStyle/>
          <a:p>
            <a:endParaRPr lang="en-US"/>
          </a:p>
        </p:txBody>
      </p:sp>
      <p:sp>
        <p:nvSpPr>
          <p:cNvPr id="25" name="Shape 21"/>
          <p:cNvSpPr/>
          <p:nvPr/>
        </p:nvSpPr>
        <p:spPr>
          <a:xfrm>
            <a:off x="548640" y="4983480"/>
            <a:ext cx="91440" cy="1554480"/>
          </a:xfrm>
          <a:prstGeom prst="rect">
            <a:avLst/>
          </a:prstGeom>
          <a:solidFill>
            <a:srgbClr val="4FC3F7"/>
          </a:solidFill>
          <a:ln w="12700">
            <a:solidFill>
              <a:srgbClr val="333333"/>
            </a:solidFill>
            <a:prstDash val="solid"/>
          </a:ln>
        </p:spPr>
        <p:txBody>
          <a:bodyPr/>
          <a:lstStyle/>
          <a:p>
            <a:endParaRPr lang="en-US"/>
          </a:p>
        </p:txBody>
      </p:sp>
      <p:sp>
        <p:nvSpPr>
          <p:cNvPr id="26" name="Text 22"/>
          <p:cNvSpPr/>
          <p:nvPr/>
        </p:nvSpPr>
        <p:spPr>
          <a:xfrm>
            <a:off x="777240" y="5120640"/>
            <a:ext cx="3657600" cy="274320"/>
          </a:xfrm>
          <a:prstGeom prst="rect">
            <a:avLst/>
          </a:prstGeom>
          <a:noFill/>
          <a:ln/>
        </p:spPr>
        <p:txBody>
          <a:bodyPr wrap="square" lIns="0" tIns="0" rIns="0" bIns="0" rtlCol="0" anchor="ctr"/>
          <a:lstStyle/>
          <a:p>
            <a:pPr marL="0" indent="0">
              <a:buNone/>
            </a:pPr>
            <a:r>
              <a:rPr lang="en-US" sz="1100" b="1" kern="0" spc="300" dirty="0">
                <a:solidFill>
                  <a:srgbClr val="4FC3F7"/>
                </a:solidFill>
                <a:latin typeface="Calibri" pitchFamily="34" charset="0"/>
                <a:ea typeface="Calibri" pitchFamily="34" charset="-122"/>
                <a:cs typeface="Calibri" pitchFamily="34" charset="-120"/>
              </a:rPr>
              <a:t>YOUR GOAL</a:t>
            </a:r>
            <a:endParaRPr lang="en-US" sz="1100" dirty="0"/>
          </a:p>
        </p:txBody>
      </p:sp>
      <p:sp>
        <p:nvSpPr>
          <p:cNvPr id="27" name="Text 23"/>
          <p:cNvSpPr/>
          <p:nvPr/>
        </p:nvSpPr>
        <p:spPr>
          <a:xfrm>
            <a:off x="777240" y="5440680"/>
            <a:ext cx="6400800" cy="1005840"/>
          </a:xfrm>
          <a:prstGeom prst="rect">
            <a:avLst/>
          </a:prstGeom>
          <a:noFill/>
          <a:ln/>
        </p:spPr>
        <p:txBody>
          <a:bodyPr wrap="square" lIns="0" tIns="0" rIns="0" bIns="0" rtlCol="0" anchor="ctr"/>
          <a:lstStyle/>
          <a:p>
            <a:pPr marL="0" indent="0">
              <a:buNone/>
            </a:pPr>
            <a:r>
              <a:rPr lang="en-US" sz="1200" dirty="0">
                <a:solidFill>
                  <a:srgbClr val="EAF2FA"/>
                </a:solidFill>
                <a:latin typeface="Calibri" pitchFamily="34" charset="0"/>
                <a:ea typeface="Calibri" pitchFamily="34" charset="-122"/>
                <a:cs typeface="Calibri" pitchFamily="34" charset="-120"/>
              </a:rPr>
              <a:t>Build a Copilot Notebook that brings the planning scheme, the development application and the objection letters together, so you can rapidly assess against state and local planning policies, ResCode (Clause 55), amenity impacts and community submissions.</a:t>
            </a:r>
            <a:endParaRPr lang="en-US" sz="1200" dirty="0"/>
          </a:p>
        </p:txBody>
      </p:sp>
      <p:sp>
        <p:nvSpPr>
          <p:cNvPr id="28" name="Shape 24"/>
          <p:cNvSpPr/>
          <p:nvPr/>
        </p:nvSpPr>
        <p:spPr>
          <a:xfrm>
            <a:off x="7452360" y="4983480"/>
            <a:ext cx="3154680" cy="1554480"/>
          </a:xfrm>
          <a:prstGeom prst="rect">
            <a:avLst/>
          </a:prstGeom>
          <a:solidFill>
            <a:srgbClr val="153A5C"/>
          </a:solidFill>
          <a:ln w="6350">
            <a:solidFill>
              <a:srgbClr val="1E3A5C"/>
            </a:solidFill>
            <a:prstDash val="solid"/>
          </a:ln>
        </p:spPr>
        <p:txBody>
          <a:bodyPr/>
          <a:lstStyle/>
          <a:p>
            <a:endParaRPr lang="en-US"/>
          </a:p>
        </p:txBody>
      </p:sp>
      <p:sp>
        <p:nvSpPr>
          <p:cNvPr id="29" name="Shape 25"/>
          <p:cNvSpPr/>
          <p:nvPr/>
        </p:nvSpPr>
        <p:spPr>
          <a:xfrm>
            <a:off x="7452360" y="4983480"/>
            <a:ext cx="91440" cy="1554480"/>
          </a:xfrm>
          <a:prstGeom prst="rect">
            <a:avLst/>
          </a:prstGeom>
          <a:solidFill>
            <a:srgbClr val="FFB81C"/>
          </a:solidFill>
          <a:ln w="12700">
            <a:solidFill>
              <a:srgbClr val="333333"/>
            </a:solidFill>
            <a:prstDash val="solid"/>
          </a:ln>
        </p:spPr>
        <p:txBody>
          <a:bodyPr/>
          <a:lstStyle/>
          <a:p>
            <a:endParaRPr lang="en-US"/>
          </a:p>
        </p:txBody>
      </p:sp>
      <p:sp>
        <p:nvSpPr>
          <p:cNvPr id="30" name="Text 26"/>
          <p:cNvSpPr/>
          <p:nvPr/>
        </p:nvSpPr>
        <p:spPr>
          <a:xfrm>
            <a:off x="7680960" y="5120640"/>
            <a:ext cx="3657600" cy="274320"/>
          </a:xfrm>
          <a:prstGeom prst="rect">
            <a:avLst/>
          </a:prstGeom>
          <a:noFill/>
          <a:ln/>
        </p:spPr>
        <p:txBody>
          <a:bodyPr wrap="square" lIns="0" tIns="0" rIns="0" bIns="0" rtlCol="0" anchor="ctr"/>
          <a:lstStyle/>
          <a:p>
            <a:pPr marL="0" indent="0">
              <a:buNone/>
            </a:pPr>
            <a:r>
              <a:rPr lang="en-US" sz="1100" b="1" kern="0" spc="300" dirty="0">
                <a:solidFill>
                  <a:srgbClr val="FFB81C"/>
                </a:solidFill>
                <a:latin typeface="Calibri" pitchFamily="34" charset="0"/>
                <a:ea typeface="Calibri" pitchFamily="34" charset="-122"/>
                <a:cs typeface="Calibri" pitchFamily="34" charset="-120"/>
              </a:rPr>
              <a:t>DATA FILES</a:t>
            </a:r>
            <a:endParaRPr lang="en-US" sz="1100" dirty="0"/>
          </a:p>
        </p:txBody>
      </p:sp>
      <p:sp>
        <p:nvSpPr>
          <p:cNvPr id="31" name="Text 27"/>
          <p:cNvSpPr/>
          <p:nvPr/>
        </p:nvSpPr>
        <p:spPr>
          <a:xfrm>
            <a:off x="7680960" y="5440680"/>
            <a:ext cx="2834640" cy="1005840"/>
          </a:xfrm>
          <a:prstGeom prst="rect">
            <a:avLst/>
          </a:prstGeom>
          <a:noFill/>
          <a:ln/>
        </p:spPr>
        <p:txBody>
          <a:bodyPr wrap="square" lIns="0" tIns="0" rIns="0" bIns="0" rtlCol="0" anchor="ctr"/>
          <a:lstStyle/>
          <a:p>
            <a:pPr marL="342900" indent="-342900">
              <a:buSzPct val="100000"/>
              <a:buChar char="•"/>
            </a:pPr>
            <a:r>
              <a:rPr lang="en-US" sz="1100" dirty="0">
                <a:solidFill>
                  <a:srgbClr val="EAF2FA"/>
                </a:solidFill>
                <a:latin typeface="Calibri" pitchFamily="34" charset="0"/>
                <a:ea typeface="Calibri" pitchFamily="34" charset="-122"/>
                <a:cs typeface="Calibri" pitchFamily="34" charset="-120"/>
              </a:rPr>
              <a:t>Planning Scheme</a:t>
            </a:r>
            <a:endParaRPr lang="en-US" sz="1100" dirty="0"/>
          </a:p>
          <a:p>
            <a:pPr marL="342900" indent="-342900">
              <a:buSzPct val="100000"/>
              <a:buChar char="•"/>
            </a:pPr>
            <a:r>
              <a:rPr lang="en-US" sz="1100" dirty="0">
                <a:solidFill>
                  <a:srgbClr val="EAF2FA"/>
                </a:solidFill>
                <a:latin typeface="Calibri" pitchFamily="34" charset="0"/>
                <a:ea typeface="Calibri" pitchFamily="34" charset="-122"/>
                <a:cs typeface="Calibri" pitchFamily="34" charset="-120"/>
              </a:rPr>
              <a:t>Development Application</a:t>
            </a:r>
            <a:endParaRPr lang="en-US" sz="1100" dirty="0"/>
          </a:p>
          <a:p>
            <a:pPr marL="342900" indent="-342900">
              <a:buSzPct val="100000"/>
              <a:buChar char="•"/>
            </a:pPr>
            <a:r>
              <a:rPr lang="en-US" sz="1100" dirty="0">
                <a:solidFill>
                  <a:srgbClr val="EAF2FA"/>
                </a:solidFill>
                <a:latin typeface="Calibri" pitchFamily="34" charset="0"/>
                <a:ea typeface="Calibri" pitchFamily="34" charset="-122"/>
                <a:cs typeface="Calibri" pitchFamily="34" charset="-120"/>
              </a:rPr>
              <a:t>Objection Letters</a:t>
            </a:r>
            <a:endParaRPr lang="en-US" sz="1100" dirty="0"/>
          </a:p>
        </p:txBody>
      </p:sp>
      <p:sp>
        <p:nvSpPr>
          <p:cNvPr id="32" name="Text 28"/>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37 / 40</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8">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3657600" cy="365760"/>
          </a:xfrm>
          <a:prstGeom prst="rect">
            <a:avLst/>
          </a:prstGeom>
          <a:noFill/>
          <a:ln/>
        </p:spPr>
        <p:txBody>
          <a:bodyPr wrap="square" lIns="0" tIns="0" rIns="0" bIns="0" rtlCol="0" anchor="ctr"/>
          <a:lstStyle/>
          <a:p>
            <a:pPr marL="0" indent="0">
              <a:buNone/>
            </a:pPr>
            <a:r>
              <a:rPr lang="en-US" sz="1400" b="1" kern="0" spc="400" dirty="0">
                <a:solidFill>
                  <a:srgbClr val="4FC3F7"/>
                </a:solidFill>
                <a:latin typeface="Calibri" pitchFamily="34" charset="0"/>
                <a:ea typeface="Calibri" pitchFamily="34" charset="-122"/>
                <a:cs typeface="Calibri" pitchFamily="34" charset="-120"/>
              </a:rPr>
              <a:t>CHALLENGE</a:t>
            </a:r>
            <a:endParaRPr lang="en-US" sz="1400" dirty="0"/>
          </a:p>
        </p:txBody>
      </p:sp>
      <p:sp>
        <p:nvSpPr>
          <p:cNvPr id="6" name="Text 2"/>
          <p:cNvSpPr/>
          <p:nvPr/>
        </p:nvSpPr>
        <p:spPr>
          <a:xfrm>
            <a:off x="548640" y="777240"/>
            <a:ext cx="2194560" cy="1463040"/>
          </a:xfrm>
          <a:prstGeom prst="rect">
            <a:avLst/>
          </a:prstGeom>
          <a:noFill/>
          <a:ln/>
        </p:spPr>
        <p:txBody>
          <a:bodyPr wrap="square" lIns="0" tIns="0" rIns="0" bIns="0" rtlCol="0" anchor="ctr"/>
          <a:lstStyle/>
          <a:p>
            <a:pPr marL="0" indent="0">
              <a:buNone/>
            </a:pPr>
            <a:r>
              <a:rPr lang="en-US" sz="9600" b="1" dirty="0">
                <a:solidFill>
                  <a:srgbClr val="FFB81C"/>
                </a:solidFill>
                <a:latin typeface="Calibri" pitchFamily="34" charset="0"/>
                <a:ea typeface="Calibri" pitchFamily="34" charset="-122"/>
                <a:cs typeface="Calibri" pitchFamily="34" charset="-120"/>
              </a:rPr>
              <a:t>04</a:t>
            </a:r>
            <a:endParaRPr lang="en-US" sz="9600" dirty="0"/>
          </a:p>
        </p:txBody>
      </p:sp>
      <p:sp>
        <p:nvSpPr>
          <p:cNvPr id="7" name="Text 3"/>
          <p:cNvSpPr/>
          <p:nvPr/>
        </p:nvSpPr>
        <p:spPr>
          <a:xfrm>
            <a:off x="2743200" y="777240"/>
            <a:ext cx="82296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Road Rules Explainer</a:t>
            </a:r>
            <a:endParaRPr lang="en-US" sz="3000" dirty="0"/>
          </a:p>
        </p:txBody>
      </p:sp>
      <p:sp>
        <p:nvSpPr>
          <p:cNvPr id="8" name="Shape 4"/>
          <p:cNvSpPr/>
          <p:nvPr/>
        </p:nvSpPr>
        <p:spPr>
          <a:xfrm>
            <a:off x="2743200" y="1691640"/>
            <a:ext cx="2286000" cy="502920"/>
          </a:xfrm>
          <a:prstGeom prst="rect">
            <a:avLst/>
          </a:prstGeom>
          <a:solidFill>
            <a:srgbClr val="153A5C"/>
          </a:solidFill>
          <a:ln w="6350">
            <a:solidFill>
              <a:srgbClr val="1E3A5C"/>
            </a:solidFill>
            <a:prstDash val="solid"/>
          </a:ln>
        </p:spPr>
        <p:txBody>
          <a:bodyPr/>
          <a:lstStyle/>
          <a:p>
            <a:endParaRPr lang="en-US"/>
          </a:p>
        </p:txBody>
      </p:sp>
      <p:sp>
        <p:nvSpPr>
          <p:cNvPr id="9" name="Shape 5"/>
          <p:cNvSpPr/>
          <p:nvPr/>
        </p:nvSpPr>
        <p:spPr>
          <a:xfrm>
            <a:off x="2743200" y="1691640"/>
            <a:ext cx="54864" cy="502920"/>
          </a:xfrm>
          <a:prstGeom prst="rect">
            <a:avLst/>
          </a:prstGeom>
          <a:solidFill>
            <a:srgbClr val="FFB81C"/>
          </a:solidFill>
          <a:ln w="12700">
            <a:solidFill>
              <a:srgbClr val="333333"/>
            </a:solidFill>
            <a:prstDash val="solid"/>
          </a:ln>
        </p:spPr>
        <p:txBody>
          <a:bodyPr/>
          <a:lstStyle/>
          <a:p>
            <a:endParaRPr lang="en-US"/>
          </a:p>
        </p:txBody>
      </p:sp>
      <p:sp>
        <p:nvSpPr>
          <p:cNvPr id="10" name="Text 6"/>
          <p:cNvSpPr/>
          <p:nvPr/>
        </p:nvSpPr>
        <p:spPr>
          <a:xfrm>
            <a:off x="2907792" y="1719072"/>
            <a:ext cx="2057400" cy="201168"/>
          </a:xfrm>
          <a:prstGeom prst="rect">
            <a:avLst/>
          </a:prstGeom>
          <a:noFill/>
          <a:ln/>
        </p:spPr>
        <p:txBody>
          <a:bodyPr wrap="square" lIns="0" tIns="0" rIns="0" bIns="0" rtlCol="0" anchor="ctr"/>
          <a:lstStyle/>
          <a:p>
            <a:pPr marL="0" indent="0">
              <a:buNone/>
            </a:pPr>
            <a:r>
              <a:rPr lang="en-US" sz="900" b="1" kern="0" spc="200" dirty="0">
                <a:solidFill>
                  <a:srgbClr val="8FA8C2"/>
                </a:solidFill>
                <a:latin typeface="Calibri" pitchFamily="34" charset="0"/>
                <a:ea typeface="Calibri" pitchFamily="34" charset="-122"/>
                <a:cs typeface="Calibri" pitchFamily="34" charset="-120"/>
              </a:rPr>
              <a:t>Level</a:t>
            </a:r>
            <a:endParaRPr lang="en-US" sz="900" dirty="0"/>
          </a:p>
        </p:txBody>
      </p:sp>
      <p:sp>
        <p:nvSpPr>
          <p:cNvPr id="11" name="Text 7"/>
          <p:cNvSpPr/>
          <p:nvPr/>
        </p:nvSpPr>
        <p:spPr>
          <a:xfrm>
            <a:off x="2907792" y="1901952"/>
            <a:ext cx="20574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Intermediate</a:t>
            </a:r>
            <a:endParaRPr lang="en-US" sz="1300" dirty="0"/>
          </a:p>
        </p:txBody>
      </p:sp>
      <p:sp>
        <p:nvSpPr>
          <p:cNvPr id="12" name="Shape 8"/>
          <p:cNvSpPr/>
          <p:nvPr/>
        </p:nvSpPr>
        <p:spPr>
          <a:xfrm>
            <a:off x="5166360" y="1691640"/>
            <a:ext cx="2286000" cy="502920"/>
          </a:xfrm>
          <a:prstGeom prst="rect">
            <a:avLst/>
          </a:prstGeom>
          <a:solidFill>
            <a:srgbClr val="153A5C"/>
          </a:solidFill>
          <a:ln w="6350">
            <a:solidFill>
              <a:srgbClr val="1E3A5C"/>
            </a:solidFill>
            <a:prstDash val="solid"/>
          </a:ln>
        </p:spPr>
        <p:txBody>
          <a:bodyPr/>
          <a:lstStyle/>
          <a:p>
            <a:endParaRPr lang="en-US"/>
          </a:p>
        </p:txBody>
      </p:sp>
      <p:sp>
        <p:nvSpPr>
          <p:cNvPr id="13" name="Shape 9"/>
          <p:cNvSpPr/>
          <p:nvPr/>
        </p:nvSpPr>
        <p:spPr>
          <a:xfrm>
            <a:off x="5166360" y="1691640"/>
            <a:ext cx="54864" cy="502920"/>
          </a:xfrm>
          <a:prstGeom prst="rect">
            <a:avLst/>
          </a:prstGeom>
          <a:solidFill>
            <a:srgbClr val="4FC3F7"/>
          </a:solidFill>
          <a:ln w="12700">
            <a:solidFill>
              <a:srgbClr val="333333"/>
            </a:solidFill>
            <a:prstDash val="solid"/>
          </a:ln>
        </p:spPr>
        <p:txBody>
          <a:bodyPr/>
          <a:lstStyle/>
          <a:p>
            <a:endParaRPr lang="en-US"/>
          </a:p>
        </p:txBody>
      </p:sp>
      <p:sp>
        <p:nvSpPr>
          <p:cNvPr id="14" name="Text 10"/>
          <p:cNvSpPr/>
          <p:nvPr/>
        </p:nvSpPr>
        <p:spPr>
          <a:xfrm>
            <a:off x="5330952" y="1719072"/>
            <a:ext cx="2057400" cy="201168"/>
          </a:xfrm>
          <a:prstGeom prst="rect">
            <a:avLst/>
          </a:prstGeom>
          <a:noFill/>
          <a:ln/>
        </p:spPr>
        <p:txBody>
          <a:bodyPr wrap="square" lIns="0" tIns="0" rIns="0" bIns="0" rtlCol="0" anchor="ctr"/>
          <a:lstStyle/>
          <a:p>
            <a:pPr marL="0" indent="0">
              <a:buNone/>
            </a:pPr>
            <a:r>
              <a:rPr lang="en-US" sz="900" b="1" kern="0" spc="200" dirty="0">
                <a:solidFill>
                  <a:srgbClr val="8FA8C2"/>
                </a:solidFill>
                <a:latin typeface="Calibri" pitchFamily="34" charset="0"/>
                <a:ea typeface="Calibri" pitchFamily="34" charset="-122"/>
                <a:cs typeface="Calibri" pitchFamily="34" charset="-120"/>
              </a:rPr>
              <a:t>Platform</a:t>
            </a:r>
            <a:endParaRPr lang="en-US" sz="900" dirty="0"/>
          </a:p>
        </p:txBody>
      </p:sp>
      <p:sp>
        <p:nvSpPr>
          <p:cNvPr id="15" name="Text 11"/>
          <p:cNvSpPr/>
          <p:nvPr/>
        </p:nvSpPr>
        <p:spPr>
          <a:xfrm>
            <a:off x="5330952" y="1901952"/>
            <a:ext cx="20574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Declarative Agent</a:t>
            </a:r>
            <a:endParaRPr lang="en-US" sz="1300" dirty="0"/>
          </a:p>
        </p:txBody>
      </p:sp>
      <p:sp>
        <p:nvSpPr>
          <p:cNvPr id="16" name="Shape 12"/>
          <p:cNvSpPr/>
          <p:nvPr/>
        </p:nvSpPr>
        <p:spPr>
          <a:xfrm>
            <a:off x="7589520" y="1691640"/>
            <a:ext cx="2286000" cy="502920"/>
          </a:xfrm>
          <a:prstGeom prst="rect">
            <a:avLst/>
          </a:prstGeom>
          <a:solidFill>
            <a:srgbClr val="153A5C"/>
          </a:solidFill>
          <a:ln w="6350">
            <a:solidFill>
              <a:srgbClr val="1E3A5C"/>
            </a:solidFill>
            <a:prstDash val="solid"/>
          </a:ln>
        </p:spPr>
        <p:txBody>
          <a:bodyPr/>
          <a:lstStyle/>
          <a:p>
            <a:endParaRPr lang="en-US"/>
          </a:p>
        </p:txBody>
      </p:sp>
      <p:sp>
        <p:nvSpPr>
          <p:cNvPr id="17" name="Shape 13"/>
          <p:cNvSpPr/>
          <p:nvPr/>
        </p:nvSpPr>
        <p:spPr>
          <a:xfrm>
            <a:off x="7589520" y="1691640"/>
            <a:ext cx="54864" cy="502920"/>
          </a:xfrm>
          <a:prstGeom prst="rect">
            <a:avLst/>
          </a:prstGeom>
          <a:solidFill>
            <a:srgbClr val="FFB81C"/>
          </a:solidFill>
          <a:ln w="12700">
            <a:solidFill>
              <a:srgbClr val="333333"/>
            </a:solidFill>
            <a:prstDash val="solid"/>
          </a:ln>
        </p:spPr>
        <p:txBody>
          <a:bodyPr/>
          <a:lstStyle/>
          <a:p>
            <a:endParaRPr lang="en-US"/>
          </a:p>
        </p:txBody>
      </p:sp>
      <p:sp>
        <p:nvSpPr>
          <p:cNvPr id="18" name="Text 14"/>
          <p:cNvSpPr/>
          <p:nvPr/>
        </p:nvSpPr>
        <p:spPr>
          <a:xfrm>
            <a:off x="7754112" y="1719072"/>
            <a:ext cx="2057400" cy="201168"/>
          </a:xfrm>
          <a:prstGeom prst="rect">
            <a:avLst/>
          </a:prstGeom>
          <a:noFill/>
          <a:ln/>
        </p:spPr>
        <p:txBody>
          <a:bodyPr wrap="square" lIns="0" tIns="0" rIns="0" bIns="0" rtlCol="0" anchor="ctr"/>
          <a:lstStyle/>
          <a:p>
            <a:pPr marL="0" indent="0">
              <a:buNone/>
            </a:pPr>
            <a:r>
              <a:rPr lang="en-US" sz="900" b="1" kern="0" spc="200" dirty="0">
                <a:solidFill>
                  <a:srgbClr val="8FA8C2"/>
                </a:solidFill>
                <a:latin typeface="Calibri" pitchFamily="34" charset="0"/>
                <a:ea typeface="Calibri" pitchFamily="34" charset="-122"/>
                <a:cs typeface="Calibri" pitchFamily="34" charset="-120"/>
              </a:rPr>
              <a:t>Time</a:t>
            </a:r>
            <a:endParaRPr lang="en-US" sz="900" dirty="0"/>
          </a:p>
        </p:txBody>
      </p:sp>
      <p:sp>
        <p:nvSpPr>
          <p:cNvPr id="19" name="Text 15"/>
          <p:cNvSpPr/>
          <p:nvPr/>
        </p:nvSpPr>
        <p:spPr>
          <a:xfrm>
            <a:off x="7754112" y="1901952"/>
            <a:ext cx="20574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30-40 mins</a:t>
            </a:r>
            <a:endParaRPr lang="en-US" sz="1300" dirty="0"/>
          </a:p>
        </p:txBody>
      </p:sp>
      <p:sp>
        <p:nvSpPr>
          <p:cNvPr id="20" name="Shape 16"/>
          <p:cNvSpPr/>
          <p:nvPr/>
        </p:nvSpPr>
        <p:spPr>
          <a:xfrm>
            <a:off x="548640" y="2468880"/>
            <a:ext cx="10058400" cy="2377440"/>
          </a:xfrm>
          <a:prstGeom prst="rect">
            <a:avLst/>
          </a:prstGeom>
          <a:solidFill>
            <a:srgbClr val="0A2A44"/>
          </a:solidFill>
          <a:ln w="6350">
            <a:solidFill>
              <a:srgbClr val="1E3A5C"/>
            </a:solidFill>
            <a:prstDash val="solid"/>
          </a:ln>
        </p:spPr>
        <p:txBody>
          <a:bodyPr/>
          <a:lstStyle/>
          <a:p>
            <a:endParaRPr lang="en-US"/>
          </a:p>
        </p:txBody>
      </p:sp>
      <p:sp>
        <p:nvSpPr>
          <p:cNvPr id="21" name="Shape 17"/>
          <p:cNvSpPr/>
          <p:nvPr/>
        </p:nvSpPr>
        <p:spPr>
          <a:xfrm>
            <a:off x="548640" y="2468880"/>
            <a:ext cx="91440" cy="2377440"/>
          </a:xfrm>
          <a:prstGeom prst="rect">
            <a:avLst/>
          </a:prstGeom>
          <a:solidFill>
            <a:srgbClr val="FFB81C"/>
          </a:solidFill>
          <a:ln w="12700">
            <a:solidFill>
              <a:srgbClr val="333333"/>
            </a:solidFill>
            <a:prstDash val="solid"/>
          </a:ln>
        </p:spPr>
        <p:txBody>
          <a:bodyPr/>
          <a:lstStyle/>
          <a:p>
            <a:endParaRPr lang="en-US"/>
          </a:p>
        </p:txBody>
      </p:sp>
      <p:sp>
        <p:nvSpPr>
          <p:cNvPr id="22" name="Text 18"/>
          <p:cNvSpPr/>
          <p:nvPr/>
        </p:nvSpPr>
        <p:spPr>
          <a:xfrm>
            <a:off x="777240" y="2651760"/>
            <a:ext cx="3657600" cy="274320"/>
          </a:xfrm>
          <a:prstGeom prst="rect">
            <a:avLst/>
          </a:prstGeom>
          <a:noFill/>
          <a:ln/>
        </p:spPr>
        <p:txBody>
          <a:bodyPr wrap="square" lIns="0" tIns="0" rIns="0" bIns="0" rtlCol="0" anchor="ctr"/>
          <a:lstStyle/>
          <a:p>
            <a:pPr marL="0" indent="0">
              <a:buNone/>
            </a:pPr>
            <a:r>
              <a:rPr lang="en-US" sz="1100" b="1" kern="0" spc="300" dirty="0">
                <a:solidFill>
                  <a:srgbClr val="FFB81C"/>
                </a:solidFill>
                <a:latin typeface="Calibri" pitchFamily="34" charset="0"/>
                <a:ea typeface="Calibri" pitchFamily="34" charset="-122"/>
                <a:cs typeface="Calibri" pitchFamily="34" charset="-120"/>
              </a:rPr>
              <a:t>SCENARIO</a:t>
            </a:r>
            <a:endParaRPr lang="en-US" sz="1100" dirty="0"/>
          </a:p>
        </p:txBody>
      </p:sp>
      <p:sp>
        <p:nvSpPr>
          <p:cNvPr id="23" name="Text 19"/>
          <p:cNvSpPr/>
          <p:nvPr/>
        </p:nvSpPr>
        <p:spPr>
          <a:xfrm>
            <a:off x="777240" y="2971800"/>
            <a:ext cx="9692640" cy="1737360"/>
          </a:xfrm>
          <a:prstGeom prst="rect">
            <a:avLst/>
          </a:prstGeom>
          <a:noFill/>
          <a:ln/>
        </p:spPr>
        <p:txBody>
          <a:bodyPr wrap="square" lIns="0" tIns="0" rIns="0" bIns="0" rtlCol="0" anchor="ctr"/>
          <a:lstStyle/>
          <a:p>
            <a:pPr marL="0" indent="0">
              <a:buNone/>
            </a:pPr>
            <a:r>
              <a:rPr lang="en-US" sz="1300" dirty="0">
                <a:solidFill>
                  <a:srgbClr val="EAF2FA"/>
                </a:solidFill>
                <a:latin typeface="Calibri" pitchFamily="34" charset="0"/>
                <a:ea typeface="Calibri" pitchFamily="34" charset="-122"/>
                <a:cs typeface="Calibri" pitchFamily="34" charset="-120"/>
              </a:rPr>
              <a:t>Citizens regularly contact the council about infringement notices and want to understand exactly why they were issued and what rule applies. Your team has a CSV with infringement cases and a set of publicly available Road Safety regulations. The challenge is to give residents clear, grounded answers without taking up officer time.</a:t>
            </a:r>
            <a:endParaRPr lang="en-US" sz="1300" dirty="0"/>
          </a:p>
        </p:txBody>
      </p:sp>
      <p:sp>
        <p:nvSpPr>
          <p:cNvPr id="24" name="Shape 20"/>
          <p:cNvSpPr/>
          <p:nvPr/>
        </p:nvSpPr>
        <p:spPr>
          <a:xfrm>
            <a:off x="548640" y="4983480"/>
            <a:ext cx="6766560" cy="1554480"/>
          </a:xfrm>
          <a:prstGeom prst="rect">
            <a:avLst/>
          </a:prstGeom>
          <a:solidFill>
            <a:srgbClr val="153A5C"/>
          </a:solidFill>
          <a:ln w="6350">
            <a:solidFill>
              <a:srgbClr val="1E3A5C"/>
            </a:solidFill>
            <a:prstDash val="solid"/>
          </a:ln>
        </p:spPr>
        <p:txBody>
          <a:bodyPr/>
          <a:lstStyle/>
          <a:p>
            <a:endParaRPr lang="en-US"/>
          </a:p>
        </p:txBody>
      </p:sp>
      <p:sp>
        <p:nvSpPr>
          <p:cNvPr id="25" name="Shape 21"/>
          <p:cNvSpPr/>
          <p:nvPr/>
        </p:nvSpPr>
        <p:spPr>
          <a:xfrm>
            <a:off x="548640" y="4983480"/>
            <a:ext cx="91440" cy="1554480"/>
          </a:xfrm>
          <a:prstGeom prst="rect">
            <a:avLst/>
          </a:prstGeom>
          <a:solidFill>
            <a:srgbClr val="4FC3F7"/>
          </a:solidFill>
          <a:ln w="12700">
            <a:solidFill>
              <a:srgbClr val="333333"/>
            </a:solidFill>
            <a:prstDash val="solid"/>
          </a:ln>
        </p:spPr>
        <p:txBody>
          <a:bodyPr/>
          <a:lstStyle/>
          <a:p>
            <a:endParaRPr lang="en-US"/>
          </a:p>
        </p:txBody>
      </p:sp>
      <p:sp>
        <p:nvSpPr>
          <p:cNvPr id="26" name="Text 22"/>
          <p:cNvSpPr/>
          <p:nvPr/>
        </p:nvSpPr>
        <p:spPr>
          <a:xfrm>
            <a:off x="777240" y="5120640"/>
            <a:ext cx="3657600" cy="274320"/>
          </a:xfrm>
          <a:prstGeom prst="rect">
            <a:avLst/>
          </a:prstGeom>
          <a:noFill/>
          <a:ln/>
        </p:spPr>
        <p:txBody>
          <a:bodyPr wrap="square" lIns="0" tIns="0" rIns="0" bIns="0" rtlCol="0" anchor="ctr"/>
          <a:lstStyle/>
          <a:p>
            <a:pPr marL="0" indent="0">
              <a:buNone/>
            </a:pPr>
            <a:r>
              <a:rPr lang="en-US" sz="1100" b="1" kern="0" spc="300" dirty="0">
                <a:solidFill>
                  <a:srgbClr val="4FC3F7"/>
                </a:solidFill>
                <a:latin typeface="Calibri" pitchFamily="34" charset="0"/>
                <a:ea typeface="Calibri" pitchFamily="34" charset="-122"/>
                <a:cs typeface="Calibri" pitchFamily="34" charset="-120"/>
              </a:rPr>
              <a:t>YOUR GOAL</a:t>
            </a:r>
            <a:endParaRPr lang="en-US" sz="1100" dirty="0"/>
          </a:p>
        </p:txBody>
      </p:sp>
      <p:sp>
        <p:nvSpPr>
          <p:cNvPr id="27" name="Text 23"/>
          <p:cNvSpPr/>
          <p:nvPr/>
        </p:nvSpPr>
        <p:spPr>
          <a:xfrm>
            <a:off x="777240" y="5440680"/>
            <a:ext cx="6400800" cy="1005840"/>
          </a:xfrm>
          <a:prstGeom prst="rect">
            <a:avLst/>
          </a:prstGeom>
          <a:noFill/>
          <a:ln/>
        </p:spPr>
        <p:txBody>
          <a:bodyPr wrap="square" lIns="0" tIns="0" rIns="0" bIns="0" rtlCol="0" anchor="ctr"/>
          <a:lstStyle/>
          <a:p>
            <a:pPr marL="0" indent="0">
              <a:buNone/>
            </a:pPr>
            <a:r>
              <a:rPr lang="en-US" sz="1200" dirty="0">
                <a:solidFill>
                  <a:srgbClr val="EAF2FA"/>
                </a:solidFill>
                <a:latin typeface="Calibri" pitchFamily="34" charset="0"/>
                <a:ea typeface="Calibri" pitchFamily="34" charset="-122"/>
                <a:cs typeface="Calibri" pitchFamily="34" charset="-120"/>
              </a:rPr>
              <a:t>Build a custom declarative agent that helps explain infringement notices to citizens. Connect the agent to the Road Safety regulations and the infringement cases data file. Test it with: "Why is RSI-2026-0006 an infringement?"</a:t>
            </a:r>
            <a:endParaRPr lang="en-US" sz="1200" dirty="0"/>
          </a:p>
        </p:txBody>
      </p:sp>
      <p:sp>
        <p:nvSpPr>
          <p:cNvPr id="28" name="Shape 24"/>
          <p:cNvSpPr/>
          <p:nvPr/>
        </p:nvSpPr>
        <p:spPr>
          <a:xfrm>
            <a:off x="7452360" y="4983480"/>
            <a:ext cx="3154680" cy="1554480"/>
          </a:xfrm>
          <a:prstGeom prst="rect">
            <a:avLst/>
          </a:prstGeom>
          <a:solidFill>
            <a:srgbClr val="153A5C"/>
          </a:solidFill>
          <a:ln w="6350">
            <a:solidFill>
              <a:srgbClr val="1E3A5C"/>
            </a:solidFill>
            <a:prstDash val="solid"/>
          </a:ln>
        </p:spPr>
        <p:txBody>
          <a:bodyPr/>
          <a:lstStyle/>
          <a:p>
            <a:endParaRPr lang="en-US"/>
          </a:p>
        </p:txBody>
      </p:sp>
      <p:sp>
        <p:nvSpPr>
          <p:cNvPr id="29" name="Shape 25"/>
          <p:cNvSpPr/>
          <p:nvPr/>
        </p:nvSpPr>
        <p:spPr>
          <a:xfrm>
            <a:off x="7452360" y="4983480"/>
            <a:ext cx="91440" cy="1554480"/>
          </a:xfrm>
          <a:prstGeom prst="rect">
            <a:avLst/>
          </a:prstGeom>
          <a:solidFill>
            <a:srgbClr val="FFB81C"/>
          </a:solidFill>
          <a:ln w="12700">
            <a:solidFill>
              <a:srgbClr val="333333"/>
            </a:solidFill>
            <a:prstDash val="solid"/>
          </a:ln>
        </p:spPr>
        <p:txBody>
          <a:bodyPr/>
          <a:lstStyle/>
          <a:p>
            <a:endParaRPr lang="en-US"/>
          </a:p>
        </p:txBody>
      </p:sp>
      <p:sp>
        <p:nvSpPr>
          <p:cNvPr id="30" name="Text 26"/>
          <p:cNvSpPr/>
          <p:nvPr/>
        </p:nvSpPr>
        <p:spPr>
          <a:xfrm>
            <a:off x="7680960" y="5120640"/>
            <a:ext cx="3657600" cy="274320"/>
          </a:xfrm>
          <a:prstGeom prst="rect">
            <a:avLst/>
          </a:prstGeom>
          <a:noFill/>
          <a:ln/>
        </p:spPr>
        <p:txBody>
          <a:bodyPr wrap="square" lIns="0" tIns="0" rIns="0" bIns="0" rtlCol="0" anchor="ctr"/>
          <a:lstStyle/>
          <a:p>
            <a:pPr marL="0" indent="0">
              <a:buNone/>
            </a:pPr>
            <a:r>
              <a:rPr lang="en-US" sz="1100" b="1" kern="0" spc="300" dirty="0">
                <a:solidFill>
                  <a:srgbClr val="FFB81C"/>
                </a:solidFill>
                <a:latin typeface="Calibri" pitchFamily="34" charset="0"/>
                <a:ea typeface="Calibri" pitchFamily="34" charset="-122"/>
                <a:cs typeface="Calibri" pitchFamily="34" charset="-120"/>
              </a:rPr>
              <a:t>DATA FILES</a:t>
            </a:r>
            <a:endParaRPr lang="en-US" sz="1100" dirty="0"/>
          </a:p>
        </p:txBody>
      </p:sp>
      <p:sp>
        <p:nvSpPr>
          <p:cNvPr id="31" name="Text 27"/>
          <p:cNvSpPr/>
          <p:nvPr/>
        </p:nvSpPr>
        <p:spPr>
          <a:xfrm>
            <a:off x="7680960" y="5440680"/>
            <a:ext cx="2834640" cy="1005840"/>
          </a:xfrm>
          <a:prstGeom prst="rect">
            <a:avLst/>
          </a:prstGeom>
          <a:noFill/>
          <a:ln/>
        </p:spPr>
        <p:txBody>
          <a:bodyPr wrap="square" lIns="0" tIns="0" rIns="0" bIns="0" rtlCol="0" anchor="ctr"/>
          <a:lstStyle/>
          <a:p>
            <a:pPr marL="342900" indent="-342900">
              <a:buSzPct val="100000"/>
              <a:buChar char="•"/>
            </a:pPr>
            <a:r>
              <a:rPr lang="en-US" sz="1100" dirty="0">
                <a:solidFill>
                  <a:srgbClr val="EAF2FA"/>
                </a:solidFill>
                <a:latin typeface="Calibri" pitchFamily="34" charset="0"/>
                <a:ea typeface="Calibri" pitchFamily="34" charset="-122"/>
                <a:cs typeface="Calibri" pitchFamily="34" charset="-120"/>
              </a:rPr>
              <a:t>Road Safety Infringement Cases.csv</a:t>
            </a:r>
            <a:endParaRPr lang="en-US" sz="1100" dirty="0"/>
          </a:p>
          <a:p>
            <a:pPr marL="342900" indent="-342900">
              <a:buSzPct val="100000"/>
              <a:buChar char="•"/>
            </a:pPr>
            <a:r>
              <a:rPr lang="en-US" sz="1100" dirty="0">
                <a:solidFill>
                  <a:srgbClr val="EAF2FA"/>
                </a:solidFill>
                <a:latin typeface="Calibri" pitchFamily="34" charset="0"/>
                <a:ea typeface="Calibri" pitchFamily="34" charset="-122"/>
                <a:cs typeface="Calibri" pitchFamily="34" charset="-120"/>
              </a:rPr>
              <a:t>Public Road Safety regulations</a:t>
            </a:r>
            <a:endParaRPr lang="en-US" sz="1100" dirty="0"/>
          </a:p>
        </p:txBody>
      </p:sp>
      <p:sp>
        <p:nvSpPr>
          <p:cNvPr id="32" name="Text 28"/>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38 / 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9">
    <p:bg>
      <p:bgPr>
        <a:solidFill>
          <a:srgbClr val="001F33"/>
        </a:solidFill>
        <a:effectLst/>
      </p:bgPr>
    </p:bg>
    <p:spTree>
      <p:nvGrpSpPr>
        <p:cNvPr id="1" name=""/>
        <p:cNvGrpSpPr/>
        <p:nvPr/>
      </p:nvGrpSpPr>
      <p:grpSpPr>
        <a:xfrm>
          <a:off x="0" y="0"/>
          <a:ext cx="0" cy="0"/>
          <a:chOff x="0" y="0"/>
          <a:chExt cx="0" cy="0"/>
        </a:xfrm>
      </p:grpSpPr>
      <p:pic>
        <p:nvPicPr>
          <p:cNvPr id="2" name="Image 0" descr="/mnt/workspace/working/akkodis-bg.jpeg"/>
          <p:cNvPicPr>
            <a:picLocks noChangeAspect="1"/>
          </p:cNvPicPr>
          <p:nvPr/>
        </p:nvPicPr>
        <p:blipFill>
          <a:blip r:embed="rId3">
            <a:alphaModFix amt="40000"/>
          </a:blip>
          <a:stretch>
            <a:fillRect/>
          </a:stretch>
        </p:blipFill>
        <p:spPr>
          <a:xfrm>
            <a:off x="10725912" y="0"/>
            <a:ext cx="1463040" cy="6858000"/>
          </a:xfrm>
          <a:prstGeom prst="rect">
            <a:avLst/>
          </a:prstGeom>
        </p:spPr>
      </p:pic>
      <p:sp>
        <p:nvSpPr>
          <p:cNvPr id="3" name="Shape 0"/>
          <p:cNvSpPr/>
          <p:nvPr/>
        </p:nvSpPr>
        <p:spPr>
          <a:xfrm>
            <a:off x="10725912" y="0"/>
            <a:ext cx="1463040" cy="6858000"/>
          </a:xfrm>
          <a:prstGeom prst="rect">
            <a:avLst/>
          </a:prstGeom>
          <a:solidFill>
            <a:srgbClr val="001F33">
              <a:alpha val="45000"/>
            </a:srgbClr>
          </a:solidFill>
          <a:ln w="12700">
            <a:solidFill>
              <a:srgbClr val="333333"/>
            </a:solidFill>
            <a:prstDash val="solid"/>
          </a:ln>
        </p:spPr>
        <p:txBody>
          <a:bodyPr/>
          <a:lstStyle/>
          <a:p>
            <a:endParaRPr lang="en-US"/>
          </a:p>
        </p:txBody>
      </p:sp>
      <p:pic>
        <p:nvPicPr>
          <p:cNvPr id="4" name="Image 1" descr="/mnt/workspace/working/akkodis-barhead-logo-white.png"/>
          <p:cNvPicPr>
            <a:picLocks noChangeAspect="1"/>
          </p:cNvPicPr>
          <p:nvPr/>
        </p:nvPicPr>
        <p:blipFill>
          <a:blip r:embed="rId4"/>
          <a:stretch>
            <a:fillRect/>
          </a:stretch>
        </p:blipFill>
        <p:spPr>
          <a:xfrm>
            <a:off x="10268712" y="256032"/>
            <a:ext cx="1554480" cy="249491"/>
          </a:xfrm>
          <a:prstGeom prst="rect">
            <a:avLst/>
          </a:prstGeom>
        </p:spPr>
      </p:pic>
      <p:sp>
        <p:nvSpPr>
          <p:cNvPr id="5" name="Text 1"/>
          <p:cNvSpPr/>
          <p:nvPr/>
        </p:nvSpPr>
        <p:spPr>
          <a:xfrm>
            <a:off x="548640" y="457200"/>
            <a:ext cx="3657600" cy="365760"/>
          </a:xfrm>
          <a:prstGeom prst="rect">
            <a:avLst/>
          </a:prstGeom>
          <a:noFill/>
          <a:ln/>
        </p:spPr>
        <p:txBody>
          <a:bodyPr wrap="square" lIns="0" tIns="0" rIns="0" bIns="0" rtlCol="0" anchor="ctr"/>
          <a:lstStyle/>
          <a:p>
            <a:pPr marL="0" indent="0">
              <a:buNone/>
            </a:pPr>
            <a:r>
              <a:rPr lang="en-US" sz="1400" b="1" kern="0" spc="400" dirty="0">
                <a:solidFill>
                  <a:srgbClr val="4FC3F7"/>
                </a:solidFill>
                <a:latin typeface="Calibri" pitchFamily="34" charset="0"/>
                <a:ea typeface="Calibri" pitchFamily="34" charset="-122"/>
                <a:cs typeface="Calibri" pitchFamily="34" charset="-120"/>
              </a:rPr>
              <a:t>CHALLENGE</a:t>
            </a:r>
            <a:endParaRPr lang="en-US" sz="1400" dirty="0"/>
          </a:p>
        </p:txBody>
      </p:sp>
      <p:sp>
        <p:nvSpPr>
          <p:cNvPr id="6" name="Text 2"/>
          <p:cNvSpPr/>
          <p:nvPr/>
        </p:nvSpPr>
        <p:spPr>
          <a:xfrm>
            <a:off x="548640" y="777240"/>
            <a:ext cx="2194560" cy="1463040"/>
          </a:xfrm>
          <a:prstGeom prst="rect">
            <a:avLst/>
          </a:prstGeom>
          <a:noFill/>
          <a:ln/>
        </p:spPr>
        <p:txBody>
          <a:bodyPr wrap="square" lIns="0" tIns="0" rIns="0" bIns="0" rtlCol="0" anchor="ctr"/>
          <a:lstStyle/>
          <a:p>
            <a:pPr marL="0" indent="0">
              <a:buNone/>
            </a:pPr>
            <a:r>
              <a:rPr lang="en-US" sz="9600" b="1" dirty="0">
                <a:solidFill>
                  <a:srgbClr val="FFB81C"/>
                </a:solidFill>
                <a:latin typeface="Calibri" pitchFamily="34" charset="0"/>
                <a:ea typeface="Calibri" pitchFamily="34" charset="-122"/>
                <a:cs typeface="Calibri" pitchFamily="34" charset="-120"/>
              </a:rPr>
              <a:t>05</a:t>
            </a:r>
            <a:endParaRPr lang="en-US" sz="9600" dirty="0"/>
          </a:p>
        </p:txBody>
      </p:sp>
      <p:sp>
        <p:nvSpPr>
          <p:cNvPr id="7" name="Text 3"/>
          <p:cNvSpPr/>
          <p:nvPr/>
        </p:nvSpPr>
        <p:spPr>
          <a:xfrm>
            <a:off x="2743200" y="777240"/>
            <a:ext cx="8229600" cy="8229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HR Recruitment Assistant</a:t>
            </a:r>
            <a:endParaRPr lang="en-US" sz="3000" dirty="0"/>
          </a:p>
        </p:txBody>
      </p:sp>
      <p:sp>
        <p:nvSpPr>
          <p:cNvPr id="8" name="Shape 4"/>
          <p:cNvSpPr/>
          <p:nvPr/>
        </p:nvSpPr>
        <p:spPr>
          <a:xfrm>
            <a:off x="2743200" y="1691640"/>
            <a:ext cx="2286000" cy="502920"/>
          </a:xfrm>
          <a:prstGeom prst="rect">
            <a:avLst/>
          </a:prstGeom>
          <a:solidFill>
            <a:srgbClr val="153A5C"/>
          </a:solidFill>
          <a:ln w="6350">
            <a:solidFill>
              <a:srgbClr val="1E3A5C"/>
            </a:solidFill>
            <a:prstDash val="solid"/>
          </a:ln>
        </p:spPr>
        <p:txBody>
          <a:bodyPr/>
          <a:lstStyle/>
          <a:p>
            <a:endParaRPr lang="en-US"/>
          </a:p>
        </p:txBody>
      </p:sp>
      <p:sp>
        <p:nvSpPr>
          <p:cNvPr id="9" name="Shape 5"/>
          <p:cNvSpPr/>
          <p:nvPr/>
        </p:nvSpPr>
        <p:spPr>
          <a:xfrm>
            <a:off x="2743200" y="1691640"/>
            <a:ext cx="54864" cy="502920"/>
          </a:xfrm>
          <a:prstGeom prst="rect">
            <a:avLst/>
          </a:prstGeom>
          <a:solidFill>
            <a:srgbClr val="FFB81C"/>
          </a:solidFill>
          <a:ln w="12700">
            <a:solidFill>
              <a:srgbClr val="333333"/>
            </a:solidFill>
            <a:prstDash val="solid"/>
          </a:ln>
        </p:spPr>
        <p:txBody>
          <a:bodyPr/>
          <a:lstStyle/>
          <a:p>
            <a:endParaRPr lang="en-US"/>
          </a:p>
        </p:txBody>
      </p:sp>
      <p:sp>
        <p:nvSpPr>
          <p:cNvPr id="10" name="Text 6"/>
          <p:cNvSpPr/>
          <p:nvPr/>
        </p:nvSpPr>
        <p:spPr>
          <a:xfrm>
            <a:off x="2907792" y="1719072"/>
            <a:ext cx="2057400" cy="201168"/>
          </a:xfrm>
          <a:prstGeom prst="rect">
            <a:avLst/>
          </a:prstGeom>
          <a:noFill/>
          <a:ln/>
        </p:spPr>
        <p:txBody>
          <a:bodyPr wrap="square" lIns="0" tIns="0" rIns="0" bIns="0" rtlCol="0" anchor="ctr"/>
          <a:lstStyle/>
          <a:p>
            <a:pPr marL="0" indent="0">
              <a:buNone/>
            </a:pPr>
            <a:r>
              <a:rPr lang="en-US" sz="900" b="1" kern="0" spc="200" dirty="0">
                <a:solidFill>
                  <a:srgbClr val="8FA8C2"/>
                </a:solidFill>
                <a:latin typeface="Calibri" pitchFamily="34" charset="0"/>
                <a:ea typeface="Calibri" pitchFamily="34" charset="-122"/>
                <a:cs typeface="Calibri" pitchFamily="34" charset="-120"/>
              </a:rPr>
              <a:t>Level</a:t>
            </a:r>
            <a:endParaRPr lang="en-US" sz="900" dirty="0"/>
          </a:p>
        </p:txBody>
      </p:sp>
      <p:sp>
        <p:nvSpPr>
          <p:cNvPr id="11" name="Text 7"/>
          <p:cNvSpPr/>
          <p:nvPr/>
        </p:nvSpPr>
        <p:spPr>
          <a:xfrm>
            <a:off x="2907792" y="1901952"/>
            <a:ext cx="20574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Intermediate</a:t>
            </a:r>
            <a:endParaRPr lang="en-US" sz="1300" dirty="0"/>
          </a:p>
        </p:txBody>
      </p:sp>
      <p:sp>
        <p:nvSpPr>
          <p:cNvPr id="12" name="Shape 8"/>
          <p:cNvSpPr/>
          <p:nvPr/>
        </p:nvSpPr>
        <p:spPr>
          <a:xfrm>
            <a:off x="5166360" y="1691640"/>
            <a:ext cx="2286000" cy="502920"/>
          </a:xfrm>
          <a:prstGeom prst="rect">
            <a:avLst/>
          </a:prstGeom>
          <a:solidFill>
            <a:srgbClr val="153A5C"/>
          </a:solidFill>
          <a:ln w="6350">
            <a:solidFill>
              <a:srgbClr val="1E3A5C"/>
            </a:solidFill>
            <a:prstDash val="solid"/>
          </a:ln>
        </p:spPr>
        <p:txBody>
          <a:bodyPr/>
          <a:lstStyle/>
          <a:p>
            <a:endParaRPr lang="en-US"/>
          </a:p>
        </p:txBody>
      </p:sp>
      <p:sp>
        <p:nvSpPr>
          <p:cNvPr id="13" name="Shape 9"/>
          <p:cNvSpPr/>
          <p:nvPr/>
        </p:nvSpPr>
        <p:spPr>
          <a:xfrm>
            <a:off x="5166360" y="1691640"/>
            <a:ext cx="54864" cy="502920"/>
          </a:xfrm>
          <a:prstGeom prst="rect">
            <a:avLst/>
          </a:prstGeom>
          <a:solidFill>
            <a:srgbClr val="4FC3F7"/>
          </a:solidFill>
          <a:ln w="12700">
            <a:solidFill>
              <a:srgbClr val="333333"/>
            </a:solidFill>
            <a:prstDash val="solid"/>
          </a:ln>
        </p:spPr>
        <p:txBody>
          <a:bodyPr/>
          <a:lstStyle/>
          <a:p>
            <a:endParaRPr lang="en-US"/>
          </a:p>
        </p:txBody>
      </p:sp>
      <p:sp>
        <p:nvSpPr>
          <p:cNvPr id="14" name="Text 10"/>
          <p:cNvSpPr/>
          <p:nvPr/>
        </p:nvSpPr>
        <p:spPr>
          <a:xfrm>
            <a:off x="5330952" y="1719072"/>
            <a:ext cx="2057400" cy="201168"/>
          </a:xfrm>
          <a:prstGeom prst="rect">
            <a:avLst/>
          </a:prstGeom>
          <a:noFill/>
          <a:ln/>
        </p:spPr>
        <p:txBody>
          <a:bodyPr wrap="square" lIns="0" tIns="0" rIns="0" bIns="0" rtlCol="0" anchor="ctr"/>
          <a:lstStyle/>
          <a:p>
            <a:pPr marL="0" indent="0">
              <a:buNone/>
            </a:pPr>
            <a:r>
              <a:rPr lang="en-US" sz="900" b="1" kern="0" spc="200" dirty="0">
                <a:solidFill>
                  <a:srgbClr val="8FA8C2"/>
                </a:solidFill>
                <a:latin typeface="Calibri" pitchFamily="34" charset="0"/>
                <a:ea typeface="Calibri" pitchFamily="34" charset="-122"/>
                <a:cs typeface="Calibri" pitchFamily="34" charset="-120"/>
              </a:rPr>
              <a:t>Platform</a:t>
            </a:r>
            <a:endParaRPr lang="en-US" sz="900" dirty="0"/>
          </a:p>
        </p:txBody>
      </p:sp>
      <p:sp>
        <p:nvSpPr>
          <p:cNvPr id="15" name="Text 11"/>
          <p:cNvSpPr/>
          <p:nvPr/>
        </p:nvSpPr>
        <p:spPr>
          <a:xfrm>
            <a:off x="5330952" y="1901952"/>
            <a:ext cx="20574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Declarative Agent</a:t>
            </a:r>
            <a:endParaRPr lang="en-US" sz="1300" dirty="0"/>
          </a:p>
        </p:txBody>
      </p:sp>
      <p:sp>
        <p:nvSpPr>
          <p:cNvPr id="16" name="Shape 12"/>
          <p:cNvSpPr/>
          <p:nvPr/>
        </p:nvSpPr>
        <p:spPr>
          <a:xfrm>
            <a:off x="7589520" y="1691640"/>
            <a:ext cx="2286000" cy="502920"/>
          </a:xfrm>
          <a:prstGeom prst="rect">
            <a:avLst/>
          </a:prstGeom>
          <a:solidFill>
            <a:srgbClr val="153A5C"/>
          </a:solidFill>
          <a:ln w="6350">
            <a:solidFill>
              <a:srgbClr val="1E3A5C"/>
            </a:solidFill>
            <a:prstDash val="solid"/>
          </a:ln>
        </p:spPr>
        <p:txBody>
          <a:bodyPr/>
          <a:lstStyle/>
          <a:p>
            <a:endParaRPr lang="en-US"/>
          </a:p>
        </p:txBody>
      </p:sp>
      <p:sp>
        <p:nvSpPr>
          <p:cNvPr id="17" name="Shape 13"/>
          <p:cNvSpPr/>
          <p:nvPr/>
        </p:nvSpPr>
        <p:spPr>
          <a:xfrm>
            <a:off x="7589520" y="1691640"/>
            <a:ext cx="54864" cy="502920"/>
          </a:xfrm>
          <a:prstGeom prst="rect">
            <a:avLst/>
          </a:prstGeom>
          <a:solidFill>
            <a:srgbClr val="FFB81C"/>
          </a:solidFill>
          <a:ln w="12700">
            <a:solidFill>
              <a:srgbClr val="333333"/>
            </a:solidFill>
            <a:prstDash val="solid"/>
          </a:ln>
        </p:spPr>
        <p:txBody>
          <a:bodyPr/>
          <a:lstStyle/>
          <a:p>
            <a:endParaRPr lang="en-US"/>
          </a:p>
        </p:txBody>
      </p:sp>
      <p:sp>
        <p:nvSpPr>
          <p:cNvPr id="18" name="Text 14"/>
          <p:cNvSpPr/>
          <p:nvPr/>
        </p:nvSpPr>
        <p:spPr>
          <a:xfrm>
            <a:off x="7754112" y="1719072"/>
            <a:ext cx="2057400" cy="201168"/>
          </a:xfrm>
          <a:prstGeom prst="rect">
            <a:avLst/>
          </a:prstGeom>
          <a:noFill/>
          <a:ln/>
        </p:spPr>
        <p:txBody>
          <a:bodyPr wrap="square" lIns="0" tIns="0" rIns="0" bIns="0" rtlCol="0" anchor="ctr"/>
          <a:lstStyle/>
          <a:p>
            <a:pPr marL="0" indent="0">
              <a:buNone/>
            </a:pPr>
            <a:r>
              <a:rPr lang="en-US" sz="900" b="1" kern="0" spc="200" dirty="0">
                <a:solidFill>
                  <a:srgbClr val="8FA8C2"/>
                </a:solidFill>
                <a:latin typeface="Calibri" pitchFamily="34" charset="0"/>
                <a:ea typeface="Calibri" pitchFamily="34" charset="-122"/>
                <a:cs typeface="Calibri" pitchFamily="34" charset="-120"/>
              </a:rPr>
              <a:t>Time</a:t>
            </a:r>
            <a:endParaRPr lang="en-US" sz="900" dirty="0"/>
          </a:p>
        </p:txBody>
      </p:sp>
      <p:sp>
        <p:nvSpPr>
          <p:cNvPr id="19" name="Text 15"/>
          <p:cNvSpPr/>
          <p:nvPr/>
        </p:nvSpPr>
        <p:spPr>
          <a:xfrm>
            <a:off x="7754112" y="1901952"/>
            <a:ext cx="2057400" cy="29260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30-40 mins</a:t>
            </a:r>
            <a:endParaRPr lang="en-US" sz="1300" dirty="0"/>
          </a:p>
        </p:txBody>
      </p:sp>
      <p:sp>
        <p:nvSpPr>
          <p:cNvPr id="20" name="Shape 16"/>
          <p:cNvSpPr/>
          <p:nvPr/>
        </p:nvSpPr>
        <p:spPr>
          <a:xfrm>
            <a:off x="548640" y="2468880"/>
            <a:ext cx="10058400" cy="2377440"/>
          </a:xfrm>
          <a:prstGeom prst="rect">
            <a:avLst/>
          </a:prstGeom>
          <a:solidFill>
            <a:srgbClr val="0A2A44"/>
          </a:solidFill>
          <a:ln w="6350">
            <a:solidFill>
              <a:srgbClr val="1E3A5C"/>
            </a:solidFill>
            <a:prstDash val="solid"/>
          </a:ln>
        </p:spPr>
        <p:txBody>
          <a:bodyPr/>
          <a:lstStyle/>
          <a:p>
            <a:endParaRPr lang="en-US"/>
          </a:p>
        </p:txBody>
      </p:sp>
      <p:sp>
        <p:nvSpPr>
          <p:cNvPr id="21" name="Shape 17"/>
          <p:cNvSpPr/>
          <p:nvPr/>
        </p:nvSpPr>
        <p:spPr>
          <a:xfrm>
            <a:off x="548640" y="2468880"/>
            <a:ext cx="91440" cy="2377440"/>
          </a:xfrm>
          <a:prstGeom prst="rect">
            <a:avLst/>
          </a:prstGeom>
          <a:solidFill>
            <a:srgbClr val="FFB81C"/>
          </a:solidFill>
          <a:ln w="12700">
            <a:solidFill>
              <a:srgbClr val="333333"/>
            </a:solidFill>
            <a:prstDash val="solid"/>
          </a:ln>
        </p:spPr>
        <p:txBody>
          <a:bodyPr/>
          <a:lstStyle/>
          <a:p>
            <a:endParaRPr lang="en-US"/>
          </a:p>
        </p:txBody>
      </p:sp>
      <p:sp>
        <p:nvSpPr>
          <p:cNvPr id="22" name="Text 18"/>
          <p:cNvSpPr/>
          <p:nvPr/>
        </p:nvSpPr>
        <p:spPr>
          <a:xfrm>
            <a:off x="777240" y="2651760"/>
            <a:ext cx="3657600" cy="274320"/>
          </a:xfrm>
          <a:prstGeom prst="rect">
            <a:avLst/>
          </a:prstGeom>
          <a:noFill/>
          <a:ln/>
        </p:spPr>
        <p:txBody>
          <a:bodyPr wrap="square" lIns="0" tIns="0" rIns="0" bIns="0" rtlCol="0" anchor="ctr"/>
          <a:lstStyle/>
          <a:p>
            <a:pPr marL="0" indent="0">
              <a:buNone/>
            </a:pPr>
            <a:r>
              <a:rPr lang="en-US" sz="1100" b="1" kern="0" spc="300" dirty="0">
                <a:solidFill>
                  <a:srgbClr val="FFB81C"/>
                </a:solidFill>
                <a:latin typeface="Calibri" pitchFamily="34" charset="0"/>
                <a:ea typeface="Calibri" pitchFamily="34" charset="-122"/>
                <a:cs typeface="Calibri" pitchFamily="34" charset="-120"/>
              </a:rPr>
              <a:t>SCENARIO</a:t>
            </a:r>
            <a:endParaRPr lang="en-US" sz="1100" dirty="0"/>
          </a:p>
        </p:txBody>
      </p:sp>
      <p:sp>
        <p:nvSpPr>
          <p:cNvPr id="23" name="Text 19"/>
          <p:cNvSpPr/>
          <p:nvPr/>
        </p:nvSpPr>
        <p:spPr>
          <a:xfrm>
            <a:off x="777240" y="2971800"/>
            <a:ext cx="9692640" cy="1737360"/>
          </a:xfrm>
          <a:prstGeom prst="rect">
            <a:avLst/>
          </a:prstGeom>
          <a:noFill/>
          <a:ln/>
        </p:spPr>
        <p:txBody>
          <a:bodyPr wrap="square" lIns="0" tIns="0" rIns="0" bIns="0" rtlCol="0" anchor="ctr"/>
          <a:lstStyle/>
          <a:p>
            <a:pPr marL="0" indent="0">
              <a:buNone/>
            </a:pPr>
            <a:r>
              <a:rPr lang="en-US" sz="1300" dirty="0">
                <a:solidFill>
                  <a:srgbClr val="EAF2FA"/>
                </a:solidFill>
                <a:latin typeface="Calibri" pitchFamily="34" charset="0"/>
                <a:ea typeface="Calibri" pitchFamily="34" charset="-122"/>
                <a:cs typeface="Calibri" pitchFamily="34" charset="-120"/>
              </a:rPr>
              <a:t>Greenfield City Council is recruiting a Senior Business Analyst to support the council's Copilot rollout and broader business transformation aligned to its AI strategy. Three candidates have applied: Emily Carter (8 years across Australian local government), Michael Tan (6 years across utilities and financial services) and Priya Nair (6 years in reporting and operational decision support).</a:t>
            </a:r>
            <a:endParaRPr lang="en-US" sz="1300" dirty="0"/>
          </a:p>
        </p:txBody>
      </p:sp>
      <p:sp>
        <p:nvSpPr>
          <p:cNvPr id="24" name="Shape 20"/>
          <p:cNvSpPr/>
          <p:nvPr/>
        </p:nvSpPr>
        <p:spPr>
          <a:xfrm>
            <a:off x="548640" y="4983480"/>
            <a:ext cx="6766560" cy="1554480"/>
          </a:xfrm>
          <a:prstGeom prst="rect">
            <a:avLst/>
          </a:prstGeom>
          <a:solidFill>
            <a:srgbClr val="153A5C"/>
          </a:solidFill>
          <a:ln w="6350">
            <a:solidFill>
              <a:srgbClr val="1E3A5C"/>
            </a:solidFill>
            <a:prstDash val="solid"/>
          </a:ln>
        </p:spPr>
        <p:txBody>
          <a:bodyPr/>
          <a:lstStyle/>
          <a:p>
            <a:endParaRPr lang="en-US"/>
          </a:p>
        </p:txBody>
      </p:sp>
      <p:sp>
        <p:nvSpPr>
          <p:cNvPr id="25" name="Shape 21"/>
          <p:cNvSpPr/>
          <p:nvPr/>
        </p:nvSpPr>
        <p:spPr>
          <a:xfrm>
            <a:off x="548640" y="4983480"/>
            <a:ext cx="91440" cy="1554480"/>
          </a:xfrm>
          <a:prstGeom prst="rect">
            <a:avLst/>
          </a:prstGeom>
          <a:solidFill>
            <a:srgbClr val="4FC3F7"/>
          </a:solidFill>
          <a:ln w="12700">
            <a:solidFill>
              <a:srgbClr val="333333"/>
            </a:solidFill>
            <a:prstDash val="solid"/>
          </a:ln>
        </p:spPr>
        <p:txBody>
          <a:bodyPr/>
          <a:lstStyle/>
          <a:p>
            <a:endParaRPr lang="en-US"/>
          </a:p>
        </p:txBody>
      </p:sp>
      <p:sp>
        <p:nvSpPr>
          <p:cNvPr id="26" name="Text 22"/>
          <p:cNvSpPr/>
          <p:nvPr/>
        </p:nvSpPr>
        <p:spPr>
          <a:xfrm>
            <a:off x="777240" y="5120640"/>
            <a:ext cx="3657600" cy="274320"/>
          </a:xfrm>
          <a:prstGeom prst="rect">
            <a:avLst/>
          </a:prstGeom>
          <a:noFill/>
          <a:ln/>
        </p:spPr>
        <p:txBody>
          <a:bodyPr wrap="square" lIns="0" tIns="0" rIns="0" bIns="0" rtlCol="0" anchor="ctr"/>
          <a:lstStyle/>
          <a:p>
            <a:pPr marL="0" indent="0">
              <a:buNone/>
            </a:pPr>
            <a:r>
              <a:rPr lang="en-US" sz="1100" b="1" kern="0" spc="300" dirty="0">
                <a:solidFill>
                  <a:srgbClr val="4FC3F7"/>
                </a:solidFill>
                <a:latin typeface="Calibri" pitchFamily="34" charset="0"/>
                <a:ea typeface="Calibri" pitchFamily="34" charset="-122"/>
                <a:cs typeface="Calibri" pitchFamily="34" charset="-120"/>
              </a:rPr>
              <a:t>YOUR GOAL</a:t>
            </a:r>
            <a:endParaRPr lang="en-US" sz="1100" dirty="0"/>
          </a:p>
        </p:txBody>
      </p:sp>
      <p:sp>
        <p:nvSpPr>
          <p:cNvPr id="27" name="Text 23"/>
          <p:cNvSpPr/>
          <p:nvPr/>
        </p:nvSpPr>
        <p:spPr>
          <a:xfrm>
            <a:off x="777240" y="5440680"/>
            <a:ext cx="6400800" cy="1005840"/>
          </a:xfrm>
          <a:prstGeom prst="rect">
            <a:avLst/>
          </a:prstGeom>
          <a:noFill/>
          <a:ln/>
        </p:spPr>
        <p:txBody>
          <a:bodyPr wrap="square" lIns="0" tIns="0" rIns="0" bIns="0" rtlCol="0" anchor="ctr"/>
          <a:lstStyle/>
          <a:p>
            <a:pPr marL="0" indent="0">
              <a:buNone/>
            </a:pPr>
            <a:r>
              <a:rPr lang="en-US" sz="1200" dirty="0">
                <a:solidFill>
                  <a:srgbClr val="EAF2FA"/>
                </a:solidFill>
                <a:latin typeface="Calibri" pitchFamily="34" charset="0"/>
                <a:ea typeface="Calibri" pitchFamily="34" charset="-122"/>
                <a:cs typeface="Calibri" pitchFamily="34" charset="-120"/>
              </a:rPr>
              <a:t>Create an agent that: 1) Evaluates each resume against the job description to identify suitability, strengths and gaps. 2) Ranks the candidates against the criteria. 3) Generates interview questions following the STAR method (Situation, Task, Action, Result).</a:t>
            </a:r>
            <a:endParaRPr lang="en-US" sz="1200" dirty="0"/>
          </a:p>
        </p:txBody>
      </p:sp>
      <p:sp>
        <p:nvSpPr>
          <p:cNvPr id="28" name="Shape 24"/>
          <p:cNvSpPr/>
          <p:nvPr/>
        </p:nvSpPr>
        <p:spPr>
          <a:xfrm>
            <a:off x="7452360" y="4983480"/>
            <a:ext cx="3154680" cy="1554480"/>
          </a:xfrm>
          <a:prstGeom prst="rect">
            <a:avLst/>
          </a:prstGeom>
          <a:solidFill>
            <a:srgbClr val="153A5C"/>
          </a:solidFill>
          <a:ln w="6350">
            <a:solidFill>
              <a:srgbClr val="1E3A5C"/>
            </a:solidFill>
            <a:prstDash val="solid"/>
          </a:ln>
        </p:spPr>
        <p:txBody>
          <a:bodyPr/>
          <a:lstStyle/>
          <a:p>
            <a:endParaRPr lang="en-US"/>
          </a:p>
        </p:txBody>
      </p:sp>
      <p:sp>
        <p:nvSpPr>
          <p:cNvPr id="29" name="Shape 25"/>
          <p:cNvSpPr/>
          <p:nvPr/>
        </p:nvSpPr>
        <p:spPr>
          <a:xfrm>
            <a:off x="7452360" y="4983480"/>
            <a:ext cx="91440" cy="1554480"/>
          </a:xfrm>
          <a:prstGeom prst="rect">
            <a:avLst/>
          </a:prstGeom>
          <a:solidFill>
            <a:srgbClr val="FFB81C"/>
          </a:solidFill>
          <a:ln w="12700">
            <a:solidFill>
              <a:srgbClr val="333333"/>
            </a:solidFill>
            <a:prstDash val="solid"/>
          </a:ln>
        </p:spPr>
        <p:txBody>
          <a:bodyPr/>
          <a:lstStyle/>
          <a:p>
            <a:endParaRPr lang="en-US"/>
          </a:p>
        </p:txBody>
      </p:sp>
      <p:sp>
        <p:nvSpPr>
          <p:cNvPr id="30" name="Text 26"/>
          <p:cNvSpPr/>
          <p:nvPr/>
        </p:nvSpPr>
        <p:spPr>
          <a:xfrm>
            <a:off x="7680960" y="5120640"/>
            <a:ext cx="3657600" cy="274320"/>
          </a:xfrm>
          <a:prstGeom prst="rect">
            <a:avLst/>
          </a:prstGeom>
          <a:noFill/>
          <a:ln/>
        </p:spPr>
        <p:txBody>
          <a:bodyPr wrap="square" lIns="0" tIns="0" rIns="0" bIns="0" rtlCol="0" anchor="ctr"/>
          <a:lstStyle/>
          <a:p>
            <a:pPr marL="0" indent="0">
              <a:buNone/>
            </a:pPr>
            <a:r>
              <a:rPr lang="en-US" sz="1100" b="1" kern="0" spc="300" dirty="0">
                <a:solidFill>
                  <a:srgbClr val="FFB81C"/>
                </a:solidFill>
                <a:latin typeface="Calibri" pitchFamily="34" charset="0"/>
                <a:ea typeface="Calibri" pitchFamily="34" charset="-122"/>
                <a:cs typeface="Calibri" pitchFamily="34" charset="-120"/>
              </a:rPr>
              <a:t>DATA FILES</a:t>
            </a:r>
            <a:endParaRPr lang="en-US" sz="1100" dirty="0"/>
          </a:p>
        </p:txBody>
      </p:sp>
      <p:sp>
        <p:nvSpPr>
          <p:cNvPr id="31" name="Text 27"/>
          <p:cNvSpPr/>
          <p:nvPr/>
        </p:nvSpPr>
        <p:spPr>
          <a:xfrm>
            <a:off x="7680960" y="5440680"/>
            <a:ext cx="2834640" cy="1005840"/>
          </a:xfrm>
          <a:prstGeom prst="rect">
            <a:avLst/>
          </a:prstGeom>
          <a:noFill/>
          <a:ln/>
        </p:spPr>
        <p:txBody>
          <a:bodyPr wrap="square" lIns="0" tIns="0" rIns="0" bIns="0" rtlCol="0" anchor="ctr"/>
          <a:lstStyle/>
          <a:p>
            <a:pPr marL="342900" indent="-342900">
              <a:buSzPct val="100000"/>
              <a:buChar char="•"/>
            </a:pPr>
            <a:r>
              <a:rPr lang="en-US" sz="1100" dirty="0">
                <a:solidFill>
                  <a:srgbClr val="EAF2FA"/>
                </a:solidFill>
                <a:latin typeface="Calibri" pitchFamily="34" charset="0"/>
                <a:ea typeface="Calibri" pitchFamily="34" charset="-122"/>
                <a:cs typeface="Calibri" pitchFamily="34" charset="-120"/>
              </a:rPr>
              <a:t>Job Description — Senior Business Analyst</a:t>
            </a:r>
            <a:endParaRPr lang="en-US" sz="1100" dirty="0"/>
          </a:p>
          <a:p>
            <a:pPr marL="342900" indent="-342900">
              <a:buSzPct val="100000"/>
              <a:buChar char="•"/>
            </a:pPr>
            <a:r>
              <a:rPr lang="en-US" sz="1100" dirty="0">
                <a:solidFill>
                  <a:srgbClr val="EAF2FA"/>
                </a:solidFill>
                <a:latin typeface="Calibri" pitchFamily="34" charset="0"/>
                <a:ea typeface="Calibri" pitchFamily="34" charset="-122"/>
                <a:cs typeface="Calibri" pitchFamily="34" charset="-120"/>
              </a:rPr>
              <a:t>Three Candidate Resumes</a:t>
            </a:r>
            <a:endParaRPr lang="en-US" sz="1100" dirty="0"/>
          </a:p>
        </p:txBody>
      </p:sp>
      <p:sp>
        <p:nvSpPr>
          <p:cNvPr id="32" name="Text 28"/>
          <p:cNvSpPr/>
          <p:nvPr/>
        </p:nvSpPr>
        <p:spPr>
          <a:xfrm>
            <a:off x="365760" y="6446520"/>
            <a:ext cx="1371600" cy="274320"/>
          </a:xfrm>
          <a:prstGeom prst="rect">
            <a:avLst/>
          </a:prstGeom>
          <a:noFill/>
          <a:ln/>
        </p:spPr>
        <p:txBody>
          <a:bodyPr wrap="square" lIns="0" tIns="0" rIns="0" bIns="0" rtlCol="0" anchor="ctr"/>
          <a:lstStyle/>
          <a:p>
            <a:pPr marL="0" indent="0" algn="l">
              <a:buNone/>
            </a:pPr>
            <a:r>
              <a:rPr lang="en-US" sz="900" dirty="0">
                <a:solidFill>
                  <a:srgbClr val="8FA8C2"/>
                </a:solidFill>
                <a:latin typeface="Calibri" pitchFamily="34" charset="0"/>
                <a:ea typeface="Calibri" pitchFamily="34" charset="-122"/>
                <a:cs typeface="Calibri" pitchFamily="34" charset="-120"/>
              </a:rPr>
              <a:t>39 / 40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0111F">
              <a:alpha val="70000"/>
            </a:srgbClr>
          </a:solidFill>
          <a:ln w="12700">
            <a:solidFill>
              <a:srgbClr val="333333"/>
            </a:solidFill>
            <a:prstDash val="solid"/>
          </a:ln>
        </p:spPr>
        <p:txBody>
          <a:bodyPr/>
          <a:lstStyle/>
          <a:p>
            <a:endParaRPr lang="en-US"/>
          </a:p>
        </p:txBody>
      </p:sp>
      <p:sp>
        <p:nvSpPr>
          <p:cNvPr id="3" name="Shape 1"/>
          <p:cNvSpPr/>
          <p:nvPr/>
        </p:nvSpPr>
        <p:spPr>
          <a:xfrm>
            <a:off x="0" y="0"/>
            <a:ext cx="12188952" cy="164592"/>
          </a:xfrm>
          <a:prstGeom prst="rect">
            <a:avLst/>
          </a:prstGeom>
          <a:solidFill>
            <a:srgbClr val="FFB81C"/>
          </a:solidFill>
          <a:ln w="12700">
            <a:solidFill>
              <a:srgbClr val="333333"/>
            </a:solidFill>
            <a:prstDash val="solid"/>
          </a:ln>
        </p:spPr>
        <p:txBody>
          <a:bodyPr/>
          <a:lstStyle/>
          <a:p>
            <a:endParaRPr lang="en-US"/>
          </a:p>
        </p:txBody>
      </p:sp>
      <p:pic>
        <p:nvPicPr>
          <p:cNvPr id="4" name="Image 0" descr="/mnt/workspace/working/akkodis-barhead-logo-white.png"/>
          <p:cNvPicPr>
            <a:picLocks noChangeAspect="1"/>
          </p:cNvPicPr>
          <p:nvPr/>
        </p:nvPicPr>
        <p:blipFill>
          <a:blip r:embed="rId4"/>
          <a:stretch>
            <a:fillRect/>
          </a:stretch>
        </p:blipFill>
        <p:spPr>
          <a:xfrm>
            <a:off x="9994392" y="256032"/>
            <a:ext cx="1828800" cy="293519"/>
          </a:xfrm>
          <a:prstGeom prst="rect">
            <a:avLst/>
          </a:prstGeom>
        </p:spPr>
      </p:pic>
      <p:sp>
        <p:nvSpPr>
          <p:cNvPr id="5" name="Text 2"/>
          <p:cNvSpPr/>
          <p:nvPr/>
        </p:nvSpPr>
        <p:spPr>
          <a:xfrm>
            <a:off x="731520" y="2468880"/>
            <a:ext cx="10515600" cy="1097280"/>
          </a:xfrm>
          <a:prstGeom prst="rect">
            <a:avLst/>
          </a:prstGeom>
          <a:noFill/>
          <a:ln/>
        </p:spPr>
        <p:txBody>
          <a:bodyPr wrap="square" lIns="0" tIns="0" rIns="0" bIns="0" rtlCol="0" anchor="ctr"/>
          <a:lstStyle/>
          <a:p>
            <a:pPr marL="0" indent="0">
              <a:buNone/>
            </a:pPr>
            <a:r>
              <a:rPr lang="en-US" sz="6000" b="1" dirty="0">
                <a:solidFill>
                  <a:srgbClr val="FFFFFF"/>
                </a:solidFill>
                <a:latin typeface="Calibri" pitchFamily="34" charset="0"/>
                <a:ea typeface="Calibri" pitchFamily="34" charset="-122"/>
                <a:cs typeface="Calibri" pitchFamily="34" charset="-120"/>
              </a:rPr>
              <a:t>Now build something real.</a:t>
            </a:r>
            <a:endParaRPr lang="en-US" sz="6000" dirty="0"/>
          </a:p>
        </p:txBody>
      </p:sp>
      <p:sp>
        <p:nvSpPr>
          <p:cNvPr id="6" name="Shape 3"/>
          <p:cNvSpPr/>
          <p:nvPr/>
        </p:nvSpPr>
        <p:spPr>
          <a:xfrm>
            <a:off x="777240" y="3657600"/>
            <a:ext cx="1280160" cy="73152"/>
          </a:xfrm>
          <a:prstGeom prst="rect">
            <a:avLst/>
          </a:prstGeom>
          <a:solidFill>
            <a:srgbClr val="FFB81C"/>
          </a:solidFill>
          <a:ln w="12700">
            <a:solidFill>
              <a:srgbClr val="333333"/>
            </a:solidFill>
            <a:prstDash val="solid"/>
          </a:ln>
        </p:spPr>
        <p:txBody>
          <a:bodyPr/>
          <a:lstStyle/>
          <a:p>
            <a:endParaRPr lang="en-US"/>
          </a:p>
        </p:txBody>
      </p:sp>
      <p:sp>
        <p:nvSpPr>
          <p:cNvPr id="7" name="Shape 4"/>
          <p:cNvSpPr/>
          <p:nvPr/>
        </p:nvSpPr>
        <p:spPr>
          <a:xfrm>
            <a:off x="2148840" y="3657600"/>
            <a:ext cx="640080" cy="73152"/>
          </a:xfrm>
          <a:prstGeom prst="rect">
            <a:avLst/>
          </a:prstGeom>
          <a:solidFill>
            <a:srgbClr val="4FC3F7"/>
          </a:solidFill>
          <a:ln w="12700">
            <a:solidFill>
              <a:srgbClr val="333333"/>
            </a:solidFill>
            <a:prstDash val="solid"/>
          </a:ln>
        </p:spPr>
        <p:txBody>
          <a:bodyPr/>
          <a:lstStyle/>
          <a:p>
            <a:endParaRPr lang="en-US"/>
          </a:p>
        </p:txBody>
      </p:sp>
      <p:sp>
        <p:nvSpPr>
          <p:cNvPr id="8" name="Text 5"/>
          <p:cNvSpPr/>
          <p:nvPr/>
        </p:nvSpPr>
        <p:spPr>
          <a:xfrm>
            <a:off x="731520" y="3840480"/>
            <a:ext cx="10515600" cy="457200"/>
          </a:xfrm>
          <a:prstGeom prst="rect">
            <a:avLst/>
          </a:prstGeom>
          <a:noFill/>
          <a:ln/>
        </p:spPr>
        <p:txBody>
          <a:bodyPr wrap="square" lIns="0" tIns="0" rIns="0" bIns="0" rtlCol="0" anchor="ctr"/>
          <a:lstStyle/>
          <a:p>
            <a:pPr marL="0" indent="0">
              <a:buNone/>
            </a:pPr>
            <a:r>
              <a:rPr lang="en-US" sz="2200" i="1" dirty="0">
                <a:solidFill>
                  <a:srgbClr val="FFB81C"/>
                </a:solidFill>
                <a:latin typeface="Calibri" pitchFamily="34" charset="0"/>
                <a:ea typeface="Calibri" pitchFamily="34" charset="-122"/>
                <a:cs typeface="Calibri" pitchFamily="34" charset="-120"/>
              </a:rPr>
              <a:t>Pick your </a:t>
            </a:r>
            <a:r>
              <a:rPr lang="en-US" sz="2200" i="1" dirty="0" err="1">
                <a:solidFill>
                  <a:srgbClr val="FFB81C"/>
                </a:solidFill>
                <a:latin typeface="Calibri" pitchFamily="34" charset="0"/>
                <a:ea typeface="Calibri" pitchFamily="34" charset="-122"/>
                <a:cs typeface="Calibri" pitchFamily="34" charset="-120"/>
              </a:rPr>
              <a:t>scenario,share</a:t>
            </a:r>
            <a:r>
              <a:rPr lang="en-US" sz="2200" i="1" dirty="0">
                <a:solidFill>
                  <a:srgbClr val="FFB81C"/>
                </a:solidFill>
                <a:latin typeface="Calibri" pitchFamily="34" charset="0"/>
                <a:ea typeface="Calibri" pitchFamily="34" charset="-122"/>
                <a:cs typeface="Calibri" pitchFamily="34" charset="-120"/>
              </a:rPr>
              <a:t> what you build.</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TotalTime>
  <Words>4221</Words>
  <Application>Microsoft Office PowerPoint</Application>
  <PresentationFormat>Widescreen</PresentationFormat>
  <Paragraphs>580</Paragraphs>
  <Slides>42</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Innovation Lab — Local Government</dc:title>
  <dc:subject>PptxGenJS Presentation</dc:subject>
  <dc:creator>Lisa Crosbie</dc:creator>
  <cp:lastModifiedBy>Lisa Crosbie</cp:lastModifiedBy>
  <cp:revision>2</cp:revision>
  <dcterms:created xsi:type="dcterms:W3CDTF">2026-05-03T11:25:16Z</dcterms:created>
  <dcterms:modified xsi:type="dcterms:W3CDTF">2026-05-03T23:44:50Z</dcterms:modified>
</cp:coreProperties>
</file>